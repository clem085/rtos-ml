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47"/>
  </p:notesMasterIdLst>
  <p:handoutMasterIdLst>
    <p:handoutMasterId r:id="rId48"/>
  </p:handoutMasterIdLst>
  <p:sldIdLst>
    <p:sldId id="332" r:id="rId2"/>
    <p:sldId id="333" r:id="rId3"/>
    <p:sldId id="334" r:id="rId4"/>
    <p:sldId id="335" r:id="rId5"/>
    <p:sldId id="378" r:id="rId6"/>
    <p:sldId id="337" r:id="rId7"/>
    <p:sldId id="339" r:id="rId8"/>
    <p:sldId id="340" r:id="rId9"/>
    <p:sldId id="355" r:id="rId10"/>
    <p:sldId id="358" r:id="rId11"/>
    <p:sldId id="341" r:id="rId12"/>
    <p:sldId id="342" r:id="rId13"/>
    <p:sldId id="343" r:id="rId14"/>
    <p:sldId id="372" r:id="rId15"/>
    <p:sldId id="373" r:id="rId16"/>
    <p:sldId id="374" r:id="rId17"/>
    <p:sldId id="322" r:id="rId18"/>
    <p:sldId id="315" r:id="rId19"/>
    <p:sldId id="316" r:id="rId20"/>
    <p:sldId id="317" r:id="rId21"/>
    <p:sldId id="357" r:id="rId22"/>
    <p:sldId id="300" r:id="rId23"/>
    <p:sldId id="301" r:id="rId24"/>
    <p:sldId id="347" r:id="rId25"/>
    <p:sldId id="349" r:id="rId26"/>
    <p:sldId id="350" r:id="rId27"/>
    <p:sldId id="351" r:id="rId28"/>
    <p:sldId id="302" r:id="rId29"/>
    <p:sldId id="306" r:id="rId30"/>
    <p:sldId id="309" r:id="rId31"/>
    <p:sldId id="310" r:id="rId32"/>
    <p:sldId id="312" r:id="rId33"/>
    <p:sldId id="314" r:id="rId34"/>
    <p:sldId id="331" r:id="rId35"/>
    <p:sldId id="376" r:id="rId36"/>
    <p:sldId id="359" r:id="rId37"/>
    <p:sldId id="362" r:id="rId38"/>
    <p:sldId id="360" r:id="rId39"/>
    <p:sldId id="364" r:id="rId40"/>
    <p:sldId id="366" r:id="rId41"/>
    <p:sldId id="369" r:id="rId42"/>
    <p:sldId id="371" r:id="rId43"/>
    <p:sldId id="375" r:id="rId44"/>
    <p:sldId id="377" r:id="rId45"/>
    <p:sldId id="379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CCECFF"/>
    <a:srgbClr val="99CCFF"/>
    <a:srgbClr val="CCFF99"/>
    <a:srgbClr val="FFFFCC"/>
    <a:srgbClr val="CC0000"/>
    <a:srgbClr val="008000"/>
    <a:srgbClr val="33CC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448" autoAdjust="0"/>
    <p:restoredTop sz="90989" autoAdjust="0"/>
  </p:normalViewPr>
  <p:slideViewPr>
    <p:cSldViewPr snapToGrid="0">
      <p:cViewPr varScale="1">
        <p:scale>
          <a:sx n="95" d="100"/>
          <a:sy n="95" d="100"/>
        </p:scale>
        <p:origin x="-570" y="-102"/>
      </p:cViewPr>
      <p:guideLst>
        <p:guide orient="horz" pos="2864"/>
        <p:guide pos="232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514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9.xml"/><Relationship Id="rId2" Type="http://schemas.openxmlformats.org/officeDocument/2006/relationships/slide" Target="slides/slide6.xml"/><Relationship Id="rId1" Type="http://schemas.openxmlformats.org/officeDocument/2006/relationships/slide" Target="slides/slide1.xml"/><Relationship Id="rId5" Type="http://schemas.openxmlformats.org/officeDocument/2006/relationships/slide" Target="slides/slide22.xml"/><Relationship Id="rId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317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-317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t" anchorCtr="0" compatLnSpc="1">
            <a:prstTxWarp prst="textNoShape">
              <a:avLst/>
            </a:prstTxWarp>
          </a:bodyPr>
          <a:lstStyle>
            <a:lvl1pPr algn="r"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5700" y="698500"/>
            <a:ext cx="4548188" cy="34115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343400"/>
            <a:ext cx="5032375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59" tIns="46135" rIns="93859" bIns="461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b" anchorCtr="0" compatLnSpc="1">
            <a:prstTxWarp prst="textNoShape">
              <a:avLst/>
            </a:prstTxWarp>
          </a:bodyPr>
          <a:lstStyle>
            <a:lvl1pPr algn="r"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fld id="{C32D4640-51E0-47E4-85F7-0F068D3297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1963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23925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87475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49438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047D85-E7EB-416A-8AD5-D8A2A4D77C12}" type="slidenum">
              <a:rPr lang="en-US" smtClean="0"/>
              <a:pPr>
                <a:defRPr/>
              </a:pPr>
              <a:t>1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08D17C-B968-43AD-BBF2-C769BA792E06}" type="slidenum">
              <a:rPr lang="en-US" smtClean="0"/>
              <a:pPr>
                <a:defRPr/>
              </a:pPr>
              <a:t>3</a:t>
            </a:fld>
            <a:endParaRPr lang="en-US" smtClean="0"/>
          </a:p>
        </p:txBody>
      </p:sp>
      <p:sp>
        <p:nvSpPr>
          <p:cNvPr id="491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491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CB39DF-E536-4292-BC79-EA9F430DDC33}" type="slidenum">
              <a:rPr lang="en-US" smtClean="0"/>
              <a:pPr>
                <a:defRPr/>
              </a:pPr>
              <a:t>4</a:t>
            </a:fld>
            <a:endParaRPr lang="en-US" smtClean="0"/>
          </a:p>
        </p:txBody>
      </p:sp>
      <p:sp>
        <p:nvSpPr>
          <p:cNvPr id="501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5018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86967B-1A9D-4F3B-AFEA-B18B0A96AC77}" type="slidenum">
              <a:rPr lang="en-US" smtClean="0"/>
              <a:pPr>
                <a:defRPr/>
              </a:pPr>
              <a:t>5</a:t>
            </a:fld>
            <a:endParaRPr lang="en-US" smtClean="0"/>
          </a:p>
        </p:txBody>
      </p:sp>
      <p:sp>
        <p:nvSpPr>
          <p:cNvPr id="5120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5120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988437-89A2-4E29-B716-522120CFFCDD}" type="slidenum">
              <a:rPr lang="en-US" smtClean="0"/>
              <a:pPr>
                <a:defRPr/>
              </a:pPr>
              <a:t>6</a:t>
            </a:fld>
            <a:endParaRPr lang="en-US" smtClean="0"/>
          </a:p>
        </p:txBody>
      </p:sp>
      <p:sp>
        <p:nvSpPr>
          <p:cNvPr id="522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5222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793CD3-08F4-4FCD-8040-08E560E798C5}" type="slidenum">
              <a:rPr lang="en-US" smtClean="0"/>
              <a:pPr>
                <a:defRPr/>
              </a:pPr>
              <a:t>7</a:t>
            </a:fld>
            <a:endParaRPr lang="en-US" smtClean="0"/>
          </a:p>
        </p:txBody>
      </p:sp>
      <p:sp>
        <p:nvSpPr>
          <p:cNvPr id="532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5325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07EA2F-33F8-43B1-90C0-464A5F5075CA}" type="slidenum">
              <a:rPr lang="en-US" smtClean="0"/>
              <a:pPr>
                <a:defRPr/>
              </a:pPr>
              <a:t>8</a:t>
            </a:fld>
            <a:endParaRPr lang="en-US" smtClean="0"/>
          </a:p>
        </p:txBody>
      </p:sp>
      <p:sp>
        <p:nvSpPr>
          <p:cNvPr id="5427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5427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50D817-8CDA-423D-816F-FB0A347416C7}" type="slidenum">
              <a:rPr lang="en-US" altLang="en-US" smtClean="0"/>
              <a:pPr>
                <a:defRPr/>
              </a:pPr>
              <a:t>10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4162D7-5637-40A0-8BB8-F6D76FA4C82B}" type="slidenum">
              <a:rPr lang="en-US" smtClean="0"/>
              <a:pPr>
                <a:defRPr/>
              </a:pPr>
              <a:t>11</a:t>
            </a:fld>
            <a:endParaRPr lang="en-US" smtClean="0"/>
          </a:p>
        </p:txBody>
      </p:sp>
      <p:sp>
        <p:nvSpPr>
          <p:cNvPr id="5632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5632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D89113-E3F9-43B4-9FF8-F31D7016B5B2}" type="slidenum">
              <a:rPr lang="en-US" smtClean="0"/>
              <a:pPr>
                <a:defRPr/>
              </a:pPr>
              <a:t>12</a:t>
            </a:fld>
            <a:endParaRPr lang="en-US" smtClean="0"/>
          </a:p>
        </p:txBody>
      </p:sp>
      <p:sp>
        <p:nvSpPr>
          <p:cNvPr id="5734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5734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775B68-48CF-4DBE-B079-C9151F7341F2}" type="slidenum">
              <a:rPr lang="en-US" smtClean="0"/>
              <a:pPr>
                <a:defRPr/>
              </a:pPr>
              <a:t>13</a:t>
            </a:fld>
            <a:endParaRPr lang="en-US" smtClean="0"/>
          </a:p>
        </p:txBody>
      </p:sp>
      <p:sp>
        <p:nvSpPr>
          <p:cNvPr id="583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5837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3E7D3BA-DCC6-4CAE-84ED-A90BA4B27A12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6200" y="798513"/>
            <a:ext cx="4167188" cy="3125787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56100"/>
            <a:ext cx="5026025" cy="3868738"/>
          </a:xfrm>
          <a:noFill/>
          <a:ln/>
        </p:spPr>
        <p:txBody>
          <a:bodyPr/>
          <a:lstStyle/>
          <a:p>
            <a:r>
              <a:rPr lang="de-DE" smtClean="0"/>
              <a:t>1.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6C2CA7-1685-42E4-8383-0DE659F2E3AB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74688"/>
            <a:ext cx="4603750" cy="34544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4352925"/>
            <a:ext cx="5010150" cy="4125913"/>
          </a:xfrm>
          <a:noFill/>
          <a:ln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587500"/>
            <a:ext cx="4083050" cy="506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550" y="1587500"/>
            <a:ext cx="4083050" cy="506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75" y="298450"/>
            <a:ext cx="2079625" cy="63563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9100" y="298450"/>
            <a:ext cx="6086475" cy="63563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298450"/>
            <a:ext cx="8280400" cy="9080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9100" y="1587500"/>
            <a:ext cx="4083050" cy="5067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54550" y="1587500"/>
            <a:ext cx="4083050" cy="50673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79248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9243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243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9100" y="298450"/>
            <a:ext cx="8280400" cy="908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587500"/>
            <a:ext cx="8318500" cy="5067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375812" name="Rectangle 4"/>
          <p:cNvSpPr>
            <a:spLocks noChangeArrowheads="1"/>
          </p:cNvSpPr>
          <p:nvPr/>
        </p:nvSpPr>
        <p:spPr bwMode="auto">
          <a:xfrm>
            <a:off x="8007350" y="6650038"/>
            <a:ext cx="666750" cy="136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r" eaLnBrk="0" hangingPunct="0">
              <a:defRPr/>
            </a:pPr>
            <a:r>
              <a:rPr lang="en-US" sz="900" b="0">
                <a:latin typeface="Arial" pitchFamily="34" charset="0"/>
                <a:cs typeface="+mn-cs"/>
              </a:rPr>
              <a:t> </a:t>
            </a:r>
            <a:fld id="{9AE9BF70-32EF-4117-A5DF-8B2856161F5A}" type="slidenum">
              <a:rPr lang="en-US" sz="900" b="0">
                <a:latin typeface="Arial" pitchFamily="34" charset="0"/>
                <a:cs typeface="+mn-cs"/>
              </a:rPr>
              <a:pPr algn="r" eaLnBrk="0" hangingPunct="0">
                <a:defRPr/>
              </a:pPr>
              <a:t>‹#›</a:t>
            </a:fld>
            <a:endParaRPr lang="en-US" sz="900" b="0">
              <a:latin typeface="Arial" pitchFamily="34" charset="0"/>
              <a:cs typeface="+mn-cs"/>
            </a:endParaRPr>
          </a:p>
        </p:txBody>
      </p:sp>
      <p:grpSp>
        <p:nvGrpSpPr>
          <p:cNvPr id="1030" name="Group 6"/>
          <p:cNvGrpSpPr>
            <a:grpSpLocks/>
          </p:cNvGrpSpPr>
          <p:nvPr/>
        </p:nvGrpSpPr>
        <p:grpSpPr bwMode="auto">
          <a:xfrm>
            <a:off x="419100" y="1250950"/>
            <a:ext cx="8305800" cy="196850"/>
            <a:chOff x="264" y="788"/>
            <a:chExt cx="5232" cy="124"/>
          </a:xfrm>
        </p:grpSpPr>
        <p:sp>
          <p:nvSpPr>
            <p:cNvPr id="375815" name="Rectangle 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12C2E9">
                    <a:gamma/>
                    <a:shade val="80000"/>
                    <a:invGamma/>
                  </a:srgbClr>
                </a:gs>
                <a:gs pos="50000">
                  <a:srgbClr val="12C2E9"/>
                </a:gs>
                <a:gs pos="100000">
                  <a:srgbClr val="12C2E9">
                    <a:gamma/>
                    <a:shade val="80000"/>
                    <a:invGamma/>
                  </a:srgbClr>
                </a:gs>
              </a:gsLst>
              <a:lin ang="5400000" scaled="1"/>
            </a:gra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75816" name="Rectangle 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FF00FF">
                    <a:gamma/>
                    <a:shade val="69804"/>
                    <a:invGamma/>
                  </a:srgbClr>
                </a:gs>
                <a:gs pos="50000">
                  <a:srgbClr val="FF00FF"/>
                </a:gs>
                <a:gs pos="100000">
                  <a:srgbClr val="FF00FF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marL="292100" indent="-292100" algn="l" rtl="0" eaLnBrk="0" fontAlgn="base" hangingPunct="0">
        <a:lnSpc>
          <a:spcPts val="2400"/>
        </a:lnSpc>
        <a:spcBef>
          <a:spcPts val="600"/>
        </a:spcBef>
        <a:spcAft>
          <a:spcPts val="400"/>
        </a:spcAft>
        <a:buClr>
          <a:srgbClr val="0C7B9C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lnSpc>
          <a:spcPts val="2400"/>
        </a:lnSpc>
        <a:spcBef>
          <a:spcPct val="0"/>
        </a:spcBef>
        <a:spcAft>
          <a:spcPts val="400"/>
        </a:spcAft>
        <a:buClr>
          <a:srgbClr val="0C7B9C"/>
        </a:buClr>
        <a:buSzPct val="100000"/>
        <a:buFont typeface="Arial" pitchFamily="34" charset="0"/>
        <a:buChar char="—"/>
        <a:defRPr sz="2000">
          <a:solidFill>
            <a:schemeClr val="tx1"/>
          </a:solidFill>
          <a:latin typeface="+mn-lt"/>
        </a:defRPr>
      </a:lvl2pPr>
      <a:lvl3pPr marL="914400" algn="l" rtl="0" eaLnBrk="0" fontAlgn="base" hangingPunct="0">
        <a:lnSpc>
          <a:spcPts val="2400"/>
        </a:lnSpc>
        <a:spcBef>
          <a:spcPct val="0"/>
        </a:spcBef>
        <a:spcAft>
          <a:spcPts val="400"/>
        </a:spcAft>
        <a:buClr>
          <a:srgbClr val="0C7B9C"/>
        </a:buClr>
        <a:buSzPct val="100000"/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t&amp;rct=j&amp;q=&amp;esrc=s&amp;source=web&amp;cd=&amp;ved=2ahUKEwjIhLrd5aXuAhWLv1kKHQcrChIQFjAAegQIAhAC&amp;url=http://pittmom.sites.post-gazette.com/applied-deep-learning-and-computer-vision-for-self-driving.pdf&amp;usg=AOvVaw3zp3Mf3zsyLb9nKBH82TS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hyperlink" Target="http://www.globaldenso.com/" TargetMode="External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3588"/>
            <a:ext cx="9144000" cy="609600"/>
          </a:xfrm>
        </p:spPr>
        <p:txBody>
          <a:bodyPr lIns="92160" tIns="46080" rIns="92160" bIns="46080"/>
          <a:lstStyle/>
          <a:p>
            <a:pPr algn="ctr">
              <a:buSzPct val="88000"/>
            </a:pPr>
            <a:r>
              <a:rPr lang="en-GB" dirty="0" smtClean="0"/>
              <a:t>CSC 549/ECE 591: </a:t>
            </a:r>
            <a:br>
              <a:rPr lang="en-GB" dirty="0" smtClean="0"/>
            </a:br>
            <a:r>
              <a:rPr lang="en-US" dirty="0" smtClean="0"/>
              <a:t>Embedded/Real-Time Systems for Autonomous Driving with Machine Learning </a:t>
            </a:r>
            <a:endParaRPr lang="en-GB" dirty="0" smtClean="0"/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914400" y="2819400"/>
            <a:ext cx="7770813" cy="1775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160" tIns="46080" rIns="92160" bIns="46080">
            <a:spAutoFit/>
          </a:bodyPr>
          <a:lstStyle/>
          <a:p>
            <a:pPr marL="223838" indent="-223838" eaLnBrk="0" hangingPunct="0">
              <a:spcBef>
                <a:spcPts val="563"/>
              </a:spcBef>
              <a:buSzPct val="133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0" dirty="0">
                <a:solidFill>
                  <a:srgbClr val="0000CC"/>
                </a:solidFill>
                <a:latin typeface="Comic Sans MS" pitchFamily="66" charset="0"/>
              </a:rPr>
              <a:t>Instructor: Frank Mueller</a:t>
            </a:r>
          </a:p>
          <a:p>
            <a:pPr marL="223838" indent="-223838" eaLnBrk="0" hangingPunct="0">
              <a:spcBef>
                <a:spcPts val="563"/>
              </a:spcBef>
              <a:buSzPct val="133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0" dirty="0">
                <a:solidFill>
                  <a:srgbClr val="0000CC"/>
                </a:solidFill>
                <a:latin typeface="Comic Sans MS" pitchFamily="66" charset="0"/>
              </a:rPr>
              <a:t>Grader: </a:t>
            </a:r>
            <a:r>
              <a:rPr lang="en-GB" b="0" dirty="0" err="1" smtClean="0">
                <a:solidFill>
                  <a:srgbClr val="0000CC"/>
                </a:solidFill>
                <a:latin typeface="Comic Sans MS" pitchFamily="66" charset="0"/>
              </a:rPr>
              <a:t>Jinming</a:t>
            </a:r>
            <a:r>
              <a:rPr lang="en-GB" b="0" dirty="0" smtClean="0">
                <a:solidFill>
                  <a:srgbClr val="0000CC"/>
                </a:solidFill>
                <a:latin typeface="Comic Sans MS" pitchFamily="66" charset="0"/>
              </a:rPr>
              <a:t> Xing</a:t>
            </a:r>
            <a:endParaRPr lang="en-GB" b="0" dirty="0">
              <a:solidFill>
                <a:srgbClr val="0000CC"/>
              </a:solidFill>
              <a:latin typeface="Comic Sans MS" pitchFamily="66" charset="0"/>
            </a:endParaRPr>
          </a:p>
          <a:p>
            <a:pPr marL="223838" indent="-223838" eaLnBrk="0" hangingPunct="0">
              <a:spcBef>
                <a:spcPts val="563"/>
              </a:spcBef>
              <a:buClr>
                <a:srgbClr val="FFCC00"/>
              </a:buClr>
              <a:buSzPct val="133000"/>
              <a:buFont typeface="StarBats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b="0" dirty="0">
              <a:solidFill>
                <a:srgbClr val="0000CC"/>
              </a:solidFill>
              <a:latin typeface="Comic Sans MS" pitchFamily="66" charset="0"/>
            </a:endParaRPr>
          </a:p>
          <a:p>
            <a:pPr marL="223838" indent="-223838" eaLnBrk="0" hangingPunct="0">
              <a:spcBef>
                <a:spcPts val="413"/>
              </a:spcBef>
              <a:buSzPct val="133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0" dirty="0" smtClean="0">
                <a:solidFill>
                  <a:srgbClr val="0000CC"/>
                </a:solidFill>
                <a:latin typeface="Comic Sans MS" pitchFamily="66" charset="0"/>
              </a:rPr>
              <a:t>Spring 2026</a:t>
            </a:r>
            <a:endParaRPr lang="en-GB" sz="1800" b="0" dirty="0">
              <a:solidFill>
                <a:srgbClr val="0000CC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Questions?</a:t>
            </a:r>
          </a:p>
        </p:txBody>
      </p:sp>
      <p:sp>
        <p:nvSpPr>
          <p:cNvPr id="30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smtClean="0"/>
              <a:t>Read message board</a:t>
            </a:r>
          </a:p>
          <a:p>
            <a:r>
              <a:rPr lang="en-US" b="1" smtClean="0"/>
              <a:t>Post on message board</a:t>
            </a:r>
          </a:p>
          <a:p>
            <a:r>
              <a:rPr lang="en-US" b="1" smtClean="0"/>
              <a:t>Ask the TA</a:t>
            </a:r>
          </a:p>
          <a:p>
            <a:r>
              <a:rPr lang="en-US" b="1" smtClean="0"/>
              <a:t>Ask before class (if there is time)</a:t>
            </a:r>
          </a:p>
          <a:p>
            <a:r>
              <a:rPr lang="en-US" b="1" smtClean="0"/>
              <a:t>Ask after class</a:t>
            </a:r>
          </a:p>
          <a:p>
            <a:r>
              <a:rPr lang="en-US" b="1" smtClean="0"/>
              <a:t>Come by during office hours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Logistics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 lIns="92160" tIns="46080" rIns="92160" bIns="46080"/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Instructor: Frank Mueller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Office: </a:t>
            </a:r>
            <a:r>
              <a:rPr lang="en-GB" b="1" dirty="0" smtClean="0">
                <a:solidFill>
                  <a:srgbClr val="CC0000"/>
                </a:solidFill>
              </a:rPr>
              <a:t>3266</a:t>
            </a:r>
            <a:r>
              <a:rPr lang="en-GB" b="1" dirty="0" smtClean="0"/>
              <a:t> </a:t>
            </a:r>
            <a:r>
              <a:rPr lang="en-GB" b="1" dirty="0" smtClean="0">
                <a:solidFill>
                  <a:srgbClr val="CC0000"/>
                </a:solidFill>
              </a:rPr>
              <a:t>EB2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Office Hours: </a:t>
            </a:r>
            <a:r>
              <a:rPr lang="en-GB" b="1" dirty="0" smtClean="0">
                <a:solidFill>
                  <a:srgbClr val="CC0000"/>
                </a:solidFill>
              </a:rPr>
              <a:t>M 9:30-10:30am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Grader: </a:t>
            </a:r>
            <a:r>
              <a:rPr lang="en-GB" b="1" dirty="0" err="1" smtClean="0"/>
              <a:t>Jingmin</a:t>
            </a:r>
            <a:r>
              <a:rPr lang="en-GB" b="1" dirty="0" smtClean="0"/>
              <a:t> Xing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Office: zoom</a:t>
            </a:r>
            <a:endParaRPr lang="en-GB" b="1" dirty="0" smtClean="0">
              <a:solidFill>
                <a:srgbClr val="CC0000"/>
              </a:solidFill>
            </a:endParaRP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Office Hours</a:t>
            </a:r>
            <a:r>
              <a:rPr lang="en-GB" b="1" smtClean="0"/>
              <a:t>: </a:t>
            </a:r>
            <a:r>
              <a:rPr lang="en-GB" b="1" smtClean="0"/>
              <a:t>T, TH </a:t>
            </a:r>
            <a:r>
              <a:rPr lang="en-GB" b="1" dirty="0" smtClean="0"/>
              <a:t>1:00-2:30pm</a:t>
            </a:r>
            <a:endParaRPr lang="en-GB" b="1" dirty="0" smtClean="0">
              <a:solidFill>
                <a:srgbClr val="CC0000"/>
              </a:solidFill>
            </a:endParaRP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More information</a:t>
            </a:r>
          </a:p>
          <a:p>
            <a:pPr lvl="1">
              <a:spcBef>
                <a:spcPts val="36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https://fictional-meme-l1ooj6e.pages.github.io/</a:t>
            </a:r>
          </a:p>
          <a:p>
            <a:pPr>
              <a:spcBef>
                <a:spcPts val="363"/>
              </a:spcBef>
              <a:buSzPct val="99000"/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Course Overview</a:t>
            </a:r>
          </a:p>
        </p:txBody>
      </p:sp>
      <p:sp>
        <p:nvSpPr>
          <p:cNvPr id="40550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 lIns="92160" tIns="46080" rIns="92160" bIns="46080"/>
          <a:lstStyle/>
          <a:p>
            <a:pPr>
              <a:spcBef>
                <a:spcPts val="6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b="1" dirty="0" smtClean="0"/>
              <a:t>Goals (3 pillars)</a:t>
            </a:r>
            <a:r>
              <a:rPr lang="en-GB" sz="2400" b="1" dirty="0" smtClean="0"/>
              <a:t>:</a:t>
            </a:r>
          </a:p>
          <a:p>
            <a:pPr marL="914400" lvl="1" indent="-457200">
              <a:buFont typeface="+mj-lt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b="1" dirty="0" smtClean="0"/>
              <a:t>Embedded Systems</a:t>
            </a:r>
          </a:p>
          <a:p>
            <a:pPr marL="914400" lvl="1" indent="-457200">
              <a:buFont typeface="+mj-lt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b="1" dirty="0" smtClean="0"/>
              <a:t>Real-Time Systems</a:t>
            </a:r>
          </a:p>
          <a:p>
            <a:pPr marL="914400" lvl="1" indent="-457200">
              <a:buFont typeface="+mj-lt"/>
              <a:buAutoNum type="arabicPeriod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b="1" dirty="0" smtClean="0"/>
              <a:t>Automotive Systems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b="1" dirty="0" smtClean="0"/>
              <a:t>Structure: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b="1" dirty="0" smtClean="0"/>
              <a:t>Each major area:</a:t>
            </a: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b="1" dirty="0" smtClean="0"/>
              <a:t>Introduce basics quickly</a:t>
            </a:r>
          </a:p>
          <a:p>
            <a:pPr lvl="2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b="1" dirty="0" smtClean="0"/>
              <a:t>Present and discuss papers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b="1" dirty="0" smtClean="0"/>
              <a:t>Assignments</a:t>
            </a:r>
          </a:p>
          <a:p>
            <a:pPr lvl="1"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endParaRPr lang="en-GB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/>
              <a:t>Textbooks – background reading</a:t>
            </a:r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19100" y="1587500"/>
            <a:ext cx="4081463" cy="5067300"/>
          </a:xfrm>
        </p:spPr>
        <p:txBody>
          <a:bodyPr lIns="92160" tIns="46080" rIns="92160" bIns="46080"/>
          <a:lstStyle/>
          <a:p>
            <a:pPr>
              <a:spcBef>
                <a:spcPts val="46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smtClean="0"/>
              <a:t>Jane Liu.  </a:t>
            </a:r>
            <a:r>
              <a:rPr lang="en-GB" b="1" i="1" smtClean="0"/>
              <a:t>Real-Time Systems</a:t>
            </a:r>
            <a:r>
              <a:rPr lang="en-GB" b="1" smtClean="0"/>
              <a:t>, Prentice-Hall, 2000. </a:t>
            </a:r>
          </a:p>
        </p:txBody>
      </p:sp>
      <p:pic>
        <p:nvPicPr>
          <p:cNvPr id="6148" name="Picture 1029" descr="C:\Documents and Settings\mueller\My Documents\tex\ncsu\classes\rt\readings\liu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6050" y="2984500"/>
            <a:ext cx="2098675" cy="272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027"/>
          <p:cNvSpPr txBox="1">
            <a:spLocks noChangeArrowheads="1"/>
          </p:cNvSpPr>
          <p:nvPr/>
        </p:nvSpPr>
        <p:spPr bwMode="auto">
          <a:xfrm>
            <a:off x="4533900" y="1576388"/>
            <a:ext cx="4081463" cy="5067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2160" tIns="46080" rIns="92160" bIns="46080"/>
          <a:lstStyle/>
          <a:p>
            <a:pPr marL="292100" indent="-292100" eaLnBrk="0" hangingPunct="0">
              <a:lnSpc>
                <a:spcPts val="2400"/>
              </a:lnSpc>
              <a:spcBef>
                <a:spcPts val="463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Wingdings" pitchFamily="2" charset="2"/>
              <a:buChar char="l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sz="2000" kern="0" dirty="0" smtClean="0">
                <a:latin typeface="+mn-lt"/>
                <a:cs typeface="+mn-cs"/>
              </a:rPr>
              <a:t>R. </a:t>
            </a:r>
            <a:r>
              <a:rPr lang="en-GB" sz="2000" kern="0" dirty="0" err="1" smtClean="0">
                <a:latin typeface="+mn-lt"/>
                <a:cs typeface="+mn-cs"/>
              </a:rPr>
              <a:t>Alur</a:t>
            </a:r>
            <a:r>
              <a:rPr lang="en-GB" sz="2000" kern="0" dirty="0" smtClean="0">
                <a:latin typeface="+mn-lt"/>
                <a:cs typeface="+mn-cs"/>
              </a:rPr>
              <a:t>.  </a:t>
            </a:r>
            <a:r>
              <a:rPr lang="en-GB" sz="2000" i="1" kern="0" dirty="0" smtClean="0">
                <a:latin typeface="+mn-lt"/>
                <a:cs typeface="+mn-cs"/>
              </a:rPr>
              <a:t>Principles of Cyber-Physical Systems</a:t>
            </a:r>
            <a:r>
              <a:rPr lang="en-GB" sz="2000" kern="0" dirty="0" smtClean="0">
                <a:latin typeface="+mn-lt"/>
                <a:cs typeface="+mn-cs"/>
              </a:rPr>
              <a:t>, MIT Press, 2015.</a:t>
            </a:r>
            <a:endParaRPr lang="en-GB" sz="2000" kern="0" dirty="0">
              <a:latin typeface="+mn-lt"/>
              <a:cs typeface="+mn-cs"/>
            </a:endParaRPr>
          </a:p>
        </p:txBody>
      </p:sp>
      <p:pic>
        <p:nvPicPr>
          <p:cNvPr id="7" name="Picture 6" descr="tm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157" y="2995300"/>
            <a:ext cx="2050238" cy="2629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Textbooks - optional</a:t>
            </a:r>
          </a:p>
        </p:txBody>
      </p:sp>
      <p:sp>
        <p:nvSpPr>
          <p:cNvPr id="7171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smtClean="0"/>
              <a:t>Hanky Sjafrie. </a:t>
            </a:r>
            <a:r>
              <a:rPr lang="en-US" sz="2000" b="1" smtClean="0"/>
              <a:t>Introduction to Self-Driving Vehicle Technology</a:t>
            </a:r>
          </a:p>
          <a:p>
            <a:endParaRPr lang="en-US" sz="2000" smtClean="0"/>
          </a:p>
        </p:txBody>
      </p:sp>
      <p:sp>
        <p:nvSpPr>
          <p:cNvPr id="7172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smtClean="0"/>
              <a:t>Sumit Ranjan (Author), Dr. S. Senthamilarasu </a:t>
            </a:r>
            <a:br>
              <a:rPr lang="en-US" sz="2000" smtClean="0"/>
            </a:br>
            <a:r>
              <a:rPr lang="en-US" sz="2000" b="1" smtClean="0"/>
              <a:t>Applied Deep Learning And Computer Vision For Self Driving</a:t>
            </a:r>
            <a:endParaRPr lang="en-US" sz="2000" b="1" smtClean="0">
              <a:hlinkClick r:id="rId3"/>
            </a:endParaRPr>
          </a:p>
          <a:p>
            <a:endParaRPr lang="en-US" smtClean="0"/>
          </a:p>
        </p:txBody>
      </p:sp>
      <p:sp>
        <p:nvSpPr>
          <p:cNvPr id="7173" name="AutoShape 10" descr="https://images-na.ssl-images-amazon.com/images/I/51J0DAvHaBL._SX404_BO1,204,203,200_.jpg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7174" name="Content Placeholder 8" descr="tmp1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1775" y="3178175"/>
            <a:ext cx="1920875" cy="2976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7175" name="Picture 11" descr="tmp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1313" y="3178175"/>
            <a:ext cx="2430462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Topics </a:t>
            </a:r>
            <a:r>
              <a:rPr lang="en-GB" smtClean="0">
                <a:sym typeface="Wingdings" pitchFamily="2" charset="2"/>
              </a:rPr>
              <a:t></a:t>
            </a:r>
            <a:endParaRPr lang="en-GB" smtClean="0"/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587500"/>
            <a:ext cx="4081463" cy="5067300"/>
          </a:xfrm>
        </p:spPr>
        <p:txBody>
          <a:bodyPr lIns="92160" tIns="46080" rIns="92160" bIns="46080"/>
          <a:lstStyle/>
          <a:p>
            <a:pPr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smtClean="0"/>
              <a:t>Embedded Systems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Design &amp; Implementation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Architecture &amp; Platforms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Software Design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Networking</a:t>
            </a:r>
          </a:p>
          <a:p>
            <a:pPr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smtClean="0"/>
              <a:t>Real-time Systems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Operating systems, 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Scheduling, resource handling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Timing analysis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System design</a:t>
            </a:r>
          </a:p>
          <a:p>
            <a:pPr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smtClean="0"/>
              <a:t>Autonomous Driving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Automotive design standards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Automotive control systems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Machine learning (NN &amp; more)</a:t>
            </a:r>
          </a:p>
        </p:txBody>
      </p:sp>
      <p:sp>
        <p:nvSpPr>
          <p:cNvPr id="413700" name="Rectangle 4"/>
          <p:cNvSpPr>
            <a:spLocks noGrp="1" noChangeArrowheads="1"/>
          </p:cNvSpPr>
          <p:nvPr>
            <p:ph type="body" idx="2"/>
          </p:nvPr>
        </p:nvSpPr>
        <p:spPr>
          <a:xfrm>
            <a:off x="4656138" y="1587500"/>
            <a:ext cx="4081462" cy="5067300"/>
          </a:xfrm>
        </p:spPr>
        <p:txBody>
          <a:bodyPr lIns="92160" tIns="46080" rIns="92160" bIns="46080"/>
          <a:lstStyle/>
          <a:p>
            <a:pPr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smtClean="0"/>
              <a:t>Cross-cutting topics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Embedded architectures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Acceleration: GPU, FPGA,…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Power awareness</a:t>
            </a:r>
          </a:p>
          <a:p>
            <a:pPr lvl="1">
              <a:lnSpc>
                <a:spcPct val="90000"/>
              </a:lnSpc>
              <a:spcBef>
                <a:spcPts val="41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Distributed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13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13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13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413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413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13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413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13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413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413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413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413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 build="p" autoUpdateAnimBg="0"/>
      <p:bldP spid="413700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/>
              <a:t>Programming Assignments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587500"/>
            <a:ext cx="4081463" cy="5067300"/>
          </a:xfrm>
        </p:spPr>
        <p:txBody>
          <a:bodyPr lIns="92160" tIns="46080" rIns="92160" bIns="46080"/>
          <a:lstStyle/>
          <a:p>
            <a:pPr>
              <a:spcBef>
                <a:spcPts val="46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smtClean="0"/>
              <a:t>Goals</a:t>
            </a:r>
          </a:p>
          <a:p>
            <a:pPr lvl="1"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smtClean="0"/>
              <a:t>Learn to design, implement, and evaluate automotive subsystems</a:t>
            </a:r>
          </a:p>
          <a:p>
            <a:pPr lvl="1"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smtClean="0"/>
              <a:t>Improve systems programming skills w/ C/C++, Python, Java:</a:t>
            </a:r>
          </a:p>
          <a:p>
            <a:pPr lvl="2"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Threads</a:t>
            </a:r>
          </a:p>
          <a:p>
            <a:pPr lvl="2"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Synchronization</a:t>
            </a:r>
          </a:p>
          <a:p>
            <a:pPr lvl="2"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Timing</a:t>
            </a:r>
          </a:p>
          <a:p>
            <a:pPr lvl="2"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Scheduling</a:t>
            </a:r>
          </a:p>
          <a:p>
            <a:pPr lvl="2"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b="1" smtClean="0"/>
              <a:t>Machine learning frameworks</a:t>
            </a:r>
          </a:p>
        </p:txBody>
      </p:sp>
      <p:sp>
        <p:nvSpPr>
          <p:cNvPr id="415748" name="Rectangle 4"/>
          <p:cNvSpPr>
            <a:spLocks noGrp="1" noChangeArrowheads="1"/>
          </p:cNvSpPr>
          <p:nvPr>
            <p:ph type="body" idx="2"/>
          </p:nvPr>
        </p:nvSpPr>
        <p:spPr>
          <a:xfrm>
            <a:off x="4656138" y="1587500"/>
            <a:ext cx="4081462" cy="5067300"/>
          </a:xfrm>
        </p:spPr>
        <p:txBody>
          <a:bodyPr lIns="92160" tIns="46080" rIns="92160" bIns="46080"/>
          <a:lstStyle/>
          <a:p>
            <a:pPr>
              <a:spcBef>
                <a:spcPts val="463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dirty="0" smtClean="0"/>
              <a:t>Structure</a:t>
            </a:r>
          </a:p>
          <a:p>
            <a:pPr lvl="1"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dirty="0" smtClean="0"/>
              <a:t>Small teams (3 students per team, find peers)</a:t>
            </a:r>
          </a:p>
          <a:p>
            <a:pPr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dirty="0" smtClean="0"/>
              <a:t>Facilities</a:t>
            </a:r>
          </a:p>
          <a:p>
            <a:pPr lvl="1">
              <a:spcBef>
                <a:spcPts val="413"/>
              </a:spcBef>
              <a:buSzPct val="111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b="1" dirty="0" smtClean="0"/>
              <a:t>ARC cluster (remote)</a:t>
            </a:r>
          </a:p>
          <a:p>
            <a:pPr lvl="1">
              <a:spcBef>
                <a:spcPts val="413"/>
              </a:spcBef>
              <a:buSzPct val="111000"/>
              <a:buFont typeface="Arial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7" grpId="0" build="p" autoUpdateAnimBg="0"/>
      <p:bldP spid="41574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ClipArt Placeholder 5" descr="jetson-tx1-devkit-thumb.jpg"/>
          <p:cNvPicPr>
            <a:picLocks noGrp="1" noChangeAspect="1"/>
          </p:cNvPicPr>
          <p:nvPr>
            <p:ph type="clipArt"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186238" y="1304925"/>
            <a:ext cx="5942012" cy="2446338"/>
          </a:xfrm>
        </p:spPr>
      </p:pic>
      <p:sp>
        <p:nvSpPr>
          <p:cNvPr id="1024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ARM+GPU Platforms</a:t>
            </a:r>
          </a:p>
        </p:txBody>
      </p:sp>
      <p:sp>
        <p:nvSpPr>
          <p:cNvPr id="10244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419100" y="1443038"/>
            <a:ext cx="8262938" cy="5067300"/>
          </a:xfrm>
        </p:spPr>
        <p:txBody>
          <a:bodyPr/>
          <a:lstStyle/>
          <a:p>
            <a:pPr>
              <a:spcAft>
                <a:spcPct val="0"/>
              </a:spcAft>
            </a:pPr>
            <a:r>
              <a:rPr lang="en-US" sz="1800" smtClean="0"/>
              <a:t>NVIDIA Jetson TX-1</a:t>
            </a:r>
          </a:p>
          <a:p>
            <a:pPr lvl="1">
              <a:spcAft>
                <a:spcPct val="0"/>
              </a:spcAft>
            </a:pPr>
            <a:r>
              <a:rPr lang="en-US" sz="1800" smtClean="0"/>
              <a:t>GPU: 1 TFLOP/s 256-core (Maxwell),</a:t>
            </a:r>
            <a:br>
              <a:rPr lang="en-US" sz="1800" smtClean="0"/>
            </a:br>
            <a:r>
              <a:rPr lang="en-US" sz="1800" smtClean="0"/>
              <a:t>CUDA support</a:t>
            </a:r>
          </a:p>
          <a:p>
            <a:pPr lvl="1">
              <a:spcAft>
                <a:spcPct val="0"/>
              </a:spcAft>
            </a:pPr>
            <a:r>
              <a:rPr lang="en-US" sz="1800" smtClean="0"/>
              <a:t>CPU: 64-bit ARM® A57  quad core</a:t>
            </a:r>
          </a:p>
          <a:p>
            <a:pPr lvl="1">
              <a:spcAft>
                <a:spcPct val="0"/>
              </a:spcAft>
            </a:pPr>
            <a:r>
              <a:rPr lang="en-US" sz="1800" smtClean="0"/>
              <a:t>Memory: 4 GB LPDDR4 | 25.6 GB/s</a:t>
            </a:r>
          </a:p>
          <a:p>
            <a:pPr>
              <a:spcAft>
                <a:spcPct val="0"/>
              </a:spcAft>
            </a:pPr>
            <a:r>
              <a:rPr lang="en-US" sz="1800" smtClean="0"/>
              <a:t>NVIDIA AGX Xavier</a:t>
            </a:r>
          </a:p>
          <a:p>
            <a:pPr lvl="1">
              <a:spcAft>
                <a:spcPct val="0"/>
              </a:spcAft>
            </a:pPr>
            <a:r>
              <a:rPr lang="en-US" sz="1800" smtClean="0"/>
              <a:t>GPU: 32 TFLOP/s 512-core (Volta),</a:t>
            </a:r>
            <a:br>
              <a:rPr lang="en-US" sz="1800" smtClean="0"/>
            </a:br>
            <a:r>
              <a:rPr lang="en-US" sz="1800" smtClean="0"/>
              <a:t>CUDA support</a:t>
            </a:r>
          </a:p>
          <a:p>
            <a:pPr lvl="1">
              <a:spcAft>
                <a:spcPct val="0"/>
              </a:spcAft>
            </a:pPr>
            <a:r>
              <a:rPr lang="en-US" sz="1800" smtClean="0"/>
              <a:t>CPU: 64-bit ARMv8 octa core</a:t>
            </a:r>
          </a:p>
          <a:p>
            <a:pPr lvl="1">
              <a:spcAft>
                <a:spcPct val="0"/>
              </a:spcAft>
            </a:pPr>
            <a:r>
              <a:rPr lang="en-US" sz="1800" smtClean="0"/>
              <a:t>Programmable Vision Accelerator (PVA): 1.7 CV TOP/s</a:t>
            </a:r>
          </a:p>
          <a:p>
            <a:pPr lvl="1">
              <a:spcAft>
                <a:spcPct val="0"/>
              </a:spcAft>
            </a:pPr>
            <a:r>
              <a:rPr lang="en-US" sz="1800" smtClean="0"/>
              <a:t>deep learning accelerator (DLA): </a:t>
            </a:r>
          </a:p>
          <a:p>
            <a:pPr lvl="2">
              <a:spcAft>
                <a:spcPct val="0"/>
              </a:spcAft>
            </a:pPr>
            <a:r>
              <a:rPr lang="en-US" sz="1800" smtClean="0"/>
              <a:t>2x5.7 TFLOP/s at</a:t>
            </a:r>
            <a:br>
              <a:rPr lang="en-US" sz="1800" smtClean="0"/>
            </a:br>
            <a:r>
              <a:rPr lang="en-US" sz="1800" smtClean="0"/>
              <a:t>	half precision (float16)</a:t>
            </a:r>
          </a:p>
          <a:p>
            <a:pPr lvl="2">
              <a:spcAft>
                <a:spcPct val="0"/>
              </a:spcAft>
            </a:pPr>
            <a:r>
              <a:rPr lang="en-US" sz="1800" smtClean="0"/>
              <a:t>2x11.4 TFLOP/s at</a:t>
            </a:r>
            <a:br>
              <a:rPr lang="en-US" sz="1800" smtClean="0"/>
            </a:br>
            <a:r>
              <a:rPr lang="en-US" sz="1800" smtClean="0"/>
              <a:t>	quarter precision (int8)</a:t>
            </a:r>
          </a:p>
          <a:p>
            <a:pPr lvl="1">
              <a:spcAft>
                <a:spcPct val="0"/>
              </a:spcAft>
            </a:pPr>
            <a:endParaRPr lang="en-US" sz="1800" smtClean="0"/>
          </a:p>
        </p:txBody>
      </p:sp>
      <p:pic>
        <p:nvPicPr>
          <p:cNvPr id="10245" name="Picture 6" descr="tm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97488" y="4667250"/>
            <a:ext cx="3846512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ARC Cluster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988" y="1457325"/>
            <a:ext cx="4799012" cy="5067300"/>
          </a:xfrm>
        </p:spPr>
        <p:txBody>
          <a:bodyPr/>
          <a:lstStyle/>
          <a:p>
            <a:pPr>
              <a:lnSpc>
                <a:spcPts val="2000"/>
              </a:lnSpc>
            </a:pPr>
            <a:r>
              <a:rPr lang="en-US" altLang="en-US" sz="2000" b="1" dirty="0" smtClean="0"/>
              <a:t>Beowulf-like cluster</a:t>
            </a:r>
          </a:p>
          <a:p>
            <a:pPr>
              <a:lnSpc>
                <a:spcPts val="2000"/>
              </a:lnSpc>
            </a:pPr>
            <a:r>
              <a:rPr lang="en-US" altLang="en-US" sz="2000" b="1" dirty="0" smtClean="0"/>
              <a:t>80 Compute nodes</a:t>
            </a:r>
          </a:p>
          <a:p>
            <a:pPr lvl="1">
              <a:lnSpc>
                <a:spcPts val="2000"/>
              </a:lnSpc>
            </a:pPr>
            <a:r>
              <a:rPr lang="en-US" altLang="en-US" sz="2000" b="1" dirty="0" smtClean="0"/>
              <a:t>16 cores, AMD/Intel mix, 16GB-1.2TB RAM, NVIDIA GPU (different ones),</a:t>
            </a:r>
            <a:br>
              <a:rPr lang="en-US" altLang="en-US" sz="2000" b="1" dirty="0" smtClean="0"/>
            </a:br>
            <a:r>
              <a:rPr lang="en-US" altLang="en-US" sz="2000" b="1" dirty="0" smtClean="0"/>
              <a:t>1TB HD, 120GB-1.6TB SSD</a:t>
            </a:r>
          </a:p>
          <a:p>
            <a:pPr>
              <a:lnSpc>
                <a:spcPts val="2000"/>
              </a:lnSpc>
            </a:pPr>
            <a:r>
              <a:rPr lang="en-US" altLang="en-US" sz="2000" b="1" dirty="0" smtClean="0"/>
              <a:t>Interconnects</a:t>
            </a:r>
          </a:p>
          <a:p>
            <a:pPr lvl="1">
              <a:lnSpc>
                <a:spcPts val="2000"/>
              </a:lnSpc>
            </a:pPr>
            <a:r>
              <a:rPr lang="en-US" altLang="en-US" sz="2000" b="1" dirty="0" smtClean="0">
                <a:sym typeface="Symbol" pitchFamily="18" charset="2"/>
              </a:rPr>
              <a:t>100Gb/s </a:t>
            </a:r>
            <a:r>
              <a:rPr lang="en-US" altLang="en-US" sz="2000" b="1" dirty="0" err="1" smtClean="0">
                <a:sym typeface="Symbol" pitchFamily="18" charset="2"/>
              </a:rPr>
              <a:t>Infiniband</a:t>
            </a:r>
            <a:r>
              <a:rPr lang="en-US" altLang="en-US" sz="2000" b="1" dirty="0" smtClean="0">
                <a:sym typeface="Symbol" pitchFamily="18" charset="2"/>
              </a:rPr>
              <a:t> fat tree</a:t>
            </a:r>
          </a:p>
          <a:p>
            <a:pPr lvl="1">
              <a:lnSpc>
                <a:spcPts val="2000"/>
              </a:lnSpc>
            </a:pPr>
            <a:r>
              <a:rPr lang="en-US" altLang="en-US" sz="2000" b="1" dirty="0" smtClean="0">
                <a:sym typeface="Symbol" pitchFamily="18" charset="2"/>
              </a:rPr>
              <a:t>1Gbps Ethernet switches</a:t>
            </a:r>
          </a:p>
          <a:p>
            <a:pPr>
              <a:lnSpc>
                <a:spcPts val="2000"/>
              </a:lnSpc>
            </a:pPr>
            <a:r>
              <a:rPr lang="en-US" altLang="en-US" sz="2000" b="1" dirty="0" smtClean="0"/>
              <a:t>Storage</a:t>
            </a:r>
          </a:p>
          <a:p>
            <a:pPr lvl="1">
              <a:lnSpc>
                <a:spcPts val="2000"/>
              </a:lnSpc>
            </a:pPr>
            <a:r>
              <a:rPr lang="en-US" altLang="en-US" sz="2000" b="1" dirty="0" smtClean="0"/>
              <a:t>90TB NFS (default)</a:t>
            </a:r>
          </a:p>
          <a:p>
            <a:pPr lvl="1">
              <a:lnSpc>
                <a:spcPts val="2000"/>
              </a:lnSpc>
            </a:pPr>
            <a:r>
              <a:rPr lang="en-US" altLang="en-US" sz="2000" b="1" dirty="0" smtClean="0"/>
              <a:t>90TB </a:t>
            </a:r>
            <a:r>
              <a:rPr lang="en-US" altLang="en-US" sz="2000" b="1" dirty="0" err="1" smtClean="0"/>
              <a:t>BeeGFS</a:t>
            </a:r>
            <a:r>
              <a:rPr lang="en-US" altLang="en-US" sz="2000" b="1" dirty="0" smtClean="0"/>
              <a:t> (data)</a:t>
            </a:r>
          </a:p>
          <a:p>
            <a:pPr>
              <a:lnSpc>
                <a:spcPts val="2000"/>
              </a:lnSpc>
            </a:pPr>
            <a:r>
              <a:rPr lang="en-US" altLang="en-US" sz="2000" b="1" dirty="0" err="1" smtClean="0"/>
              <a:t>Gnu+PGI</a:t>
            </a:r>
            <a:r>
              <a:rPr lang="en-US" altLang="en-US" sz="2000" b="1" dirty="0" smtClean="0"/>
              <a:t> C/C++/Fortran compilers </a:t>
            </a:r>
          </a:p>
          <a:p>
            <a:pPr lvl="1">
              <a:lnSpc>
                <a:spcPts val="2000"/>
              </a:lnSpc>
            </a:pPr>
            <a:r>
              <a:rPr lang="en-US" altLang="en-US" sz="2000" b="1" dirty="0" err="1" smtClean="0"/>
              <a:t>MPI,OpenMP,CUDA,OpenACC</a:t>
            </a:r>
            <a:r>
              <a:rPr lang="en-US" altLang="en-US" sz="2000" b="1" dirty="0" smtClean="0"/>
              <a:t>, </a:t>
            </a:r>
            <a:r>
              <a:rPr lang="en-US" altLang="en-US" sz="2000" b="1" dirty="0" err="1" smtClean="0"/>
              <a:t>Hadoop</a:t>
            </a:r>
            <a:r>
              <a:rPr lang="en-US" altLang="en-US" sz="2000" b="1" dirty="0" smtClean="0"/>
              <a:t>, Spark, </a:t>
            </a:r>
            <a:r>
              <a:rPr lang="en-US" altLang="en-US" sz="2000" b="1" dirty="0" err="1" smtClean="0"/>
              <a:t>Tensorflow</a:t>
            </a:r>
            <a:r>
              <a:rPr lang="en-US" altLang="en-US" sz="2000" b="1" dirty="0" smtClean="0"/>
              <a:t>…</a:t>
            </a:r>
          </a:p>
        </p:txBody>
      </p:sp>
      <p:sp>
        <p:nvSpPr>
          <p:cNvPr id="11268" name="Text Box 23"/>
          <p:cNvSpPr txBox="1">
            <a:spLocks noChangeArrowheads="1"/>
          </p:cNvSpPr>
          <p:nvPr/>
        </p:nvSpPr>
        <p:spPr bwMode="auto">
          <a:xfrm>
            <a:off x="6623050" y="5238750"/>
            <a:ext cx="1368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 b="0">
                <a:latin typeface="Arial" pitchFamily="34" charset="0"/>
              </a:rPr>
              <a:t>Mid Tier</a:t>
            </a:r>
          </a:p>
        </p:txBody>
      </p:sp>
      <p:pic>
        <p:nvPicPr>
          <p:cNvPr id="11269" name="Picture 5" descr="etherswitch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88163" y="2179638"/>
            <a:ext cx="1768475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5" descr="etherswitch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8763" y="2824163"/>
            <a:ext cx="1770062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4" descr="blad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88163" y="4059238"/>
            <a:ext cx="814387" cy="98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2" name="Picture 8" descr="ibswitch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16563" y="4433888"/>
            <a:ext cx="1360487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3" name="Picture 3" descr="balde16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43425" y="4219575"/>
            <a:ext cx="955675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4" name="Picture 7" descr="storage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772400" y="4111625"/>
            <a:ext cx="1138238" cy="60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5" name="Picture 4" descr="blad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37225" y="2770188"/>
            <a:ext cx="8159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6" name="Arc 11"/>
          <p:cNvSpPr>
            <a:spLocks/>
          </p:cNvSpPr>
          <p:nvPr/>
        </p:nvSpPr>
        <p:spPr bwMode="auto">
          <a:xfrm>
            <a:off x="4278313" y="2555875"/>
            <a:ext cx="4865687" cy="2582863"/>
          </a:xfrm>
          <a:custGeom>
            <a:avLst/>
            <a:gdLst>
              <a:gd name="T0" fmla="*/ 0 w 43200"/>
              <a:gd name="T1" fmla="*/ 2147483647 h 21600"/>
              <a:gd name="T2" fmla="*/ 2147483647 w 43200"/>
              <a:gd name="T3" fmla="*/ 2147483647 h 21600"/>
              <a:gd name="T4" fmla="*/ 2147483647 w 43200"/>
              <a:gd name="T5" fmla="*/ 2147483647 h 21600"/>
              <a:gd name="T6" fmla="*/ 0 60000 65536"/>
              <a:gd name="T7" fmla="*/ 0 60000 65536"/>
              <a:gd name="T8" fmla="*/ 0 60000 65536"/>
              <a:gd name="T9" fmla="*/ 0 w 43200"/>
              <a:gd name="T10" fmla="*/ 0 h 21600"/>
              <a:gd name="T11" fmla="*/ 43200 w 432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1600" fill="none" extrusionOk="0">
                <a:moveTo>
                  <a:pt x="0" y="21497"/>
                </a:moveTo>
                <a:cubicBezTo>
                  <a:pt x="56" y="9607"/>
                  <a:pt x="9710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</a:path>
              <a:path w="43200" h="21600" stroke="0" extrusionOk="0">
                <a:moveTo>
                  <a:pt x="0" y="21497"/>
                </a:moveTo>
                <a:cubicBezTo>
                  <a:pt x="56" y="9607"/>
                  <a:pt x="9710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lnTo>
                  <a:pt x="21600" y="21600"/>
                </a:lnTo>
                <a:lnTo>
                  <a:pt x="0" y="21497"/>
                </a:lnTo>
                <a:close/>
              </a:path>
            </a:pathLst>
          </a:custGeom>
          <a:noFill/>
          <a:ln w="762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Line 19"/>
          <p:cNvSpPr>
            <a:spLocks noChangeShapeType="1"/>
          </p:cNvSpPr>
          <p:nvPr/>
        </p:nvSpPr>
        <p:spPr bwMode="auto">
          <a:xfrm>
            <a:off x="4322763" y="5240338"/>
            <a:ext cx="1193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8" name="Line 20"/>
          <p:cNvSpPr>
            <a:spLocks noChangeShapeType="1"/>
          </p:cNvSpPr>
          <p:nvPr/>
        </p:nvSpPr>
        <p:spPr bwMode="auto">
          <a:xfrm>
            <a:off x="6888163" y="5240338"/>
            <a:ext cx="8397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9" name="Line 21"/>
          <p:cNvSpPr>
            <a:spLocks noChangeShapeType="1"/>
          </p:cNvSpPr>
          <p:nvPr/>
        </p:nvSpPr>
        <p:spPr bwMode="auto">
          <a:xfrm>
            <a:off x="7727950" y="5240338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80" name="Text Box 22"/>
          <p:cNvSpPr txBox="1">
            <a:spLocks noChangeArrowheads="1"/>
          </p:cNvSpPr>
          <p:nvPr/>
        </p:nvSpPr>
        <p:spPr bwMode="auto">
          <a:xfrm>
            <a:off x="4233863" y="5238750"/>
            <a:ext cx="1368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 b="0">
                <a:latin typeface="Arial" pitchFamily="34" charset="0"/>
              </a:rPr>
              <a:t>Front Tier</a:t>
            </a:r>
          </a:p>
        </p:txBody>
      </p:sp>
      <p:sp>
        <p:nvSpPr>
          <p:cNvPr id="11281" name="Text Box 24"/>
          <p:cNvSpPr txBox="1">
            <a:spLocks noChangeArrowheads="1"/>
          </p:cNvSpPr>
          <p:nvPr/>
        </p:nvSpPr>
        <p:spPr bwMode="auto">
          <a:xfrm>
            <a:off x="7639050" y="52387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 b="0">
                <a:latin typeface="Arial" pitchFamily="34" charset="0"/>
              </a:rPr>
              <a:t>Back Tier</a:t>
            </a:r>
          </a:p>
        </p:txBody>
      </p:sp>
      <p:sp>
        <p:nvSpPr>
          <p:cNvPr id="11282" name="Text Box 25"/>
          <p:cNvSpPr txBox="1">
            <a:spLocks noChangeArrowheads="1"/>
          </p:cNvSpPr>
          <p:nvPr/>
        </p:nvSpPr>
        <p:spPr bwMode="auto">
          <a:xfrm>
            <a:off x="5799138" y="2605088"/>
            <a:ext cx="154781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 b="0">
                <a:latin typeface="Arial" pitchFamily="34" charset="0"/>
              </a:rPr>
              <a:t>Head/Login Nodes</a:t>
            </a:r>
          </a:p>
        </p:txBody>
      </p:sp>
      <p:sp>
        <p:nvSpPr>
          <p:cNvPr id="11283" name="Text Box 26"/>
          <p:cNvSpPr txBox="1">
            <a:spLocks noChangeArrowheads="1"/>
          </p:cNvSpPr>
          <p:nvPr/>
        </p:nvSpPr>
        <p:spPr bwMode="auto">
          <a:xfrm>
            <a:off x="5562600" y="4541838"/>
            <a:ext cx="1368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 b="0">
                <a:latin typeface="Arial" pitchFamily="34" charset="0"/>
              </a:rPr>
              <a:t>IB Switch Stack</a:t>
            </a:r>
          </a:p>
        </p:txBody>
      </p:sp>
      <p:sp>
        <p:nvSpPr>
          <p:cNvPr id="11284" name="Text Box 27"/>
          <p:cNvSpPr txBox="1">
            <a:spLocks noChangeArrowheads="1"/>
          </p:cNvSpPr>
          <p:nvPr/>
        </p:nvSpPr>
        <p:spPr bwMode="auto">
          <a:xfrm>
            <a:off x="5405438" y="3906838"/>
            <a:ext cx="15906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 b="0">
                <a:latin typeface="Arial" pitchFamily="34" charset="0"/>
              </a:rPr>
              <a:t>GEther Switch Stack</a:t>
            </a:r>
          </a:p>
        </p:txBody>
      </p:sp>
      <p:sp>
        <p:nvSpPr>
          <p:cNvPr id="11285" name="Text Box 28"/>
          <p:cNvSpPr txBox="1">
            <a:spLocks noChangeArrowheads="1"/>
          </p:cNvSpPr>
          <p:nvPr/>
        </p:nvSpPr>
        <p:spPr bwMode="auto">
          <a:xfrm>
            <a:off x="6665913" y="3940175"/>
            <a:ext cx="13731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 b="0">
                <a:latin typeface="Arial" pitchFamily="34" charset="0"/>
              </a:rPr>
              <a:t>I/O Nodes</a:t>
            </a:r>
          </a:p>
        </p:txBody>
      </p:sp>
      <p:sp>
        <p:nvSpPr>
          <p:cNvPr id="11286" name="Text Box 29"/>
          <p:cNvSpPr txBox="1">
            <a:spLocks noChangeArrowheads="1"/>
          </p:cNvSpPr>
          <p:nvPr/>
        </p:nvSpPr>
        <p:spPr bwMode="auto">
          <a:xfrm>
            <a:off x="7685088" y="3940175"/>
            <a:ext cx="13700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 b="0">
                <a:latin typeface="Arial" pitchFamily="34" charset="0"/>
              </a:rPr>
              <a:t>Storage Array</a:t>
            </a:r>
          </a:p>
        </p:txBody>
      </p:sp>
      <p:sp>
        <p:nvSpPr>
          <p:cNvPr id="11287" name="Text Box 30"/>
          <p:cNvSpPr txBox="1">
            <a:spLocks noChangeArrowheads="1"/>
          </p:cNvSpPr>
          <p:nvPr/>
        </p:nvSpPr>
        <p:spPr bwMode="auto">
          <a:xfrm>
            <a:off x="4384675" y="3822700"/>
            <a:ext cx="1239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 b="0">
                <a:latin typeface="Arial" pitchFamily="34" charset="0"/>
              </a:rPr>
              <a:t>Compute/</a:t>
            </a:r>
            <a:br>
              <a:rPr lang="en-US" altLang="en-US" sz="1200" b="0">
                <a:latin typeface="Arial" pitchFamily="34" charset="0"/>
              </a:rPr>
            </a:br>
            <a:r>
              <a:rPr lang="en-US" altLang="en-US" sz="1200" b="0">
                <a:latin typeface="Arial" pitchFamily="34" charset="0"/>
              </a:rPr>
              <a:t>Spare Nodes</a:t>
            </a:r>
          </a:p>
        </p:txBody>
      </p:sp>
      <p:sp>
        <p:nvSpPr>
          <p:cNvPr id="11288" name="Line 32"/>
          <p:cNvSpPr>
            <a:spLocks noChangeShapeType="1"/>
          </p:cNvSpPr>
          <p:nvPr/>
        </p:nvSpPr>
        <p:spPr bwMode="auto">
          <a:xfrm>
            <a:off x="5427663" y="4702175"/>
            <a:ext cx="796925" cy="21590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89" name="Line 33"/>
          <p:cNvSpPr>
            <a:spLocks noChangeShapeType="1"/>
          </p:cNvSpPr>
          <p:nvPr/>
        </p:nvSpPr>
        <p:spPr bwMode="auto">
          <a:xfrm flipV="1">
            <a:off x="5427663" y="4111625"/>
            <a:ext cx="884237" cy="59055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0" name="Line 34"/>
          <p:cNvSpPr>
            <a:spLocks noChangeShapeType="1"/>
          </p:cNvSpPr>
          <p:nvPr/>
        </p:nvSpPr>
        <p:spPr bwMode="auto">
          <a:xfrm>
            <a:off x="6311900" y="4111625"/>
            <a:ext cx="708025" cy="538163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1" name="Line 35"/>
          <p:cNvSpPr>
            <a:spLocks noChangeShapeType="1"/>
          </p:cNvSpPr>
          <p:nvPr/>
        </p:nvSpPr>
        <p:spPr bwMode="auto">
          <a:xfrm flipV="1">
            <a:off x="6224588" y="4649788"/>
            <a:ext cx="795337" cy="268287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2" name="Line 37"/>
          <p:cNvSpPr>
            <a:spLocks noChangeShapeType="1"/>
          </p:cNvSpPr>
          <p:nvPr/>
        </p:nvSpPr>
        <p:spPr bwMode="auto">
          <a:xfrm>
            <a:off x="7418388" y="4595813"/>
            <a:ext cx="708025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3" name="Line 38"/>
          <p:cNvSpPr>
            <a:spLocks noChangeShapeType="1"/>
          </p:cNvSpPr>
          <p:nvPr/>
        </p:nvSpPr>
        <p:spPr bwMode="auto">
          <a:xfrm>
            <a:off x="7418388" y="4487863"/>
            <a:ext cx="708025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4" name="Line 39"/>
          <p:cNvSpPr>
            <a:spLocks noChangeShapeType="1"/>
          </p:cNvSpPr>
          <p:nvPr/>
        </p:nvSpPr>
        <p:spPr bwMode="auto">
          <a:xfrm>
            <a:off x="7418388" y="4381500"/>
            <a:ext cx="708025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5" name="Line 40"/>
          <p:cNvSpPr>
            <a:spLocks noChangeShapeType="1"/>
          </p:cNvSpPr>
          <p:nvPr/>
        </p:nvSpPr>
        <p:spPr bwMode="auto">
          <a:xfrm>
            <a:off x="7418388" y="4273550"/>
            <a:ext cx="708025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6" name="Line 41"/>
          <p:cNvSpPr>
            <a:spLocks noChangeShapeType="1"/>
          </p:cNvSpPr>
          <p:nvPr/>
        </p:nvSpPr>
        <p:spPr bwMode="auto">
          <a:xfrm>
            <a:off x="5427663" y="4810125"/>
            <a:ext cx="796925" cy="214313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7" name="Line 42"/>
          <p:cNvSpPr>
            <a:spLocks noChangeShapeType="1"/>
          </p:cNvSpPr>
          <p:nvPr/>
        </p:nvSpPr>
        <p:spPr bwMode="auto">
          <a:xfrm flipV="1">
            <a:off x="5427663" y="4273550"/>
            <a:ext cx="884237" cy="536575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8" name="Line 43"/>
          <p:cNvSpPr>
            <a:spLocks noChangeShapeType="1"/>
          </p:cNvSpPr>
          <p:nvPr/>
        </p:nvSpPr>
        <p:spPr bwMode="auto">
          <a:xfrm>
            <a:off x="6311900" y="4273550"/>
            <a:ext cx="708025" cy="4826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99" name="Line 44"/>
          <p:cNvSpPr>
            <a:spLocks noChangeShapeType="1"/>
          </p:cNvSpPr>
          <p:nvPr/>
        </p:nvSpPr>
        <p:spPr bwMode="auto">
          <a:xfrm flipV="1">
            <a:off x="6224588" y="4756150"/>
            <a:ext cx="795337" cy="268288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0" name="Line 49"/>
          <p:cNvSpPr>
            <a:spLocks noChangeShapeType="1"/>
          </p:cNvSpPr>
          <p:nvPr/>
        </p:nvSpPr>
        <p:spPr bwMode="auto">
          <a:xfrm flipV="1">
            <a:off x="6311900" y="3468688"/>
            <a:ext cx="0" cy="642937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1" name="Freeform 50"/>
          <p:cNvSpPr>
            <a:spLocks/>
          </p:cNvSpPr>
          <p:nvPr/>
        </p:nvSpPr>
        <p:spPr bwMode="auto">
          <a:xfrm>
            <a:off x="6311900" y="2447925"/>
            <a:ext cx="1588" cy="482600"/>
          </a:xfrm>
          <a:custGeom>
            <a:avLst/>
            <a:gdLst>
              <a:gd name="T0" fmla="*/ 0 w 1"/>
              <a:gd name="T1" fmla="*/ 2147483647 h 432"/>
              <a:gd name="T2" fmla="*/ 0 w 1"/>
              <a:gd name="T3" fmla="*/ 0 h 432"/>
              <a:gd name="T4" fmla="*/ 0 60000 65536"/>
              <a:gd name="T5" fmla="*/ 0 60000 65536"/>
              <a:gd name="T6" fmla="*/ 0 w 1"/>
              <a:gd name="T7" fmla="*/ 0 h 432"/>
              <a:gd name="T8" fmla="*/ 1 w 1"/>
              <a:gd name="T9" fmla="*/ 432 h 4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32">
                <a:moveTo>
                  <a:pt x="0" y="43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8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302" name="Text Box 52"/>
          <p:cNvSpPr txBox="1">
            <a:spLocks noChangeArrowheads="1"/>
          </p:cNvSpPr>
          <p:nvPr/>
        </p:nvSpPr>
        <p:spPr bwMode="auto">
          <a:xfrm>
            <a:off x="6932613" y="3263900"/>
            <a:ext cx="16478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200" b="0">
                <a:latin typeface="Arial" pitchFamily="34" charset="0"/>
              </a:rPr>
              <a:t>PFS Switch Stack</a:t>
            </a:r>
          </a:p>
        </p:txBody>
      </p:sp>
      <p:sp>
        <p:nvSpPr>
          <p:cNvPr id="11303" name="Freeform 55"/>
          <p:cNvSpPr>
            <a:spLocks/>
          </p:cNvSpPr>
          <p:nvPr/>
        </p:nvSpPr>
        <p:spPr bwMode="auto">
          <a:xfrm>
            <a:off x="5383213" y="3635375"/>
            <a:ext cx="2503487" cy="638175"/>
          </a:xfrm>
          <a:custGeom>
            <a:avLst/>
            <a:gdLst>
              <a:gd name="T0" fmla="*/ 0 w 2717"/>
              <a:gd name="T1" fmla="*/ 2147483647 h 571"/>
              <a:gd name="T2" fmla="*/ 2147483647 w 2717"/>
              <a:gd name="T3" fmla="*/ 2147483647 h 571"/>
              <a:gd name="T4" fmla="*/ 2147483647 w 2717"/>
              <a:gd name="T5" fmla="*/ 2147483647 h 571"/>
              <a:gd name="T6" fmla="*/ 2147483647 w 2717"/>
              <a:gd name="T7" fmla="*/ 0 h 571"/>
              <a:gd name="T8" fmla="*/ 0 60000 65536"/>
              <a:gd name="T9" fmla="*/ 0 60000 65536"/>
              <a:gd name="T10" fmla="*/ 0 60000 65536"/>
              <a:gd name="T11" fmla="*/ 0 60000 65536"/>
              <a:gd name="T12" fmla="*/ 0 w 2717"/>
              <a:gd name="T13" fmla="*/ 0 h 571"/>
              <a:gd name="T14" fmla="*/ 2717 w 2717"/>
              <a:gd name="T15" fmla="*/ 571 h 5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17" h="571">
                <a:moveTo>
                  <a:pt x="0" y="571"/>
                </a:moveTo>
                <a:cubicBezTo>
                  <a:pt x="85" y="511"/>
                  <a:pt x="117" y="279"/>
                  <a:pt x="510" y="214"/>
                </a:cubicBezTo>
                <a:cubicBezTo>
                  <a:pt x="903" y="149"/>
                  <a:pt x="2005" y="214"/>
                  <a:pt x="2361" y="178"/>
                </a:cubicBezTo>
                <a:cubicBezTo>
                  <a:pt x="2717" y="142"/>
                  <a:pt x="2589" y="37"/>
                  <a:pt x="2649" y="0"/>
                </a:cubicBezTo>
              </a:path>
            </a:pathLst>
          </a:cu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4" name="Freeform 58"/>
          <p:cNvSpPr>
            <a:spLocks/>
          </p:cNvSpPr>
          <p:nvPr/>
        </p:nvSpPr>
        <p:spPr bwMode="auto">
          <a:xfrm>
            <a:off x="7618413" y="3629025"/>
            <a:ext cx="285750" cy="577850"/>
          </a:xfrm>
          <a:custGeom>
            <a:avLst/>
            <a:gdLst>
              <a:gd name="T0" fmla="*/ 0 w 311"/>
              <a:gd name="T1" fmla="*/ 2147483647 h 517"/>
              <a:gd name="T2" fmla="*/ 2147483647 w 311"/>
              <a:gd name="T3" fmla="*/ 2147483647 h 517"/>
              <a:gd name="T4" fmla="*/ 2147483647 w 311"/>
              <a:gd name="T5" fmla="*/ 0 h 517"/>
              <a:gd name="T6" fmla="*/ 0 60000 65536"/>
              <a:gd name="T7" fmla="*/ 0 60000 65536"/>
              <a:gd name="T8" fmla="*/ 0 60000 65536"/>
              <a:gd name="T9" fmla="*/ 0 w 311"/>
              <a:gd name="T10" fmla="*/ 0 h 517"/>
              <a:gd name="T11" fmla="*/ 311 w 311"/>
              <a:gd name="T12" fmla="*/ 517 h 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1" h="517">
                <a:moveTo>
                  <a:pt x="0" y="512"/>
                </a:moveTo>
                <a:cubicBezTo>
                  <a:pt x="28" y="500"/>
                  <a:pt x="115" y="517"/>
                  <a:pt x="167" y="432"/>
                </a:cubicBezTo>
                <a:cubicBezTo>
                  <a:pt x="219" y="347"/>
                  <a:pt x="263" y="176"/>
                  <a:pt x="311" y="0"/>
                </a:cubicBezTo>
              </a:path>
            </a:pathLst>
          </a:cu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5" name="Freeform 59"/>
          <p:cNvSpPr>
            <a:spLocks/>
          </p:cNvSpPr>
          <p:nvPr/>
        </p:nvSpPr>
        <p:spPr bwMode="auto">
          <a:xfrm>
            <a:off x="7859713" y="2716213"/>
            <a:ext cx="44450" cy="590550"/>
          </a:xfrm>
          <a:custGeom>
            <a:avLst/>
            <a:gdLst>
              <a:gd name="T0" fmla="*/ 0 w 1"/>
              <a:gd name="T1" fmla="*/ 2147483647 h 432"/>
              <a:gd name="T2" fmla="*/ 0 w 1"/>
              <a:gd name="T3" fmla="*/ 0 h 432"/>
              <a:gd name="T4" fmla="*/ 0 60000 65536"/>
              <a:gd name="T5" fmla="*/ 0 60000 65536"/>
              <a:gd name="T6" fmla="*/ 0 w 1"/>
              <a:gd name="T7" fmla="*/ 0 h 432"/>
              <a:gd name="T8" fmla="*/ 1 w 1"/>
              <a:gd name="T9" fmla="*/ 432 h 4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32">
                <a:moveTo>
                  <a:pt x="0" y="43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folHlink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306" name="Freeform 60"/>
          <p:cNvSpPr>
            <a:spLocks/>
          </p:cNvSpPr>
          <p:nvPr/>
        </p:nvSpPr>
        <p:spPr bwMode="auto">
          <a:xfrm>
            <a:off x="5338763" y="3629025"/>
            <a:ext cx="2487612" cy="644525"/>
          </a:xfrm>
          <a:custGeom>
            <a:avLst/>
            <a:gdLst>
              <a:gd name="T0" fmla="*/ 0 w 2699"/>
              <a:gd name="T1" fmla="*/ 2147483647 h 576"/>
              <a:gd name="T2" fmla="*/ 2147483647 w 2699"/>
              <a:gd name="T3" fmla="*/ 2147483647 h 576"/>
              <a:gd name="T4" fmla="*/ 2147483647 w 2699"/>
              <a:gd name="T5" fmla="*/ 2147483647 h 576"/>
              <a:gd name="T6" fmla="*/ 2147483647 w 2699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2699"/>
              <a:gd name="T13" fmla="*/ 0 h 576"/>
              <a:gd name="T14" fmla="*/ 2699 w 2699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99" h="576">
                <a:moveTo>
                  <a:pt x="0" y="576"/>
                </a:moveTo>
                <a:cubicBezTo>
                  <a:pt x="81" y="512"/>
                  <a:pt x="99" y="264"/>
                  <a:pt x="489" y="192"/>
                </a:cubicBezTo>
                <a:cubicBezTo>
                  <a:pt x="879" y="120"/>
                  <a:pt x="1983" y="178"/>
                  <a:pt x="2341" y="146"/>
                </a:cubicBezTo>
                <a:cubicBezTo>
                  <a:pt x="2699" y="114"/>
                  <a:pt x="2578" y="30"/>
                  <a:pt x="2640" y="0"/>
                </a:cubicBezTo>
              </a:path>
            </a:pathLst>
          </a:cu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7" name="Freeform 61"/>
          <p:cNvSpPr>
            <a:spLocks/>
          </p:cNvSpPr>
          <p:nvPr/>
        </p:nvSpPr>
        <p:spPr bwMode="auto">
          <a:xfrm>
            <a:off x="7631113" y="3629025"/>
            <a:ext cx="317500" cy="619125"/>
          </a:xfrm>
          <a:custGeom>
            <a:avLst/>
            <a:gdLst>
              <a:gd name="T0" fmla="*/ 0 w 345"/>
              <a:gd name="T1" fmla="*/ 2147483647 h 553"/>
              <a:gd name="T2" fmla="*/ 2147483647 w 345"/>
              <a:gd name="T3" fmla="*/ 2147483647 h 553"/>
              <a:gd name="T4" fmla="*/ 2147483647 w 345"/>
              <a:gd name="T5" fmla="*/ 0 h 553"/>
              <a:gd name="T6" fmla="*/ 0 60000 65536"/>
              <a:gd name="T7" fmla="*/ 0 60000 65536"/>
              <a:gd name="T8" fmla="*/ 0 60000 65536"/>
              <a:gd name="T9" fmla="*/ 0 w 345"/>
              <a:gd name="T10" fmla="*/ 0 h 553"/>
              <a:gd name="T11" fmla="*/ 345 w 345"/>
              <a:gd name="T12" fmla="*/ 553 h 5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5" h="553">
                <a:moveTo>
                  <a:pt x="0" y="553"/>
                </a:moveTo>
                <a:cubicBezTo>
                  <a:pt x="33" y="533"/>
                  <a:pt x="144" y="524"/>
                  <a:pt x="201" y="432"/>
                </a:cubicBezTo>
                <a:cubicBezTo>
                  <a:pt x="258" y="340"/>
                  <a:pt x="297" y="176"/>
                  <a:pt x="345" y="0"/>
                </a:cubicBezTo>
              </a:path>
            </a:pathLst>
          </a:custGeom>
          <a:noFill/>
          <a:ln w="127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308" name="Line 62"/>
          <p:cNvSpPr>
            <a:spLocks noChangeShapeType="1"/>
          </p:cNvSpPr>
          <p:nvPr/>
        </p:nvSpPr>
        <p:spPr bwMode="auto">
          <a:xfrm>
            <a:off x="5516563" y="5240338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309" name="Text Box 64"/>
          <p:cNvSpPr txBox="1">
            <a:spLocks noChangeArrowheads="1"/>
          </p:cNvSpPr>
          <p:nvPr/>
        </p:nvSpPr>
        <p:spPr bwMode="auto">
          <a:xfrm>
            <a:off x="5427663" y="52387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 b="0">
                <a:latin typeface="Arial" pitchFamily="34" charset="0"/>
              </a:rPr>
              <a:t>Interconnect</a:t>
            </a:r>
          </a:p>
        </p:txBody>
      </p:sp>
      <p:sp>
        <p:nvSpPr>
          <p:cNvPr id="11310" name="WordArt 65"/>
          <p:cNvSpPr>
            <a:spLocks noChangeArrowheads="1" noChangeShapeType="1" noTextEdit="1"/>
          </p:cNvSpPr>
          <p:nvPr/>
        </p:nvSpPr>
        <p:spPr bwMode="auto">
          <a:xfrm>
            <a:off x="5240338" y="2339975"/>
            <a:ext cx="2973387" cy="912813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800004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Comic Sans MS"/>
              </a:rPr>
              <a:t>ARC - A Root Cluster</a:t>
            </a:r>
          </a:p>
        </p:txBody>
      </p:sp>
      <p:sp>
        <p:nvSpPr>
          <p:cNvPr id="45" name="Flowchart: Magnetic Disk 44"/>
          <p:cNvSpPr/>
          <p:nvPr/>
        </p:nvSpPr>
        <p:spPr>
          <a:xfrm>
            <a:off x="4986338" y="4381500"/>
            <a:ext cx="309562" cy="642938"/>
          </a:xfrm>
          <a:prstGeom prst="flowChartMagneticDisk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b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1312" name="TextBox 45"/>
          <p:cNvSpPr txBox="1">
            <a:spLocks noChangeArrowheads="1"/>
          </p:cNvSpPr>
          <p:nvPr/>
        </p:nvSpPr>
        <p:spPr bwMode="auto">
          <a:xfrm>
            <a:off x="4895850" y="4570413"/>
            <a:ext cx="4905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900" b="0">
                <a:latin typeface="Arial" pitchFamily="34" charset="0"/>
              </a:rPr>
              <a:t>SSD+</a:t>
            </a:r>
          </a:p>
          <a:p>
            <a:pPr algn="ctr"/>
            <a:r>
              <a:rPr lang="en-US" altLang="en-US" sz="900" b="0">
                <a:latin typeface="Arial" pitchFamily="34" charset="0"/>
              </a:rPr>
              <a:t>SATA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Course Requirements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 lIns="92160" tIns="46080" rIns="92160" bIns="46080"/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Prerequisites: none, but helpful are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>
                <a:solidFill>
                  <a:srgbClr val="FF0000"/>
                </a:solidFill>
              </a:rPr>
              <a:t>CSC 501 Graduate OS, CSC 548 Parallel Systems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>
                <a:solidFill>
                  <a:srgbClr val="FF0000"/>
                </a:solidFill>
              </a:rPr>
              <a:t>some architecture course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Good programming skills in C/C++, Python, Java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Linux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What to expect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Readings and a presentation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Several programming assignments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two exams</a:t>
            </a:r>
          </a:p>
          <a:p>
            <a:pPr lvl="1">
              <a:buFont typeface="Arial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Grading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 lIns="92160" tIns="46080" rIns="92160" bIns="46080"/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First test 20%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Second test 20%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Programming assignments 60%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dirty="0" smtClean="0"/>
              <a:t>On-line syllabus and policies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mtClean="0"/>
              <a:t>Today</a:t>
            </a:r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 lIns="92160" tIns="46080" rIns="92160" bIns="46080"/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smtClean="0"/>
              <a:t>What is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smtClean="0"/>
              <a:t>An embedded system?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smtClean="0"/>
              <a:t>A real-time system?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b="1" smtClean="0"/>
              <a:t>An automotive system?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(1) Embedded System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Definition:</a:t>
            </a:r>
          </a:p>
          <a:p>
            <a:pPr lvl="1"/>
            <a:r>
              <a:rPr lang="en-US" b="1" smtClean="0"/>
              <a:t>Programmable device:</a:t>
            </a:r>
          </a:p>
          <a:p>
            <a:pPr lvl="2"/>
            <a:r>
              <a:rPr lang="en-US" b="1" smtClean="0"/>
              <a:t>4-64 bit CPU, opt. digital signal processor (DSP), …</a:t>
            </a:r>
          </a:p>
          <a:p>
            <a:pPr lvl="1"/>
            <a:r>
              <a:rPr lang="en-US" b="1" smtClean="0"/>
              <a:t>Special purpose (not a general-purpose computer)</a:t>
            </a:r>
          </a:p>
          <a:p>
            <a:pPr lvl="1"/>
            <a:r>
              <a:rPr lang="en-US" b="1" smtClean="0"/>
              <a:t>Interacts with environment</a:t>
            </a:r>
          </a:p>
          <a:p>
            <a:pPr lvl="2"/>
            <a:r>
              <a:rPr lang="en-US" b="1" smtClean="0"/>
              <a:t>Sensors	</a:t>
            </a:r>
          </a:p>
          <a:p>
            <a:pPr lvl="2"/>
            <a:r>
              <a:rPr lang="en-US" b="1" smtClean="0"/>
              <a:t>Actuators (opt.)</a:t>
            </a:r>
          </a:p>
          <a:p>
            <a:r>
              <a:rPr lang="en-US" b="1" smtClean="0"/>
              <a:t>Examples:</a:t>
            </a:r>
          </a:p>
          <a:p>
            <a:pPr lvl="1"/>
            <a:r>
              <a:rPr lang="en-US" b="1" smtClean="0"/>
              <a:t>Printer/Xerox copier</a:t>
            </a:r>
          </a:p>
          <a:p>
            <a:pPr lvl="1"/>
            <a:r>
              <a:rPr lang="en-US" b="1" smtClean="0"/>
              <a:t>Cell phone</a:t>
            </a:r>
          </a:p>
          <a:p>
            <a:pPr lvl="1"/>
            <a:r>
              <a:rPr lang="en-US" b="1" smtClean="0"/>
              <a:t>Automotive control</a:t>
            </a:r>
          </a:p>
          <a:p>
            <a:pPr lvl="1"/>
            <a:r>
              <a:rPr lang="en-US" b="1" smtClean="0"/>
              <a:t>IoT</a:t>
            </a:r>
          </a:p>
          <a:p>
            <a:pPr lvl="1"/>
            <a:r>
              <a:rPr lang="en-US" b="1" smtClean="0"/>
              <a:t>…</a:t>
            </a:r>
          </a:p>
        </p:txBody>
      </p:sp>
      <p:sp>
        <p:nvSpPr>
          <p:cNvPr id="15364" name="Rectangle 19"/>
          <p:cNvSpPr>
            <a:spLocks noChangeArrowheads="1"/>
          </p:cNvSpPr>
          <p:nvPr/>
        </p:nvSpPr>
        <p:spPr bwMode="auto">
          <a:xfrm>
            <a:off x="4322763" y="3957638"/>
            <a:ext cx="4337050" cy="2595562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4635500" y="4862513"/>
            <a:ext cx="804863" cy="771525"/>
          </a:xfrm>
          <a:prstGeom prst="rect">
            <a:avLst/>
          </a:prstGeom>
          <a:solidFill>
            <a:srgbClr val="33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CPU</a:t>
            </a:r>
            <a:endParaRPr lang="en-US" sz="1800"/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6080125" y="5554663"/>
            <a:ext cx="579438" cy="857250"/>
          </a:xfrm>
          <a:prstGeom prst="rect">
            <a:avLst/>
          </a:prstGeom>
          <a:solidFill>
            <a:srgbClr val="FF00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mem</a:t>
            </a: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6076950" y="4814888"/>
            <a:ext cx="587375" cy="64928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1800"/>
              <a:t>input</a:t>
            </a: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6076950" y="4165600"/>
            <a:ext cx="587375" cy="563563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1800"/>
              <a:t>output</a:t>
            </a:r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>
            <a:off x="5761038" y="4252913"/>
            <a:ext cx="0" cy="2076450"/>
          </a:xfrm>
          <a:prstGeom prst="line">
            <a:avLst/>
          </a:prstGeom>
          <a:noFill/>
          <a:ln w="50800">
            <a:solidFill>
              <a:srgbClr val="FF0033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Line 9"/>
          <p:cNvSpPr>
            <a:spLocks noChangeShapeType="1"/>
          </p:cNvSpPr>
          <p:nvPr/>
        </p:nvSpPr>
        <p:spPr bwMode="auto">
          <a:xfrm>
            <a:off x="5445125" y="5248275"/>
            <a:ext cx="315913" cy="0"/>
          </a:xfrm>
          <a:prstGeom prst="line">
            <a:avLst/>
          </a:pr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Line 10"/>
          <p:cNvSpPr>
            <a:spLocks noChangeShapeType="1"/>
          </p:cNvSpPr>
          <p:nvPr/>
        </p:nvSpPr>
        <p:spPr bwMode="auto">
          <a:xfrm>
            <a:off x="5761038" y="4511675"/>
            <a:ext cx="315912" cy="0"/>
          </a:xfrm>
          <a:prstGeom prst="line">
            <a:avLst/>
          </a:pr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Line 11"/>
          <p:cNvSpPr>
            <a:spLocks noChangeShapeType="1"/>
          </p:cNvSpPr>
          <p:nvPr/>
        </p:nvSpPr>
        <p:spPr bwMode="auto">
          <a:xfrm>
            <a:off x="5761038" y="5160963"/>
            <a:ext cx="315912" cy="0"/>
          </a:xfrm>
          <a:prstGeom prst="line">
            <a:avLst/>
          </a:pr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Line 12"/>
          <p:cNvSpPr>
            <a:spLocks noChangeShapeType="1"/>
          </p:cNvSpPr>
          <p:nvPr/>
        </p:nvSpPr>
        <p:spPr bwMode="auto">
          <a:xfrm>
            <a:off x="5761038" y="5895975"/>
            <a:ext cx="315912" cy="0"/>
          </a:xfrm>
          <a:prstGeom prst="line">
            <a:avLst/>
          </a:pr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Rectangle 13"/>
          <p:cNvSpPr>
            <a:spLocks noChangeArrowheads="1"/>
          </p:cNvSpPr>
          <p:nvPr/>
        </p:nvSpPr>
        <p:spPr bwMode="auto">
          <a:xfrm>
            <a:off x="4548188" y="4130675"/>
            <a:ext cx="2424112" cy="2320925"/>
          </a:xfrm>
          <a:prstGeom prst="rect">
            <a:avLst/>
          </a:prstGeom>
          <a:noFill/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>
            <a:off x="6664325" y="4425950"/>
            <a:ext cx="76835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 flipH="1">
            <a:off x="6664325" y="5075238"/>
            <a:ext cx="76835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Rectangle 16"/>
          <p:cNvSpPr>
            <a:spLocks noChangeArrowheads="1"/>
          </p:cNvSpPr>
          <p:nvPr/>
        </p:nvSpPr>
        <p:spPr bwMode="auto">
          <a:xfrm>
            <a:off x="7435850" y="4298950"/>
            <a:ext cx="985838" cy="3825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analog</a:t>
            </a:r>
            <a:endParaRPr lang="en-US" sz="1800"/>
          </a:p>
        </p:txBody>
      </p:sp>
      <p:sp>
        <p:nvSpPr>
          <p:cNvPr id="15378" name="Rectangle 17"/>
          <p:cNvSpPr>
            <a:spLocks noChangeArrowheads="1"/>
          </p:cNvSpPr>
          <p:nvPr/>
        </p:nvSpPr>
        <p:spPr bwMode="auto">
          <a:xfrm>
            <a:off x="7435850" y="4905375"/>
            <a:ext cx="985838" cy="3825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analog</a:t>
            </a:r>
            <a:endParaRPr lang="en-US" sz="1800"/>
          </a:p>
        </p:txBody>
      </p:sp>
      <p:sp>
        <p:nvSpPr>
          <p:cNvPr id="15379" name="Text Box 18"/>
          <p:cNvSpPr txBox="1">
            <a:spLocks noChangeArrowheads="1"/>
          </p:cNvSpPr>
          <p:nvPr/>
        </p:nvSpPr>
        <p:spPr bwMode="auto">
          <a:xfrm>
            <a:off x="4584700" y="5670550"/>
            <a:ext cx="11969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embedded</a:t>
            </a:r>
          </a:p>
          <a:p>
            <a:r>
              <a:rPr lang="en-US" sz="1800"/>
              <a:t>computer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Networked Control System (NCS)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19100" y="1587500"/>
            <a:ext cx="8724900" cy="5067300"/>
          </a:xfrm>
        </p:spPr>
        <p:txBody>
          <a:bodyPr/>
          <a:lstStyle/>
          <a:p>
            <a:r>
              <a:rPr lang="en-US" smtClean="0"/>
              <a:t>Embedded + internal network</a:t>
            </a:r>
          </a:p>
          <a:p>
            <a:pPr lvl="1"/>
            <a:r>
              <a:rPr lang="en-US" smtClean="0"/>
              <a:t>Effectively a distributed system</a:t>
            </a:r>
          </a:p>
          <a:p>
            <a:r>
              <a:rPr lang="en-US" smtClean="0"/>
              <a:t>Controls physical environment</a:t>
            </a:r>
          </a:p>
          <a:p>
            <a:r>
              <a:rPr lang="en-US" smtClean="0"/>
              <a:t>Example: automotive subsystems (BMW 850i)</a:t>
            </a:r>
          </a:p>
          <a:p>
            <a:pPr lvl="1"/>
            <a:r>
              <a:rPr lang="en-US" smtClean="0"/>
              <a:t>Oldest: ABS</a:t>
            </a:r>
          </a:p>
          <a:p>
            <a:pPr lvl="1"/>
            <a:r>
              <a:rPr lang="en-US" smtClean="0"/>
              <a:t>Next: ESC / ASC</a:t>
            </a:r>
            <a:br>
              <a:rPr lang="en-US" smtClean="0"/>
            </a:br>
            <a:r>
              <a:rPr lang="en-US" smtClean="0"/>
              <a:t>(elect. stability control)/</a:t>
            </a:r>
            <a:br>
              <a:rPr lang="en-US" smtClean="0"/>
            </a:br>
            <a:r>
              <a:rPr lang="en-US" smtClean="0"/>
              <a:t>(automatic stab. ctrl.)</a:t>
            </a:r>
          </a:p>
          <a:p>
            <a:pPr lvl="1"/>
            <a:r>
              <a:rPr lang="en-US" smtClean="0"/>
              <a:t>Cannot easily compose </a:t>
            </a:r>
            <a:br>
              <a:rPr lang="en-US" smtClean="0"/>
            </a:br>
            <a:r>
              <a:rPr lang="en-US" smtClean="0">
                <a:sym typeface="Wingdings" pitchFamily="2" charset="2"/>
              </a:rPr>
              <a:t> interdependent</a:t>
            </a:r>
            <a:br>
              <a:rPr lang="en-US" smtClean="0">
                <a:sym typeface="Wingdings" pitchFamily="2" charset="2"/>
              </a:rPr>
            </a:br>
            <a:r>
              <a:rPr lang="en-US" smtClean="0">
                <a:sym typeface="Wingdings" pitchFamily="2" charset="2"/>
              </a:rPr>
              <a:t>(both physically in </a:t>
            </a:r>
            <a:br>
              <a:rPr lang="en-US" smtClean="0">
                <a:sym typeface="Wingdings" pitchFamily="2" charset="2"/>
              </a:rPr>
            </a:br>
            <a:r>
              <a:rPr lang="en-US" smtClean="0">
                <a:sym typeface="Wingdings" pitchFamily="2" charset="2"/>
              </a:rPr>
              <a:t>subsystems and logically)</a:t>
            </a:r>
          </a:p>
          <a:p>
            <a:pPr lvl="1"/>
            <a:r>
              <a:rPr lang="en-US" smtClean="0">
                <a:sym typeface="Wingdings" pitchFamily="2" charset="2"/>
              </a:rPr>
              <a:t>Need to communicate </a:t>
            </a:r>
            <a:br>
              <a:rPr lang="en-US" smtClean="0">
                <a:sym typeface="Wingdings" pitchFamily="2" charset="2"/>
              </a:rPr>
            </a:br>
            <a:r>
              <a:rPr lang="en-US" smtClean="0">
                <a:sym typeface="Wingdings" pitchFamily="2" charset="2"/>
              </a:rPr>
              <a:t>between them  meet real-time deadlines</a:t>
            </a:r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95775" y="3159125"/>
            <a:ext cx="4848225" cy="285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Cyber Physical System (CPS)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19100" y="1438275"/>
            <a:ext cx="8475663" cy="5067300"/>
          </a:xfrm>
        </p:spPr>
        <p:txBody>
          <a:bodyPr/>
          <a:lstStyle/>
          <a:p>
            <a:r>
              <a:rPr lang="en-US" smtClean="0"/>
              <a:t>Embedded control system(s)</a:t>
            </a:r>
          </a:p>
          <a:p>
            <a:pPr lvl="1"/>
            <a:r>
              <a:rPr lang="en-US" smtClean="0"/>
              <a:t>Subject to </a:t>
            </a:r>
            <a:r>
              <a:rPr lang="en-US" smtClean="0">
                <a:solidFill>
                  <a:srgbClr val="FF0000"/>
                </a:solidFill>
              </a:rPr>
              <a:t>safety</a:t>
            </a:r>
            <a:r>
              <a:rPr lang="en-US" smtClean="0"/>
              <a:t> concerns </a:t>
            </a:r>
            <a:r>
              <a:rPr lang="en-US" smtClean="0">
                <a:sym typeface="Wingdings" pitchFamily="2" charset="2"/>
              </a:rPr>
              <a:t> no harm of environment</a:t>
            </a:r>
            <a:endParaRPr lang="en-US" smtClean="0"/>
          </a:p>
          <a:p>
            <a:r>
              <a:rPr lang="en-US" smtClean="0">
                <a:solidFill>
                  <a:srgbClr val="FF0000"/>
                </a:solidFill>
              </a:rPr>
              <a:t>Externally networked </a:t>
            </a:r>
            <a:r>
              <a:rPr lang="en-US" smtClean="0"/>
              <a:t>(often over Internet, sometime intranet)</a:t>
            </a:r>
          </a:p>
          <a:p>
            <a:pPr lvl="1"/>
            <a:r>
              <a:rPr lang="en-US" smtClean="0"/>
              <a:t>Subject to network attacks (main difference to NCS)</a:t>
            </a:r>
          </a:p>
          <a:p>
            <a:pPr lvl="1"/>
            <a:r>
              <a:rPr lang="en-US" smtClean="0"/>
              <a:t>Need </a:t>
            </a:r>
            <a:r>
              <a:rPr lang="en-US" smtClean="0">
                <a:solidFill>
                  <a:srgbClr val="FF0000"/>
                </a:solidFill>
              </a:rPr>
              <a:t>cyber security</a:t>
            </a:r>
            <a:r>
              <a:rPr lang="en-US" smtClean="0"/>
              <a:t>: authentication, encryption, …</a:t>
            </a:r>
          </a:p>
          <a:p>
            <a:pPr lvl="2"/>
            <a:r>
              <a:rPr lang="en-US" smtClean="0"/>
              <a:t>integrity </a:t>
            </a:r>
            <a:r>
              <a:rPr lang="en-US" smtClean="0">
                <a:sym typeface="Wingdings" pitchFamily="2" charset="2"/>
              </a:rPr>
              <a:t> </a:t>
            </a:r>
            <a:r>
              <a:rPr lang="en-US" smtClean="0"/>
              <a:t> correctness of data values </a:t>
            </a:r>
          </a:p>
          <a:p>
            <a:pPr lvl="2"/>
            <a:r>
              <a:rPr lang="en-US" smtClean="0"/>
              <a:t>Privacy </a:t>
            </a:r>
            <a:r>
              <a:rPr lang="en-US" smtClean="0">
                <a:sym typeface="Wingdings" pitchFamily="2" charset="2"/>
              </a:rPr>
              <a:t> no leak of sensitive data</a:t>
            </a:r>
            <a:endParaRPr lang="en-US" smtClean="0"/>
          </a:p>
          <a:p>
            <a:r>
              <a:rPr lang="en-US" smtClean="0">
                <a:solidFill>
                  <a:srgbClr val="FF0000"/>
                </a:solidFill>
              </a:rPr>
              <a:t>Distributed system </a:t>
            </a:r>
            <a:r>
              <a:rPr lang="en-US" smtClean="0"/>
              <a:t>control between systems/subsystems</a:t>
            </a:r>
          </a:p>
          <a:p>
            <a:pPr lvl="1"/>
            <a:r>
              <a:rPr lang="en-US" smtClean="0"/>
              <a:t>Control difference to NCS blurry</a:t>
            </a:r>
          </a:p>
          <a:p>
            <a:pPr lvl="2"/>
            <a:r>
              <a:rPr lang="en-US" smtClean="0"/>
              <a:t>One take: NCS has single controller, CPS can have many</a:t>
            </a:r>
          </a:p>
          <a:p>
            <a:pPr lvl="1"/>
            <a:r>
              <a:rPr lang="en-US" smtClean="0"/>
              <a:t>Subsystems need not be physically connected</a:t>
            </a:r>
          </a:p>
          <a:p>
            <a:r>
              <a:rPr lang="en-US" smtClean="0"/>
              <a:t>Example: convoy driving w/ </a:t>
            </a:r>
            <a:br>
              <a:rPr lang="en-US" smtClean="0"/>
            </a:br>
            <a:r>
              <a:rPr lang="en-US" smtClean="0"/>
              <a:t>vehicle-to-vehicle (V2V) communication</a:t>
            </a:r>
          </a:p>
        </p:txBody>
      </p:sp>
      <p:pic>
        <p:nvPicPr>
          <p:cNvPr id="17412" name="Picture 3" descr="tmp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81663" y="5457825"/>
            <a:ext cx="3246437" cy="121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(2) Real-time System </a:t>
            </a:r>
            <a:r>
              <a:rPr lang="en-US" smtClean="0">
                <a:sym typeface="Wingdings" pitchFamily="2" charset="2"/>
              </a:rPr>
              <a:t></a:t>
            </a:r>
            <a:endParaRPr lang="en-US" smtClean="0"/>
          </a:p>
        </p:txBody>
      </p:sp>
      <p:sp>
        <p:nvSpPr>
          <p:cNvPr id="3635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06400" y="1495425"/>
            <a:ext cx="8302625" cy="4876800"/>
          </a:xfrm>
        </p:spPr>
        <p:txBody>
          <a:bodyPr/>
          <a:lstStyle/>
          <a:p>
            <a:r>
              <a:rPr lang="en-US" smtClean="0"/>
              <a:t>A </a:t>
            </a:r>
            <a:r>
              <a:rPr lang="en-US" b="1" smtClean="0">
                <a:solidFill>
                  <a:srgbClr val="CC0000"/>
                </a:solidFill>
              </a:rPr>
              <a:t>real-time system</a:t>
            </a:r>
            <a:r>
              <a:rPr lang="en-US" smtClean="0"/>
              <a:t> is a system whose specification includes both logical and </a:t>
            </a:r>
            <a:r>
              <a:rPr lang="en-US" b="1" i="1" smtClean="0"/>
              <a:t>temporal</a:t>
            </a:r>
            <a:r>
              <a:rPr lang="en-US" smtClean="0"/>
              <a:t> correctness requirements</a:t>
            </a:r>
          </a:p>
          <a:p>
            <a:pPr lvl="1"/>
            <a:r>
              <a:rPr lang="en-US" b="1" smtClean="0">
                <a:solidFill>
                  <a:srgbClr val="CC0000"/>
                </a:solidFill>
              </a:rPr>
              <a:t>Logical Correctness:</a:t>
            </a:r>
            <a:r>
              <a:rPr lang="en-US" smtClean="0"/>
              <a:t> Produces correct outputs</a:t>
            </a:r>
          </a:p>
          <a:p>
            <a:pPr lvl="2"/>
            <a:r>
              <a:rPr lang="en-US" smtClean="0">
                <a:solidFill>
                  <a:schemeClr val="tx2"/>
                </a:solidFill>
              </a:rPr>
              <a:t>Can by checked, for example, by Hoare logic</a:t>
            </a:r>
            <a:endParaRPr lang="en-US" smtClean="0"/>
          </a:p>
          <a:p>
            <a:pPr lvl="1"/>
            <a:r>
              <a:rPr lang="en-US" b="1" smtClean="0">
                <a:solidFill>
                  <a:srgbClr val="CC0000"/>
                </a:solidFill>
              </a:rPr>
              <a:t>Temporal Correctness:</a:t>
            </a:r>
            <a:r>
              <a:rPr lang="en-US" smtClean="0"/>
              <a:t> Produces outputs at the right time</a:t>
            </a:r>
          </a:p>
          <a:p>
            <a:pPr lvl="2"/>
            <a:r>
              <a:rPr lang="en-US" smtClean="0">
                <a:solidFill>
                  <a:schemeClr val="tx2"/>
                </a:solidFill>
              </a:rPr>
              <a:t>Design/verification methods covered in this class</a:t>
            </a:r>
          </a:p>
          <a:p>
            <a:pPr>
              <a:spcAft>
                <a:spcPct val="0"/>
              </a:spcAft>
            </a:pPr>
            <a:r>
              <a:rPr lang="en-US" smtClean="0"/>
              <a:t>Characteristics</a:t>
            </a:r>
          </a:p>
          <a:p>
            <a:pPr lvl="1">
              <a:spcAft>
                <a:spcPct val="0"/>
              </a:spcAft>
            </a:pPr>
            <a:r>
              <a:rPr lang="en-US" smtClean="0"/>
              <a:t>Event-driven, reactive</a:t>
            </a:r>
          </a:p>
          <a:p>
            <a:pPr lvl="1">
              <a:spcAft>
                <a:spcPct val="0"/>
              </a:spcAft>
            </a:pPr>
            <a:r>
              <a:rPr lang="en-US" smtClean="0"/>
              <a:t>High cost of failure</a:t>
            </a:r>
          </a:p>
          <a:p>
            <a:pPr lvl="1">
              <a:spcAft>
                <a:spcPct val="0"/>
              </a:spcAft>
            </a:pPr>
            <a:r>
              <a:rPr lang="en-US" smtClean="0"/>
              <a:t>Concurrency/multiprogramming</a:t>
            </a:r>
          </a:p>
          <a:p>
            <a:pPr lvl="1">
              <a:spcAft>
                <a:spcPct val="0"/>
              </a:spcAft>
            </a:pPr>
            <a:r>
              <a:rPr lang="en-US" smtClean="0"/>
              <a:t>Stand-alone/continuous operation</a:t>
            </a:r>
          </a:p>
          <a:p>
            <a:pPr lvl="1">
              <a:spcAft>
                <a:spcPct val="0"/>
              </a:spcAft>
            </a:pPr>
            <a:r>
              <a:rPr lang="en-US" smtClean="0"/>
              <a:t>Reliability/fault-tolerance requirements</a:t>
            </a:r>
          </a:p>
          <a:p>
            <a:pPr lvl="1">
              <a:spcAft>
                <a:spcPct val="0"/>
              </a:spcAft>
            </a:pPr>
            <a:r>
              <a:rPr lang="en-US" b="1" smtClean="0">
                <a:solidFill>
                  <a:srgbClr val="CC0000"/>
                </a:solidFill>
              </a:rPr>
              <a:t>Predictable behavior </a:t>
            </a:r>
            <a:r>
              <a:rPr lang="en-US" b="1" smtClean="0">
                <a:solidFill>
                  <a:srgbClr val="CC0000"/>
                </a:solidFill>
                <a:sym typeface="Wingdings" pitchFamily="2" charset="2"/>
              </a:rPr>
              <a:t> meet deadline</a:t>
            </a:r>
          </a:p>
          <a:p>
            <a:pPr lvl="2">
              <a:spcAft>
                <a:spcPct val="0"/>
              </a:spcAft>
            </a:pPr>
            <a:r>
              <a:rPr lang="en-US" b="1" smtClean="0">
                <a:sym typeface="Wingdings" pitchFamily="2" charset="2"/>
              </a:rPr>
              <a:t>Need not be high performance, just “fast enough”</a:t>
            </a:r>
            <a:endParaRPr lang="en-US" b="1" smtClean="0"/>
          </a:p>
          <a:p>
            <a:endParaRPr lang="en-US" smtClean="0">
              <a:solidFill>
                <a:schemeClr val="tx2"/>
              </a:solidFill>
            </a:endParaRPr>
          </a:p>
          <a:p>
            <a:pPr lvl="2">
              <a:buFontTx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build="p" bldLvl="2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8" y="304800"/>
            <a:ext cx="8736012" cy="914400"/>
          </a:xfrm>
        </p:spPr>
        <p:txBody>
          <a:bodyPr/>
          <a:lstStyle/>
          <a:p>
            <a:r>
              <a:rPr lang="en-US" smtClean="0"/>
              <a:t>Sample Real-Time Applications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96863" y="1363663"/>
            <a:ext cx="7856537" cy="11874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Many real-time systems are </a:t>
            </a:r>
            <a:r>
              <a:rPr lang="en-US">
                <a:solidFill>
                  <a:srgbClr val="CC0000"/>
                </a:solidFill>
              </a:rPr>
              <a:t>control systems</a:t>
            </a:r>
            <a:r>
              <a:rPr lang="en-US" b="0"/>
              <a:t>.</a:t>
            </a:r>
          </a:p>
          <a:p>
            <a:pPr eaLnBrk="0" hangingPunct="0"/>
            <a:endParaRPr lang="en-US" b="0"/>
          </a:p>
          <a:p>
            <a:pPr eaLnBrk="0" hangingPunct="0"/>
            <a:r>
              <a:rPr lang="en-US">
                <a:solidFill>
                  <a:srgbClr val="CC0000"/>
                </a:solidFill>
              </a:rPr>
              <a:t>Example 1:</a:t>
            </a:r>
            <a:r>
              <a:rPr lang="en-US" b="0"/>
              <a:t> A simple one-sensor, one-actuator control system.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522788" y="3452813"/>
            <a:ext cx="1733550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control-law</a:t>
            </a:r>
          </a:p>
          <a:p>
            <a:pPr eaLnBrk="0" hangingPunct="0"/>
            <a:r>
              <a:rPr lang="en-US" b="0"/>
              <a:t>computation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3209925" y="3324225"/>
            <a:ext cx="738188" cy="4857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A/D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3217863" y="3922713"/>
            <a:ext cx="738187" cy="4857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A/D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6832600" y="3627438"/>
            <a:ext cx="738188" cy="4857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D/A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3036888" y="5184775"/>
            <a:ext cx="992187" cy="4857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sensor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4826000" y="5199063"/>
            <a:ext cx="820738" cy="4857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plant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6630988" y="5184775"/>
            <a:ext cx="1192212" cy="48577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actuator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3937000" y="3563938"/>
            <a:ext cx="5635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Line 12"/>
          <p:cNvSpPr>
            <a:spLocks noChangeShapeType="1"/>
          </p:cNvSpPr>
          <p:nvPr/>
        </p:nvSpPr>
        <p:spPr bwMode="auto">
          <a:xfrm>
            <a:off x="3946525" y="4173538"/>
            <a:ext cx="5635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1839913" y="3559175"/>
            <a:ext cx="1355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>
            <a:off x="6261100" y="3859213"/>
            <a:ext cx="5635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3533775" y="4413250"/>
            <a:ext cx="0" cy="765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flipV="1">
            <a:off x="7229475" y="4105275"/>
            <a:ext cx="0" cy="1068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 flipH="1">
            <a:off x="5654675" y="5424488"/>
            <a:ext cx="981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 flipH="1">
            <a:off x="4024313" y="5438775"/>
            <a:ext cx="8080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4003675" y="3106738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r</a:t>
            </a:r>
            <a:r>
              <a:rPr lang="en-US" b="0" baseline="-25000"/>
              <a:t>k</a:t>
            </a:r>
            <a:endParaRPr lang="en-US" b="0"/>
          </a:p>
        </p:txBody>
      </p:sp>
      <p:sp>
        <p:nvSpPr>
          <p:cNvPr id="19476" name="Text Box 20"/>
          <p:cNvSpPr txBox="1">
            <a:spLocks noChangeArrowheads="1"/>
          </p:cNvSpPr>
          <p:nvPr/>
        </p:nvSpPr>
        <p:spPr bwMode="auto">
          <a:xfrm>
            <a:off x="4019550" y="3698875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y</a:t>
            </a:r>
            <a:r>
              <a:rPr lang="en-US" b="0" baseline="-25000"/>
              <a:t>k</a:t>
            </a:r>
            <a:endParaRPr lang="en-US" b="0"/>
          </a:p>
        </p:txBody>
      </p: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2951163" y="4694238"/>
            <a:ext cx="6238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y(t)</a:t>
            </a:r>
          </a:p>
        </p:txBody>
      </p:sp>
      <p:sp>
        <p:nvSpPr>
          <p:cNvPr id="19478" name="Text Box 22"/>
          <p:cNvSpPr txBox="1">
            <a:spLocks noChangeArrowheads="1"/>
          </p:cNvSpPr>
          <p:nvPr/>
        </p:nvSpPr>
        <p:spPr bwMode="auto">
          <a:xfrm>
            <a:off x="7261225" y="4703763"/>
            <a:ext cx="6238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u(t)</a:t>
            </a:r>
          </a:p>
        </p:txBody>
      </p:sp>
      <p:sp>
        <p:nvSpPr>
          <p:cNvPr id="19479" name="Text Box 23"/>
          <p:cNvSpPr txBox="1">
            <a:spLocks noChangeArrowheads="1"/>
          </p:cNvSpPr>
          <p:nvPr/>
        </p:nvSpPr>
        <p:spPr bwMode="auto">
          <a:xfrm>
            <a:off x="6299200" y="3424238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u</a:t>
            </a:r>
            <a:r>
              <a:rPr lang="en-US" b="0" baseline="-25000"/>
              <a:t>k</a:t>
            </a:r>
            <a:endParaRPr lang="en-US" b="0"/>
          </a:p>
        </p:txBody>
      </p:sp>
      <p:sp>
        <p:nvSpPr>
          <p:cNvPr id="19480" name="Text Box 24"/>
          <p:cNvSpPr txBox="1">
            <a:spLocks noChangeArrowheads="1"/>
          </p:cNvSpPr>
          <p:nvPr/>
        </p:nvSpPr>
        <p:spPr bwMode="auto">
          <a:xfrm>
            <a:off x="542925" y="3178175"/>
            <a:ext cx="1316038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reference</a:t>
            </a:r>
          </a:p>
          <a:p>
            <a:pPr eaLnBrk="0" hangingPunct="0"/>
            <a:r>
              <a:rPr lang="en-US" b="0"/>
              <a:t>input r(t)</a:t>
            </a:r>
          </a:p>
        </p:txBody>
      </p:sp>
      <p:sp>
        <p:nvSpPr>
          <p:cNvPr id="19481" name="Rectangle 25"/>
          <p:cNvSpPr>
            <a:spLocks noChangeArrowheads="1"/>
          </p:cNvSpPr>
          <p:nvPr/>
        </p:nvSpPr>
        <p:spPr bwMode="auto">
          <a:xfrm>
            <a:off x="2682875" y="3086100"/>
            <a:ext cx="5295900" cy="1616075"/>
          </a:xfrm>
          <a:prstGeom prst="rect">
            <a:avLst/>
          </a:prstGeom>
          <a:noFill/>
          <a:ln w="28575">
            <a:solidFill>
              <a:srgbClr val="CC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2" name="Text Box 26"/>
          <p:cNvSpPr txBox="1">
            <a:spLocks noChangeArrowheads="1"/>
          </p:cNvSpPr>
          <p:nvPr/>
        </p:nvSpPr>
        <p:spPr bwMode="auto">
          <a:xfrm>
            <a:off x="5751513" y="5902325"/>
            <a:ext cx="183832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0">
                <a:solidFill>
                  <a:srgbClr val="CC0000"/>
                </a:solidFill>
              </a:rPr>
              <a:t>The system</a:t>
            </a:r>
          </a:p>
          <a:p>
            <a:pPr eaLnBrk="0" hangingPunct="0"/>
            <a:r>
              <a:rPr lang="en-US" sz="2000" b="0">
                <a:solidFill>
                  <a:srgbClr val="CC0000"/>
                </a:solidFill>
              </a:rPr>
              <a:t>being controlled</a:t>
            </a:r>
            <a:endParaRPr lang="en-US" sz="2000" b="0"/>
          </a:p>
        </p:txBody>
      </p:sp>
      <p:sp>
        <p:nvSpPr>
          <p:cNvPr id="19483" name="Freeform 27"/>
          <p:cNvSpPr>
            <a:spLocks/>
          </p:cNvSpPr>
          <p:nvPr/>
        </p:nvSpPr>
        <p:spPr bwMode="auto">
          <a:xfrm>
            <a:off x="5194300" y="5700713"/>
            <a:ext cx="592138" cy="592137"/>
          </a:xfrm>
          <a:custGeom>
            <a:avLst/>
            <a:gdLst>
              <a:gd name="T0" fmla="*/ 2147483647 w 373"/>
              <a:gd name="T1" fmla="*/ 2147483647 h 373"/>
              <a:gd name="T2" fmla="*/ 2147483647 w 373"/>
              <a:gd name="T3" fmla="*/ 2147483647 h 373"/>
              <a:gd name="T4" fmla="*/ 0 w 373"/>
              <a:gd name="T5" fmla="*/ 0 h 373"/>
              <a:gd name="T6" fmla="*/ 0 60000 65536"/>
              <a:gd name="T7" fmla="*/ 0 60000 65536"/>
              <a:gd name="T8" fmla="*/ 0 60000 65536"/>
              <a:gd name="T9" fmla="*/ 0 w 373"/>
              <a:gd name="T10" fmla="*/ 0 h 373"/>
              <a:gd name="T11" fmla="*/ 373 w 373"/>
              <a:gd name="T12" fmla="*/ 373 h 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3" h="373">
                <a:moveTo>
                  <a:pt x="373" y="373"/>
                </a:moveTo>
                <a:cubicBezTo>
                  <a:pt x="267" y="372"/>
                  <a:pt x="162" y="371"/>
                  <a:pt x="100" y="309"/>
                </a:cubicBezTo>
                <a:cubicBezTo>
                  <a:pt x="38" y="247"/>
                  <a:pt x="19" y="123"/>
                  <a:pt x="0" y="0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Control System (Continued)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528638" y="1465263"/>
            <a:ext cx="388461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rgbClr val="CC0000"/>
                </a:solidFill>
              </a:rPr>
              <a:t>Pseudo-code for this system:</a:t>
            </a:r>
          </a:p>
        </p:txBody>
      </p:sp>
      <p:sp>
        <p:nvSpPr>
          <p:cNvPr id="357380" name="Text Box 4"/>
          <p:cNvSpPr txBox="1">
            <a:spLocks noChangeArrowheads="1"/>
          </p:cNvSpPr>
          <p:nvPr/>
        </p:nvSpPr>
        <p:spPr bwMode="auto">
          <a:xfrm>
            <a:off x="1624013" y="2200275"/>
            <a:ext cx="6162675" cy="229552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0" hangingPunct="0">
              <a:tabLst>
                <a:tab pos="461963" algn="l"/>
                <a:tab pos="909638" algn="l"/>
              </a:tabLst>
              <a:defRPr/>
            </a:pPr>
            <a:r>
              <a:rPr lang="en-US" b="0">
                <a:cs typeface="+mn-cs"/>
              </a:rPr>
              <a:t>set timer to interrupt periodically with period </a:t>
            </a:r>
            <a:r>
              <a:rPr lang="en-US" b="0" i="1">
                <a:cs typeface="+mn-cs"/>
              </a:rPr>
              <a:t>T</a:t>
            </a:r>
            <a:r>
              <a:rPr lang="en-US" b="0">
                <a:cs typeface="+mn-cs"/>
              </a:rPr>
              <a:t>;</a:t>
            </a:r>
          </a:p>
          <a:p>
            <a:pPr eaLnBrk="0" hangingPunct="0">
              <a:tabLst>
                <a:tab pos="461963" algn="l"/>
                <a:tab pos="909638" algn="l"/>
              </a:tabLst>
              <a:defRPr/>
            </a:pPr>
            <a:r>
              <a:rPr lang="en-US" b="0">
                <a:cs typeface="+mn-cs"/>
              </a:rPr>
              <a:t>at each timer interrupt </a:t>
            </a:r>
            <a:r>
              <a:rPr lang="en-US">
                <a:cs typeface="+mn-cs"/>
              </a:rPr>
              <a:t>do</a:t>
            </a:r>
            <a:endParaRPr lang="en-US" b="0">
              <a:cs typeface="+mn-cs"/>
            </a:endParaRPr>
          </a:p>
          <a:p>
            <a:pPr eaLnBrk="0" hangingPunct="0">
              <a:tabLst>
                <a:tab pos="461963" algn="l"/>
                <a:tab pos="909638" algn="l"/>
              </a:tabLst>
              <a:defRPr/>
            </a:pPr>
            <a:r>
              <a:rPr lang="en-US" b="0">
                <a:cs typeface="+mn-cs"/>
              </a:rPr>
              <a:t>	do analog-to-digital conversion to get </a:t>
            </a:r>
            <a:r>
              <a:rPr lang="en-US" b="0" i="1">
                <a:cs typeface="+mn-cs"/>
              </a:rPr>
              <a:t>y</a:t>
            </a:r>
            <a:r>
              <a:rPr lang="en-US" b="0">
                <a:cs typeface="+mn-cs"/>
              </a:rPr>
              <a:t>;</a:t>
            </a:r>
          </a:p>
          <a:p>
            <a:pPr eaLnBrk="0" hangingPunct="0">
              <a:tabLst>
                <a:tab pos="461963" algn="l"/>
                <a:tab pos="909638" algn="l"/>
              </a:tabLst>
              <a:defRPr/>
            </a:pPr>
            <a:r>
              <a:rPr lang="en-US" b="0">
                <a:cs typeface="+mn-cs"/>
              </a:rPr>
              <a:t>	compute control output </a:t>
            </a:r>
            <a:r>
              <a:rPr lang="en-US" b="0" i="1">
                <a:cs typeface="+mn-cs"/>
              </a:rPr>
              <a:t>u</a:t>
            </a:r>
            <a:r>
              <a:rPr lang="en-US" b="0">
                <a:cs typeface="+mn-cs"/>
              </a:rPr>
              <a:t>;</a:t>
            </a:r>
          </a:p>
          <a:p>
            <a:pPr eaLnBrk="0" hangingPunct="0">
              <a:tabLst>
                <a:tab pos="461963" algn="l"/>
                <a:tab pos="909638" algn="l"/>
              </a:tabLst>
              <a:defRPr/>
            </a:pPr>
            <a:r>
              <a:rPr lang="en-US" b="0">
                <a:cs typeface="+mn-cs"/>
              </a:rPr>
              <a:t>	output </a:t>
            </a:r>
            <a:r>
              <a:rPr lang="en-US" b="0" i="1">
                <a:cs typeface="+mn-cs"/>
              </a:rPr>
              <a:t>u</a:t>
            </a:r>
            <a:r>
              <a:rPr lang="en-US" b="0">
                <a:cs typeface="+mn-cs"/>
              </a:rPr>
              <a:t> and do digital-to-analog conversion;</a:t>
            </a:r>
          </a:p>
          <a:p>
            <a:pPr eaLnBrk="0" hangingPunct="0">
              <a:tabLst>
                <a:tab pos="461963" algn="l"/>
                <a:tab pos="909638" algn="l"/>
              </a:tabLst>
              <a:defRPr/>
            </a:pPr>
            <a:r>
              <a:rPr lang="en-US">
                <a:cs typeface="+mn-cs"/>
              </a:rPr>
              <a:t>od</a:t>
            </a:r>
            <a:endParaRPr lang="en-US" b="0">
              <a:cs typeface="+mn-cs"/>
            </a:endParaRP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514350" y="5129213"/>
            <a:ext cx="8402638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T is called the </a:t>
            </a:r>
            <a:r>
              <a:rPr lang="en-US">
                <a:solidFill>
                  <a:srgbClr val="CC0000"/>
                </a:solidFill>
              </a:rPr>
              <a:t>sampling period</a:t>
            </a:r>
            <a:r>
              <a:rPr lang="en-US" b="0"/>
              <a:t>.  T is a key design choice.  Typical</a:t>
            </a:r>
          </a:p>
          <a:p>
            <a:pPr eaLnBrk="0" hangingPunct="0"/>
            <a:r>
              <a:rPr lang="en-US" b="0"/>
              <a:t>range for T: seconds to milliseconds.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6" name="Rectangle 6"/>
          <p:cNvSpPr>
            <a:spLocks noChangeArrowheads="1"/>
          </p:cNvSpPr>
          <p:nvPr/>
        </p:nvSpPr>
        <p:spPr bwMode="auto">
          <a:xfrm>
            <a:off x="128588" y="2298700"/>
            <a:ext cx="8831262" cy="35941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Multi-rate Control Systems</a:t>
            </a: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231775" y="1516063"/>
            <a:ext cx="8588375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b="0"/>
              <a:t>More complicated control systems have multiple sensors and actuators and must support control loops of different rates. </a:t>
            </a:r>
            <a:r>
              <a:rPr lang="en-US" sz="2000">
                <a:solidFill>
                  <a:srgbClr val="CC0000"/>
                </a:solidFill>
              </a:rPr>
              <a:t>Example 2:</a:t>
            </a:r>
            <a:r>
              <a:rPr lang="en-US" sz="2000" b="0"/>
              <a:t> Helicopter flight controller.</a:t>
            </a:r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125413" y="2324100"/>
            <a:ext cx="4900612" cy="3524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Do the following in each 1/180-sec. cycle: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validate sensor data and select data source;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if failure, reconfigure the system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endParaRPr lang="en-US" sz="900"/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Every sixth cycle do: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	keyboard input and mode selection;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	data normalization and coordinate 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	  transformation;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	tracking reference update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	control laws of the outer pitch-control loop;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	control laws of the outer roll-control loop;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	control laws of the outer yaw- and </a:t>
            </a:r>
          </a:p>
          <a:p>
            <a:pPr eaLnBrk="0" hangingPunct="0">
              <a:tabLst>
                <a:tab pos="230188" algn="l"/>
                <a:tab pos="461963" algn="l"/>
              </a:tabLst>
            </a:pPr>
            <a:r>
              <a:rPr lang="en-US" sz="1800"/>
              <a:t>		  collective-control loop</a:t>
            </a:r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5106988" y="2305050"/>
            <a:ext cx="3879850" cy="3384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tabLst>
                <a:tab pos="230188" algn="l"/>
              </a:tabLst>
            </a:pPr>
            <a:r>
              <a:rPr lang="en-US" sz="1800"/>
              <a:t>Every other cycle do:</a:t>
            </a:r>
          </a:p>
          <a:p>
            <a:pPr eaLnBrk="0" hangingPunct="0">
              <a:tabLst>
                <a:tab pos="230188" algn="l"/>
              </a:tabLst>
            </a:pPr>
            <a:r>
              <a:rPr lang="en-US" sz="1800"/>
              <a:t>	control laws of the inner </a:t>
            </a:r>
          </a:p>
          <a:p>
            <a:pPr eaLnBrk="0" hangingPunct="0">
              <a:tabLst>
                <a:tab pos="230188" algn="l"/>
              </a:tabLst>
            </a:pPr>
            <a:r>
              <a:rPr lang="en-US" sz="1800"/>
              <a:t>	  pitch-control loop;</a:t>
            </a:r>
          </a:p>
          <a:p>
            <a:pPr eaLnBrk="0" hangingPunct="0">
              <a:tabLst>
                <a:tab pos="230188" algn="l"/>
              </a:tabLst>
            </a:pPr>
            <a:r>
              <a:rPr lang="en-US" sz="1800"/>
              <a:t>	control laws of the inner roll- and</a:t>
            </a:r>
          </a:p>
          <a:p>
            <a:pPr eaLnBrk="0" hangingPunct="0">
              <a:tabLst>
                <a:tab pos="230188" algn="l"/>
              </a:tabLst>
            </a:pPr>
            <a:r>
              <a:rPr lang="en-US" sz="1800"/>
              <a:t>	  collective-control loop</a:t>
            </a:r>
          </a:p>
          <a:p>
            <a:pPr eaLnBrk="0" hangingPunct="0">
              <a:tabLst>
                <a:tab pos="230188" algn="l"/>
              </a:tabLst>
            </a:pPr>
            <a:endParaRPr lang="en-US" sz="900"/>
          </a:p>
          <a:p>
            <a:pPr eaLnBrk="0" hangingPunct="0">
              <a:tabLst>
                <a:tab pos="230188" algn="l"/>
              </a:tabLst>
            </a:pPr>
            <a:r>
              <a:rPr lang="en-US" sz="1800"/>
              <a:t>Compute the control laws of the inner</a:t>
            </a:r>
          </a:p>
          <a:p>
            <a:pPr eaLnBrk="0" hangingPunct="0">
              <a:tabLst>
                <a:tab pos="230188" algn="l"/>
              </a:tabLst>
            </a:pPr>
            <a:r>
              <a:rPr lang="en-US" sz="1800"/>
              <a:t>  yaw-control loop;</a:t>
            </a:r>
          </a:p>
          <a:p>
            <a:pPr eaLnBrk="0" hangingPunct="0">
              <a:tabLst>
                <a:tab pos="230188" algn="l"/>
              </a:tabLst>
            </a:pPr>
            <a:endParaRPr lang="en-US" sz="900"/>
          </a:p>
          <a:p>
            <a:pPr eaLnBrk="0" hangingPunct="0">
              <a:tabLst>
                <a:tab pos="230188" algn="l"/>
              </a:tabLst>
            </a:pPr>
            <a:r>
              <a:rPr lang="en-US" sz="1800"/>
              <a:t>Output commands;</a:t>
            </a:r>
          </a:p>
          <a:p>
            <a:pPr eaLnBrk="0" hangingPunct="0">
              <a:tabLst>
                <a:tab pos="230188" algn="l"/>
              </a:tabLst>
            </a:pPr>
            <a:endParaRPr lang="en-US" sz="900"/>
          </a:p>
          <a:p>
            <a:pPr eaLnBrk="0" hangingPunct="0">
              <a:tabLst>
                <a:tab pos="230188" algn="l"/>
              </a:tabLst>
            </a:pPr>
            <a:r>
              <a:rPr lang="en-US" sz="1800"/>
              <a:t>Carry out built-in test;</a:t>
            </a:r>
          </a:p>
          <a:p>
            <a:pPr eaLnBrk="0" hangingPunct="0">
              <a:tabLst>
                <a:tab pos="230188" algn="l"/>
              </a:tabLst>
            </a:pPr>
            <a:endParaRPr lang="en-US" sz="900"/>
          </a:p>
          <a:p>
            <a:pPr eaLnBrk="0" hangingPunct="0">
              <a:tabLst>
                <a:tab pos="230188" algn="l"/>
              </a:tabLst>
            </a:pPr>
            <a:r>
              <a:rPr lang="en-US" sz="1800"/>
              <a:t>Wait until beginning of the next cycle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508000" y="5924550"/>
            <a:ext cx="71882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rgbClr val="CC0000"/>
                </a:solidFill>
              </a:rPr>
              <a:t>Note:</a:t>
            </a:r>
            <a:r>
              <a:rPr lang="en-US" b="0"/>
              <a:t> Having only </a:t>
            </a:r>
            <a:r>
              <a:rPr lang="en-US">
                <a:solidFill>
                  <a:schemeClr val="tx2"/>
                </a:solidFill>
              </a:rPr>
              <a:t>harmonic</a:t>
            </a:r>
            <a:r>
              <a:rPr lang="en-US" b="0"/>
              <a:t> rates simplifies the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 </a:t>
            </a:r>
          </a:p>
        </p:txBody>
      </p:sp>
      <p:pic>
        <p:nvPicPr>
          <p:cNvPr id="22531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1800" y="346075"/>
            <a:ext cx="8280400" cy="616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36563" y="319088"/>
            <a:ext cx="8707437" cy="914400"/>
          </a:xfrm>
        </p:spPr>
        <p:txBody>
          <a:bodyPr/>
          <a:lstStyle/>
          <a:p>
            <a:r>
              <a:rPr lang="en-US" smtClean="0"/>
              <a:t>Real Time Terminology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52563"/>
            <a:ext cx="8709025" cy="4876800"/>
          </a:xfrm>
        </p:spPr>
        <p:txBody>
          <a:bodyPr/>
          <a:lstStyle/>
          <a:p>
            <a:pPr lvl="1">
              <a:defRPr/>
            </a:pPr>
            <a:r>
              <a:rPr lang="en-US" b="1" dirty="0" smtClean="0">
                <a:solidFill>
                  <a:srgbClr val="CC0000"/>
                </a:solidFill>
              </a:rPr>
              <a:t>Task:</a:t>
            </a:r>
            <a:r>
              <a:rPr lang="en-US" dirty="0" smtClean="0"/>
              <a:t> A sequential piece of code.</a:t>
            </a:r>
          </a:p>
          <a:p>
            <a:pPr lvl="1">
              <a:defRPr/>
            </a:pPr>
            <a:r>
              <a:rPr lang="en-US" b="1" dirty="0" smtClean="0">
                <a:solidFill>
                  <a:srgbClr val="CC0000"/>
                </a:solidFill>
              </a:rPr>
              <a:t>Job:</a:t>
            </a:r>
            <a:r>
              <a:rPr lang="en-US" dirty="0" smtClean="0"/>
              <a:t> Instance of a task.</a:t>
            </a:r>
          </a:p>
          <a:p>
            <a:pPr lvl="1">
              <a:defRPr/>
            </a:pPr>
            <a:r>
              <a:rPr lang="en-US" dirty="0" smtClean="0"/>
              <a:t>Jobs require </a:t>
            </a:r>
            <a:r>
              <a:rPr lang="en-US" b="1" dirty="0" smtClean="0">
                <a:solidFill>
                  <a:srgbClr val="CC0000"/>
                </a:solidFill>
              </a:rPr>
              <a:t>resources</a:t>
            </a:r>
            <a:r>
              <a:rPr lang="en-US" dirty="0" smtClean="0"/>
              <a:t> to execute.</a:t>
            </a:r>
          </a:p>
          <a:p>
            <a:pPr lvl="3">
              <a:defRPr/>
            </a:pPr>
            <a:r>
              <a:rPr lang="en-US" b="1" dirty="0" smtClean="0">
                <a:solidFill>
                  <a:schemeClr val="tx2"/>
                </a:solidFill>
                <a:latin typeface="+mn-lt"/>
              </a:rPr>
              <a:t>Example resources:</a:t>
            </a:r>
            <a:r>
              <a:rPr lang="en-US" dirty="0" smtClean="0">
                <a:latin typeface="+mn-lt"/>
              </a:rPr>
              <a:t> CPU, network, disk, critical section.</a:t>
            </a:r>
          </a:p>
          <a:p>
            <a:pPr lvl="3">
              <a:defRPr/>
            </a:pPr>
            <a:r>
              <a:rPr lang="en-US" dirty="0" smtClean="0">
                <a:latin typeface="+mn-lt"/>
              </a:rPr>
              <a:t>We will simply call all hardware resources </a:t>
            </a:r>
            <a:r>
              <a:rPr lang="en-US" dirty="0" smtClean="0">
                <a:solidFill>
                  <a:schemeClr val="tx2"/>
                </a:solidFill>
                <a:latin typeface="+mn-lt"/>
              </a:rPr>
              <a:t>“processors”</a:t>
            </a:r>
            <a:r>
              <a:rPr lang="en-US" dirty="0" smtClean="0">
                <a:latin typeface="+mn-lt"/>
              </a:rPr>
              <a:t>.</a:t>
            </a:r>
          </a:p>
          <a:p>
            <a:pPr lvl="1">
              <a:defRPr/>
            </a:pPr>
            <a:r>
              <a:rPr lang="en-US" b="1" dirty="0" smtClean="0">
                <a:solidFill>
                  <a:srgbClr val="CC0000"/>
                </a:solidFill>
              </a:rPr>
              <a:t>Release time of a job:</a:t>
            </a:r>
            <a:r>
              <a:rPr lang="en-US" dirty="0" smtClean="0"/>
              <a:t> The time instant the job becomes ready to execute.</a:t>
            </a:r>
          </a:p>
          <a:p>
            <a:pPr lvl="1">
              <a:defRPr/>
            </a:pPr>
            <a:r>
              <a:rPr lang="en-US" b="1" dirty="0" smtClean="0">
                <a:solidFill>
                  <a:srgbClr val="CC0000"/>
                </a:solidFill>
              </a:rPr>
              <a:t>Deadline of a job:</a:t>
            </a:r>
            <a:r>
              <a:rPr lang="en-US" dirty="0" smtClean="0"/>
              <a:t> The time instant by which the job must complete execution.</a:t>
            </a:r>
          </a:p>
          <a:p>
            <a:pPr lvl="1">
              <a:defRPr/>
            </a:pPr>
            <a:r>
              <a:rPr lang="en-US" b="1" dirty="0" smtClean="0">
                <a:solidFill>
                  <a:srgbClr val="CC0000"/>
                </a:solidFill>
              </a:rPr>
              <a:t>Relative deadline of a job:</a:t>
            </a:r>
            <a:r>
              <a:rPr lang="en-US" dirty="0" smtClean="0"/>
              <a:t> “Deadline </a:t>
            </a:r>
            <a:r>
              <a:rPr lang="en-US" dirty="0" smtClean="0">
                <a:sym typeface="Symbol" pitchFamily="18" charset="2"/>
              </a:rPr>
              <a:t></a:t>
            </a:r>
            <a:r>
              <a:rPr lang="en-US" dirty="0" smtClean="0"/>
              <a:t> Release time”.</a:t>
            </a:r>
          </a:p>
          <a:p>
            <a:pPr lvl="1">
              <a:defRPr/>
            </a:pPr>
            <a:r>
              <a:rPr lang="en-US" b="1" dirty="0" smtClean="0">
                <a:solidFill>
                  <a:srgbClr val="CC0000"/>
                </a:solidFill>
              </a:rPr>
              <a:t>Response time of a job:</a:t>
            </a:r>
            <a:r>
              <a:rPr lang="en-US" dirty="0" smtClean="0"/>
              <a:t> “Completion time </a:t>
            </a:r>
            <a:r>
              <a:rPr lang="en-US" dirty="0" smtClean="0">
                <a:sym typeface="Symbol" pitchFamily="18" charset="2"/>
              </a:rPr>
              <a:t></a:t>
            </a:r>
            <a:r>
              <a:rPr lang="en-US" dirty="0" smtClean="0"/>
              <a:t> Release time”.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build="p" bldLvl="2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24579" name="Line 3"/>
          <p:cNvSpPr>
            <a:spLocks noChangeShapeType="1"/>
          </p:cNvSpPr>
          <p:nvPr/>
        </p:nvSpPr>
        <p:spPr bwMode="auto">
          <a:xfrm>
            <a:off x="1182688" y="1962150"/>
            <a:ext cx="7273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>
            <a:off x="15001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19383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>
            <a:off x="23764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>
            <a:off x="28146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>
            <a:off x="3252788" y="19716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36909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412908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45672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50053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>
            <a:off x="54435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588168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63198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67579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>
            <a:off x="71961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76342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807243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2036" name="Line 20"/>
          <p:cNvSpPr>
            <a:spLocks noChangeShapeType="1"/>
          </p:cNvSpPr>
          <p:nvPr/>
        </p:nvSpPr>
        <p:spPr bwMode="auto">
          <a:xfrm flipV="1">
            <a:off x="2814638" y="15144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Line 21"/>
          <p:cNvSpPr>
            <a:spLocks noChangeShapeType="1"/>
          </p:cNvSpPr>
          <p:nvPr/>
        </p:nvSpPr>
        <p:spPr bwMode="auto">
          <a:xfrm flipV="1">
            <a:off x="3529013" y="27336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2038" name="Line 22"/>
          <p:cNvSpPr>
            <a:spLocks noChangeShapeType="1"/>
          </p:cNvSpPr>
          <p:nvPr/>
        </p:nvSpPr>
        <p:spPr bwMode="auto">
          <a:xfrm flipV="1">
            <a:off x="5881688" y="1509713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 flipV="1">
            <a:off x="3536950" y="3278188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3660775" y="2747963"/>
            <a:ext cx="17414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release</a:t>
            </a: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3644900" y="3224213"/>
            <a:ext cx="19272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deadline</a:t>
            </a:r>
          </a:p>
        </p:txBody>
      </p:sp>
      <p:sp>
        <p:nvSpPr>
          <p:cNvPr id="342042" name="Rectangle 26"/>
          <p:cNvSpPr>
            <a:spLocks noChangeArrowheads="1"/>
          </p:cNvSpPr>
          <p:nvPr/>
        </p:nvSpPr>
        <p:spPr bwMode="auto">
          <a:xfrm>
            <a:off x="3694113" y="1514475"/>
            <a:ext cx="17462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1350963" y="2119313"/>
            <a:ext cx="69786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0"/>
              <a:t>0     1     2     3    4     5     6     7     8     9    10   11   12   13   14   15</a:t>
            </a:r>
            <a:endParaRPr lang="en-US" b="0"/>
          </a:p>
        </p:txBody>
      </p:sp>
      <p:sp>
        <p:nvSpPr>
          <p:cNvPr id="24604" name="Rectangle 28"/>
          <p:cNvSpPr>
            <a:spLocks noChangeArrowheads="1"/>
          </p:cNvSpPr>
          <p:nvPr/>
        </p:nvSpPr>
        <p:spPr bwMode="auto">
          <a:xfrm>
            <a:off x="3376613" y="2568575"/>
            <a:ext cx="2151062" cy="1298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42045" name="Text Box 29"/>
          <p:cNvSpPr txBox="1">
            <a:spLocks noChangeArrowheads="1"/>
          </p:cNvSpPr>
          <p:nvPr/>
        </p:nvSpPr>
        <p:spPr bwMode="auto">
          <a:xfrm>
            <a:off x="2447925" y="4451350"/>
            <a:ext cx="28717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Job is </a:t>
            </a:r>
            <a:r>
              <a:rPr lang="en-US" b="0">
                <a:solidFill>
                  <a:schemeClr val="tx2"/>
                </a:solidFill>
              </a:rPr>
              <a:t>released</a:t>
            </a:r>
            <a:r>
              <a:rPr lang="en-US" b="0"/>
              <a:t> at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36" grpId="0" animBg="1"/>
      <p:bldP spid="342038" grpId="0" animBg="1"/>
      <p:bldP spid="342042" grpId="0" animBg="1"/>
      <p:bldP spid="34204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25603" name="Line 3"/>
          <p:cNvSpPr>
            <a:spLocks noChangeShapeType="1"/>
          </p:cNvSpPr>
          <p:nvPr/>
        </p:nvSpPr>
        <p:spPr bwMode="auto">
          <a:xfrm>
            <a:off x="1182688" y="1962150"/>
            <a:ext cx="7273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15001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19383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23764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28146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3252788" y="19716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36909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412908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45672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50053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54435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588168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5" name="Line 15"/>
          <p:cNvSpPr>
            <a:spLocks noChangeShapeType="1"/>
          </p:cNvSpPr>
          <p:nvPr/>
        </p:nvSpPr>
        <p:spPr bwMode="auto">
          <a:xfrm>
            <a:off x="63198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>
            <a:off x="67579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>
            <a:off x="71961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>
            <a:off x="76342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>
            <a:off x="807243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0" name="Line 20"/>
          <p:cNvSpPr>
            <a:spLocks noChangeShapeType="1"/>
          </p:cNvSpPr>
          <p:nvPr/>
        </p:nvSpPr>
        <p:spPr bwMode="auto">
          <a:xfrm flipV="1">
            <a:off x="2814638" y="15144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 flipV="1">
            <a:off x="3529013" y="27336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2" name="Line 22"/>
          <p:cNvSpPr>
            <a:spLocks noChangeShapeType="1"/>
          </p:cNvSpPr>
          <p:nvPr/>
        </p:nvSpPr>
        <p:spPr bwMode="auto">
          <a:xfrm flipV="1">
            <a:off x="5881688" y="1509713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 flipV="1">
            <a:off x="3536950" y="3278188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3660775" y="2747963"/>
            <a:ext cx="17414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release</a:t>
            </a:r>
          </a:p>
        </p:txBody>
      </p:sp>
      <p:sp>
        <p:nvSpPr>
          <p:cNvPr id="25625" name="Text Box 25"/>
          <p:cNvSpPr txBox="1">
            <a:spLocks noChangeArrowheads="1"/>
          </p:cNvSpPr>
          <p:nvPr/>
        </p:nvSpPr>
        <p:spPr bwMode="auto">
          <a:xfrm>
            <a:off x="3644900" y="3224213"/>
            <a:ext cx="19272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deadline</a:t>
            </a:r>
          </a:p>
        </p:txBody>
      </p:sp>
      <p:sp>
        <p:nvSpPr>
          <p:cNvPr id="25626" name="Rectangle 26"/>
          <p:cNvSpPr>
            <a:spLocks noChangeArrowheads="1"/>
          </p:cNvSpPr>
          <p:nvPr/>
        </p:nvSpPr>
        <p:spPr bwMode="auto">
          <a:xfrm>
            <a:off x="3694113" y="1514475"/>
            <a:ext cx="17462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5627" name="Text Box 27"/>
          <p:cNvSpPr txBox="1">
            <a:spLocks noChangeArrowheads="1"/>
          </p:cNvSpPr>
          <p:nvPr/>
        </p:nvSpPr>
        <p:spPr bwMode="auto">
          <a:xfrm>
            <a:off x="1350963" y="2119313"/>
            <a:ext cx="69786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0"/>
              <a:t>0     1     2     3    4     5     6     7     8     9    10   11   12   13   14   15</a:t>
            </a:r>
            <a:endParaRPr lang="en-US" b="0"/>
          </a:p>
        </p:txBody>
      </p:sp>
      <p:sp>
        <p:nvSpPr>
          <p:cNvPr id="25628" name="Rectangle 28"/>
          <p:cNvSpPr>
            <a:spLocks noChangeArrowheads="1"/>
          </p:cNvSpPr>
          <p:nvPr/>
        </p:nvSpPr>
        <p:spPr bwMode="auto">
          <a:xfrm>
            <a:off x="3376613" y="2568575"/>
            <a:ext cx="2151062" cy="1298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5629" name="Text Box 29"/>
          <p:cNvSpPr txBox="1">
            <a:spLocks noChangeArrowheads="1"/>
          </p:cNvSpPr>
          <p:nvPr/>
        </p:nvSpPr>
        <p:spPr bwMode="auto">
          <a:xfrm>
            <a:off x="2447925" y="4451350"/>
            <a:ext cx="4181475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Job is </a:t>
            </a:r>
            <a:r>
              <a:rPr lang="en-US" b="0">
                <a:solidFill>
                  <a:schemeClr val="tx2"/>
                </a:solidFill>
              </a:rPr>
              <a:t>released</a:t>
            </a:r>
            <a:r>
              <a:rPr lang="en-US" b="0"/>
              <a:t> at time 3.</a:t>
            </a:r>
          </a:p>
          <a:p>
            <a:pPr eaLnBrk="0" hangingPunct="0"/>
            <a:r>
              <a:rPr lang="en-US" b="0"/>
              <a:t>It’s (absolute) </a:t>
            </a:r>
            <a:r>
              <a:rPr lang="en-US" b="0">
                <a:solidFill>
                  <a:schemeClr val="tx2"/>
                </a:solidFill>
              </a:rPr>
              <a:t>deadline</a:t>
            </a:r>
            <a:r>
              <a:rPr lang="en-US" b="0"/>
              <a:t> is at time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26627" name="Line 3"/>
          <p:cNvSpPr>
            <a:spLocks noChangeShapeType="1"/>
          </p:cNvSpPr>
          <p:nvPr/>
        </p:nvSpPr>
        <p:spPr bwMode="auto">
          <a:xfrm>
            <a:off x="1182688" y="1962150"/>
            <a:ext cx="7273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8" name="Line 4"/>
          <p:cNvSpPr>
            <a:spLocks noChangeShapeType="1"/>
          </p:cNvSpPr>
          <p:nvPr/>
        </p:nvSpPr>
        <p:spPr bwMode="auto">
          <a:xfrm>
            <a:off x="15001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19383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23764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28146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>
            <a:off x="3252788" y="19716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>
            <a:off x="36909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>
            <a:off x="412908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45672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50053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54435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>
            <a:off x="588168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>
            <a:off x="63198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67579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>
            <a:off x="71961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76342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3" name="Line 19"/>
          <p:cNvSpPr>
            <a:spLocks noChangeShapeType="1"/>
          </p:cNvSpPr>
          <p:nvPr/>
        </p:nvSpPr>
        <p:spPr bwMode="auto">
          <a:xfrm>
            <a:off x="807243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 flipV="1">
            <a:off x="2814638" y="15144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5" name="Line 21"/>
          <p:cNvSpPr>
            <a:spLocks noChangeShapeType="1"/>
          </p:cNvSpPr>
          <p:nvPr/>
        </p:nvSpPr>
        <p:spPr bwMode="auto">
          <a:xfrm flipV="1">
            <a:off x="3529013" y="27336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6" name="Line 22"/>
          <p:cNvSpPr>
            <a:spLocks noChangeShapeType="1"/>
          </p:cNvSpPr>
          <p:nvPr/>
        </p:nvSpPr>
        <p:spPr bwMode="auto">
          <a:xfrm flipV="1">
            <a:off x="5881688" y="1509713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7" name="Line 23"/>
          <p:cNvSpPr>
            <a:spLocks noChangeShapeType="1"/>
          </p:cNvSpPr>
          <p:nvPr/>
        </p:nvSpPr>
        <p:spPr bwMode="auto">
          <a:xfrm flipV="1">
            <a:off x="3536950" y="3278188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8" name="Text Box 24"/>
          <p:cNvSpPr txBox="1">
            <a:spLocks noChangeArrowheads="1"/>
          </p:cNvSpPr>
          <p:nvPr/>
        </p:nvSpPr>
        <p:spPr bwMode="auto">
          <a:xfrm>
            <a:off x="3660775" y="2747963"/>
            <a:ext cx="17414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release</a:t>
            </a:r>
          </a:p>
        </p:txBody>
      </p:sp>
      <p:sp>
        <p:nvSpPr>
          <p:cNvPr id="26649" name="Text Box 25"/>
          <p:cNvSpPr txBox="1">
            <a:spLocks noChangeArrowheads="1"/>
          </p:cNvSpPr>
          <p:nvPr/>
        </p:nvSpPr>
        <p:spPr bwMode="auto">
          <a:xfrm>
            <a:off x="3644900" y="3224213"/>
            <a:ext cx="19272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deadline</a:t>
            </a:r>
          </a:p>
        </p:txBody>
      </p:sp>
      <p:sp>
        <p:nvSpPr>
          <p:cNvPr id="26650" name="Rectangle 26"/>
          <p:cNvSpPr>
            <a:spLocks noChangeArrowheads="1"/>
          </p:cNvSpPr>
          <p:nvPr/>
        </p:nvSpPr>
        <p:spPr bwMode="auto">
          <a:xfrm>
            <a:off x="3694113" y="1514475"/>
            <a:ext cx="17462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6651" name="Text Box 27"/>
          <p:cNvSpPr txBox="1">
            <a:spLocks noChangeArrowheads="1"/>
          </p:cNvSpPr>
          <p:nvPr/>
        </p:nvSpPr>
        <p:spPr bwMode="auto">
          <a:xfrm>
            <a:off x="1350963" y="2119313"/>
            <a:ext cx="69786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0"/>
              <a:t>0     1     2     3    4     5     6     7     8     9    10   11   12   13   14   15</a:t>
            </a:r>
            <a:endParaRPr lang="en-US" b="0"/>
          </a:p>
        </p:txBody>
      </p:sp>
      <p:sp>
        <p:nvSpPr>
          <p:cNvPr id="26652" name="Rectangle 28"/>
          <p:cNvSpPr>
            <a:spLocks noChangeArrowheads="1"/>
          </p:cNvSpPr>
          <p:nvPr/>
        </p:nvSpPr>
        <p:spPr bwMode="auto">
          <a:xfrm>
            <a:off x="3376613" y="2568575"/>
            <a:ext cx="2151062" cy="1298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6653" name="Text Box 29"/>
          <p:cNvSpPr txBox="1">
            <a:spLocks noChangeArrowheads="1"/>
          </p:cNvSpPr>
          <p:nvPr/>
        </p:nvSpPr>
        <p:spPr bwMode="auto">
          <a:xfrm>
            <a:off x="2447925" y="4451350"/>
            <a:ext cx="4638675" cy="11874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Job is </a:t>
            </a:r>
            <a:r>
              <a:rPr lang="en-US" b="0">
                <a:solidFill>
                  <a:schemeClr val="tx2"/>
                </a:solidFill>
              </a:rPr>
              <a:t>released</a:t>
            </a:r>
            <a:r>
              <a:rPr lang="en-US" b="0"/>
              <a:t> at time 3.</a:t>
            </a:r>
          </a:p>
          <a:p>
            <a:pPr eaLnBrk="0" hangingPunct="0"/>
            <a:r>
              <a:rPr lang="en-US" b="0"/>
              <a:t>It’s (absolute) </a:t>
            </a:r>
            <a:r>
              <a:rPr lang="en-US" b="0">
                <a:solidFill>
                  <a:schemeClr val="tx2"/>
                </a:solidFill>
              </a:rPr>
              <a:t>deadline</a:t>
            </a:r>
            <a:r>
              <a:rPr lang="en-US" b="0"/>
              <a:t> is at time 10.</a:t>
            </a:r>
          </a:p>
          <a:p>
            <a:pPr eaLnBrk="0" hangingPunct="0"/>
            <a:r>
              <a:rPr lang="en-US" b="0"/>
              <a:t>It’s </a:t>
            </a:r>
            <a:r>
              <a:rPr lang="en-US" b="0">
                <a:solidFill>
                  <a:schemeClr val="tx2"/>
                </a:solidFill>
              </a:rPr>
              <a:t>relative deadline</a:t>
            </a:r>
            <a:r>
              <a:rPr lang="en-US" b="0"/>
              <a:t> 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1182688" y="1962150"/>
            <a:ext cx="7273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15001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19383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23764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28146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>
            <a:off x="3252788" y="19716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>
            <a:off x="36909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>
            <a:off x="412908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>
            <a:off x="45672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>
            <a:off x="50053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54435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588168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>
            <a:off x="63198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67579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>
            <a:off x="71961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76342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807243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 flipV="1">
            <a:off x="2814638" y="15144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 flipV="1">
            <a:off x="3529013" y="27336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 flipV="1">
            <a:off x="5881688" y="1509713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1" name="Line 23"/>
          <p:cNvSpPr>
            <a:spLocks noChangeShapeType="1"/>
          </p:cNvSpPr>
          <p:nvPr/>
        </p:nvSpPr>
        <p:spPr bwMode="auto">
          <a:xfrm flipV="1">
            <a:off x="3536950" y="3278188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3660775" y="2747963"/>
            <a:ext cx="17414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release</a:t>
            </a:r>
          </a:p>
        </p:txBody>
      </p:sp>
      <p:sp>
        <p:nvSpPr>
          <p:cNvPr id="27673" name="Text Box 25"/>
          <p:cNvSpPr txBox="1">
            <a:spLocks noChangeArrowheads="1"/>
          </p:cNvSpPr>
          <p:nvPr/>
        </p:nvSpPr>
        <p:spPr bwMode="auto">
          <a:xfrm>
            <a:off x="3644900" y="3224213"/>
            <a:ext cx="19272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deadline</a:t>
            </a:r>
          </a:p>
        </p:txBody>
      </p:sp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3694113" y="1514475"/>
            <a:ext cx="17462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7675" name="Text Box 27"/>
          <p:cNvSpPr txBox="1">
            <a:spLocks noChangeArrowheads="1"/>
          </p:cNvSpPr>
          <p:nvPr/>
        </p:nvSpPr>
        <p:spPr bwMode="auto">
          <a:xfrm>
            <a:off x="1350963" y="2119313"/>
            <a:ext cx="69786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0"/>
              <a:t>0     1     2     3    4     5     6     7     8     9    10   11   12   13   14   15</a:t>
            </a:r>
            <a:endParaRPr lang="en-US" b="0"/>
          </a:p>
        </p:txBody>
      </p: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3376613" y="2568575"/>
            <a:ext cx="2151062" cy="1298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7677" name="Text Box 29"/>
          <p:cNvSpPr txBox="1">
            <a:spLocks noChangeArrowheads="1"/>
          </p:cNvSpPr>
          <p:nvPr/>
        </p:nvSpPr>
        <p:spPr bwMode="auto">
          <a:xfrm>
            <a:off x="2447925" y="4451350"/>
            <a:ext cx="4638675" cy="15525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Job is </a:t>
            </a:r>
            <a:r>
              <a:rPr lang="en-US" b="0">
                <a:solidFill>
                  <a:schemeClr val="tx2"/>
                </a:solidFill>
              </a:rPr>
              <a:t>released</a:t>
            </a:r>
            <a:r>
              <a:rPr lang="en-US" b="0"/>
              <a:t> at time 3.</a:t>
            </a:r>
          </a:p>
          <a:p>
            <a:pPr eaLnBrk="0" hangingPunct="0"/>
            <a:r>
              <a:rPr lang="en-US" b="0"/>
              <a:t>It’s (absolute) </a:t>
            </a:r>
            <a:r>
              <a:rPr lang="en-US" b="0">
                <a:solidFill>
                  <a:schemeClr val="tx2"/>
                </a:solidFill>
              </a:rPr>
              <a:t>deadline</a:t>
            </a:r>
            <a:r>
              <a:rPr lang="en-US" b="0"/>
              <a:t> is at time 10.</a:t>
            </a:r>
          </a:p>
          <a:p>
            <a:pPr eaLnBrk="0" hangingPunct="0"/>
            <a:r>
              <a:rPr lang="en-US" b="0"/>
              <a:t>It’s </a:t>
            </a:r>
            <a:r>
              <a:rPr lang="en-US" b="0">
                <a:solidFill>
                  <a:schemeClr val="tx2"/>
                </a:solidFill>
              </a:rPr>
              <a:t>relative deadline</a:t>
            </a:r>
            <a:r>
              <a:rPr lang="en-US" b="0"/>
              <a:t> is 7.</a:t>
            </a:r>
          </a:p>
          <a:p>
            <a:pPr eaLnBrk="0" hangingPunct="0"/>
            <a:r>
              <a:rPr lang="en-US" b="0"/>
              <a:t>It’s </a:t>
            </a:r>
            <a:r>
              <a:rPr lang="en-US" b="0">
                <a:solidFill>
                  <a:schemeClr val="tx2"/>
                </a:solidFill>
              </a:rPr>
              <a:t>response time</a:t>
            </a:r>
            <a:r>
              <a:rPr lang="en-US" b="0"/>
              <a:t> 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</a:p>
        </p:txBody>
      </p:sp>
      <p:sp>
        <p:nvSpPr>
          <p:cNvPr id="28675" name="Line 3"/>
          <p:cNvSpPr>
            <a:spLocks noChangeShapeType="1"/>
          </p:cNvSpPr>
          <p:nvPr/>
        </p:nvSpPr>
        <p:spPr bwMode="auto">
          <a:xfrm>
            <a:off x="1182688" y="1962150"/>
            <a:ext cx="7273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Line 4"/>
          <p:cNvSpPr>
            <a:spLocks noChangeShapeType="1"/>
          </p:cNvSpPr>
          <p:nvPr/>
        </p:nvSpPr>
        <p:spPr bwMode="auto">
          <a:xfrm>
            <a:off x="15001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>
            <a:off x="19383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auto">
          <a:xfrm>
            <a:off x="23764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>
            <a:off x="28146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>
            <a:off x="3252788" y="19716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36909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412908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45672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>
            <a:off x="50053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544353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>
            <a:off x="588168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>
            <a:off x="631983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>
            <a:off x="6757988" y="19621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>
            <a:off x="7196138" y="19573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>
            <a:off x="7634288" y="19669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8072438" y="19764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 flipV="1">
            <a:off x="2814638" y="15144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Line 21"/>
          <p:cNvSpPr>
            <a:spLocks noChangeShapeType="1"/>
          </p:cNvSpPr>
          <p:nvPr/>
        </p:nvSpPr>
        <p:spPr bwMode="auto">
          <a:xfrm flipV="1">
            <a:off x="3529013" y="27336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4" name="Line 22"/>
          <p:cNvSpPr>
            <a:spLocks noChangeShapeType="1"/>
          </p:cNvSpPr>
          <p:nvPr/>
        </p:nvSpPr>
        <p:spPr bwMode="auto">
          <a:xfrm flipV="1">
            <a:off x="5881688" y="1509713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5" name="Line 23"/>
          <p:cNvSpPr>
            <a:spLocks noChangeShapeType="1"/>
          </p:cNvSpPr>
          <p:nvPr/>
        </p:nvSpPr>
        <p:spPr bwMode="auto">
          <a:xfrm flipV="1">
            <a:off x="3536950" y="3278188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3660775" y="2747963"/>
            <a:ext cx="17414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release</a:t>
            </a:r>
          </a:p>
        </p:txBody>
      </p:sp>
      <p:sp>
        <p:nvSpPr>
          <p:cNvPr id="28697" name="Text Box 25"/>
          <p:cNvSpPr txBox="1">
            <a:spLocks noChangeArrowheads="1"/>
          </p:cNvSpPr>
          <p:nvPr/>
        </p:nvSpPr>
        <p:spPr bwMode="auto">
          <a:xfrm>
            <a:off x="3644900" y="3224213"/>
            <a:ext cx="19272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deadline</a:t>
            </a:r>
          </a:p>
        </p:txBody>
      </p:sp>
      <p:sp>
        <p:nvSpPr>
          <p:cNvPr id="28698" name="Rectangle 26"/>
          <p:cNvSpPr>
            <a:spLocks noChangeArrowheads="1"/>
          </p:cNvSpPr>
          <p:nvPr/>
        </p:nvSpPr>
        <p:spPr bwMode="auto">
          <a:xfrm>
            <a:off x="3694113" y="1514475"/>
            <a:ext cx="17462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>
            <a:off x="1350963" y="2119313"/>
            <a:ext cx="69786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0"/>
              <a:t>0     1     2     3    4     5     6     7     8     9    10   11   12   13   14   15</a:t>
            </a:r>
            <a:endParaRPr lang="en-US" b="0"/>
          </a:p>
        </p:txBody>
      </p:sp>
      <p:sp>
        <p:nvSpPr>
          <p:cNvPr id="28700" name="Rectangle 28"/>
          <p:cNvSpPr>
            <a:spLocks noChangeArrowheads="1"/>
          </p:cNvSpPr>
          <p:nvPr/>
        </p:nvSpPr>
        <p:spPr bwMode="auto">
          <a:xfrm>
            <a:off x="3376613" y="2568575"/>
            <a:ext cx="2151062" cy="1298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8701" name="Text Box 29"/>
          <p:cNvSpPr txBox="1">
            <a:spLocks noChangeArrowheads="1"/>
          </p:cNvSpPr>
          <p:nvPr/>
        </p:nvSpPr>
        <p:spPr bwMode="auto">
          <a:xfrm>
            <a:off x="2447925" y="4451350"/>
            <a:ext cx="4579938" cy="1570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Job is </a:t>
            </a:r>
            <a:r>
              <a:rPr lang="en-US" b="0">
                <a:solidFill>
                  <a:schemeClr val="tx2"/>
                </a:solidFill>
              </a:rPr>
              <a:t>released</a:t>
            </a:r>
            <a:r>
              <a:rPr lang="en-US" b="0"/>
              <a:t> at time 3.</a:t>
            </a:r>
          </a:p>
          <a:p>
            <a:pPr eaLnBrk="0" hangingPunct="0"/>
            <a:r>
              <a:rPr lang="en-US" b="0"/>
              <a:t>Its (absolute) </a:t>
            </a:r>
            <a:r>
              <a:rPr lang="en-US" b="0">
                <a:solidFill>
                  <a:schemeClr val="tx2"/>
                </a:solidFill>
              </a:rPr>
              <a:t>deadline</a:t>
            </a:r>
            <a:r>
              <a:rPr lang="en-US" b="0"/>
              <a:t> is at time 10.</a:t>
            </a:r>
          </a:p>
          <a:p>
            <a:pPr eaLnBrk="0" hangingPunct="0"/>
            <a:r>
              <a:rPr lang="en-US" b="0"/>
              <a:t>Its </a:t>
            </a:r>
            <a:r>
              <a:rPr lang="en-US" b="0">
                <a:solidFill>
                  <a:schemeClr val="tx2"/>
                </a:solidFill>
              </a:rPr>
              <a:t>relative deadline</a:t>
            </a:r>
            <a:r>
              <a:rPr lang="en-US" b="0"/>
              <a:t> is 7.</a:t>
            </a:r>
          </a:p>
          <a:p>
            <a:pPr eaLnBrk="0" hangingPunct="0"/>
            <a:r>
              <a:rPr lang="en-US" b="0"/>
              <a:t>Its </a:t>
            </a:r>
            <a:r>
              <a:rPr lang="en-US" b="0">
                <a:solidFill>
                  <a:schemeClr val="tx2"/>
                </a:solidFill>
              </a:rPr>
              <a:t>response time</a:t>
            </a:r>
            <a:r>
              <a:rPr lang="en-US" b="0"/>
              <a:t> is 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Real-Time Systems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19100" y="1476375"/>
            <a:ext cx="4083050" cy="5067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b="1" smtClean="0">
                <a:solidFill>
                  <a:srgbClr val="FF0000"/>
                </a:solidFill>
              </a:rPr>
              <a:t>Hard real-time system:</a:t>
            </a:r>
          </a:p>
          <a:p>
            <a:r>
              <a:rPr lang="en-US" sz="2000" b="1" smtClean="0">
                <a:solidFill>
                  <a:srgbClr val="CC0000"/>
                </a:solidFill>
              </a:rPr>
              <a:t>hard deadline</a:t>
            </a:r>
            <a:r>
              <a:rPr lang="en-US" sz="2000" smtClean="0"/>
              <a:t> </a:t>
            </a:r>
            <a:r>
              <a:rPr lang="en-US" sz="2000" i="1" smtClean="0"/>
              <a:t>must</a:t>
            </a:r>
            <a:r>
              <a:rPr lang="en-US" sz="2000" smtClean="0"/>
              <a:t> be met</a:t>
            </a:r>
          </a:p>
          <a:p>
            <a:pPr lvl="1"/>
            <a:r>
              <a:rPr lang="en-US" sz="2000" i="1" smtClean="0"/>
              <a:t>any</a:t>
            </a:r>
            <a:r>
              <a:rPr lang="en-US" sz="2000" smtClean="0"/>
              <a:t> hard deadline </a:t>
            </a:r>
            <a:r>
              <a:rPr lang="en-US" sz="2000" i="1" smtClean="0"/>
              <a:t>ever</a:t>
            </a:r>
            <a:r>
              <a:rPr lang="en-US" sz="2000" smtClean="0"/>
              <a:t> missed </a:t>
            </a:r>
            <a:r>
              <a:rPr lang="en-US" sz="2000" smtClean="0">
                <a:sym typeface="Wingdings" pitchFamily="2" charset="2"/>
              </a:rPr>
              <a:t> </a:t>
            </a:r>
            <a:r>
              <a:rPr lang="en-US" sz="2000" smtClean="0"/>
              <a:t>system </a:t>
            </a:r>
            <a:r>
              <a:rPr lang="en-US" sz="2000" b="1" smtClean="0"/>
              <a:t>incorrect</a:t>
            </a:r>
            <a:endParaRPr lang="en-US" sz="2000" smtClean="0"/>
          </a:p>
          <a:p>
            <a:pPr lvl="1"/>
            <a:r>
              <a:rPr lang="en-US" sz="2000" smtClean="0"/>
              <a:t>Requires a means for </a:t>
            </a:r>
            <a:r>
              <a:rPr lang="en-US" sz="2000" b="1" smtClean="0">
                <a:solidFill>
                  <a:schemeClr val="tx2"/>
                </a:solidFill>
              </a:rPr>
              <a:t>validating</a:t>
            </a:r>
            <a:r>
              <a:rPr lang="en-US" sz="2000" smtClean="0"/>
              <a:t> that deadlines are met</a:t>
            </a:r>
          </a:p>
          <a:p>
            <a:r>
              <a:rPr lang="en-US" sz="2000" b="1" smtClean="0">
                <a:solidFill>
                  <a:srgbClr val="CC0000"/>
                </a:solidFill>
              </a:rPr>
              <a:t>Examples:</a:t>
            </a:r>
            <a:r>
              <a:rPr lang="en-US" sz="2000" smtClean="0"/>
              <a:t> Nuclear power plant control, flight control.</a:t>
            </a:r>
          </a:p>
        </p:txBody>
      </p:sp>
      <p:sp>
        <p:nvSpPr>
          <p:cNvPr id="29700" name="Content Placeholder 3"/>
          <p:cNvSpPr>
            <a:spLocks noGrp="1"/>
          </p:cNvSpPr>
          <p:nvPr>
            <p:ph sz="half" idx="2"/>
          </p:nvPr>
        </p:nvSpPr>
        <p:spPr>
          <a:xfrm>
            <a:off x="4654550" y="1476375"/>
            <a:ext cx="4240213" cy="5067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b="1" smtClean="0">
                <a:solidFill>
                  <a:srgbClr val="FF0000"/>
                </a:solidFill>
              </a:rPr>
              <a:t>Soft real-time system:</a:t>
            </a:r>
          </a:p>
          <a:p>
            <a:pPr>
              <a:lnSpc>
                <a:spcPct val="120000"/>
              </a:lnSpc>
            </a:pPr>
            <a:r>
              <a:rPr lang="en-US" sz="2000" b="1" smtClean="0">
                <a:solidFill>
                  <a:srgbClr val="CC0000"/>
                </a:solidFill>
              </a:rPr>
              <a:t>soft deadline</a:t>
            </a:r>
            <a:r>
              <a:rPr lang="en-US" sz="2000" smtClean="0"/>
              <a:t> may </a:t>
            </a:r>
            <a:r>
              <a:rPr lang="en-US" sz="2000" i="1" smtClean="0"/>
              <a:t>occasionally</a:t>
            </a:r>
            <a:r>
              <a:rPr lang="en-US" sz="2000" smtClean="0"/>
              <a:t> be missed</a:t>
            </a:r>
          </a:p>
          <a:p>
            <a:pPr lvl="1">
              <a:lnSpc>
                <a:spcPct val="100000"/>
              </a:lnSpc>
            </a:pPr>
            <a:r>
              <a:rPr lang="en-US" sz="2000" b="1" smtClean="0">
                <a:solidFill>
                  <a:schemeClr val="tx2"/>
                </a:solidFill>
              </a:rPr>
              <a:t>Question:</a:t>
            </a:r>
            <a:r>
              <a:rPr lang="en-US" sz="2000" smtClean="0"/>
              <a:t> How to define “occasionally”? Depends…</a:t>
            </a:r>
            <a:r>
              <a:rPr lang="en-US" sz="2000" smtClean="0">
                <a:sym typeface="Wingdings" pitchFamily="2" charset="2"/>
              </a:rPr>
              <a:t/>
            </a:r>
            <a:br>
              <a:rPr lang="en-US" sz="2000" smtClean="0">
                <a:sym typeface="Wingdings" pitchFamily="2" charset="2"/>
              </a:rPr>
            </a:br>
            <a:r>
              <a:rPr lang="en-US" sz="2000" smtClean="0">
                <a:sym typeface="Wingdings" pitchFamily="2" charset="2"/>
              </a:rPr>
              <a:t> (m,k)-firm deadline: at least m out of any k deadlines must be met</a:t>
            </a:r>
            <a:endParaRPr lang="en-US" sz="2000" b="1" smtClean="0">
              <a:solidFill>
                <a:srgbClr val="CC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000" b="1" smtClean="0">
                <a:solidFill>
                  <a:srgbClr val="CC0000"/>
                </a:solidFill>
              </a:rPr>
              <a:t>Examples:</a:t>
            </a:r>
            <a:r>
              <a:rPr lang="en-US" sz="2000" smtClean="0"/>
              <a:t> Telephone switches, multimedia applications.</a:t>
            </a:r>
          </a:p>
          <a:p>
            <a:endParaRPr lang="en-US" sz="2000" smtClean="0"/>
          </a:p>
        </p:txBody>
      </p:sp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981075" y="5097463"/>
            <a:ext cx="7740650" cy="1200150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Hybrid system: </a:t>
            </a:r>
            <a:r>
              <a:rPr lang="en-US"/>
              <a:t>hard + soft components</a:t>
            </a:r>
          </a:p>
          <a:p>
            <a:pPr lvl="1">
              <a:buFont typeface="Arial" pitchFamily="34" charset="0"/>
              <a:buChar char="•"/>
            </a:pPr>
            <a:r>
              <a:rPr lang="en-US"/>
              <a:t>Often mixed criticality: different levels of “hard” RT</a:t>
            </a:r>
          </a:p>
          <a:p>
            <a:pPr lvl="1">
              <a:buFont typeface="Arial" pitchFamily="34" charset="0"/>
              <a:buChar char="•"/>
            </a:pPr>
            <a:r>
              <a:rPr lang="en-US"/>
              <a:t> increasingly common: automotive, avionics, 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07988" y="319088"/>
            <a:ext cx="8736012" cy="914400"/>
          </a:xfrm>
        </p:spPr>
        <p:txBody>
          <a:bodyPr/>
          <a:lstStyle/>
          <a:p>
            <a:r>
              <a:rPr lang="en-US" smtClean="0"/>
              <a:t>Notation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5" y="1479550"/>
            <a:ext cx="8412163" cy="4876800"/>
          </a:xfrm>
        </p:spPr>
        <p:txBody>
          <a:bodyPr/>
          <a:lstStyle/>
          <a:p>
            <a:r>
              <a:rPr lang="en-US" smtClean="0"/>
              <a:t>Each job </a:t>
            </a:r>
            <a:r>
              <a:rPr lang="en-US" smtClean="0">
                <a:solidFill>
                  <a:schemeClr val="tx2"/>
                </a:solidFill>
              </a:rPr>
              <a:t>J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 </a:t>
            </a:r>
            <a:r>
              <a:rPr lang="en-US" smtClean="0"/>
              <a:t>is characterized by its </a:t>
            </a:r>
          </a:p>
          <a:p>
            <a:pPr lvl="1"/>
            <a:r>
              <a:rPr lang="en-US" b="1" smtClean="0">
                <a:solidFill>
                  <a:srgbClr val="CC0000"/>
                </a:solidFill>
              </a:rPr>
              <a:t>release time</a:t>
            </a:r>
            <a:r>
              <a:rPr lang="en-US" smtClean="0"/>
              <a:t> </a:t>
            </a:r>
            <a:r>
              <a:rPr lang="en-US" smtClean="0">
                <a:solidFill>
                  <a:schemeClr val="tx2"/>
                </a:solidFill>
              </a:rPr>
              <a:t>r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</a:p>
          <a:p>
            <a:pPr lvl="1"/>
            <a:r>
              <a:rPr lang="en-US" b="1" smtClean="0">
                <a:solidFill>
                  <a:srgbClr val="CC0000"/>
                </a:solidFill>
              </a:rPr>
              <a:t>absolute deadline</a:t>
            </a:r>
            <a:r>
              <a:rPr lang="en-US" smtClean="0"/>
              <a:t> </a:t>
            </a:r>
            <a:r>
              <a:rPr lang="en-US" smtClean="0">
                <a:solidFill>
                  <a:schemeClr val="tx2"/>
                </a:solidFill>
              </a:rPr>
              <a:t>d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</a:p>
          <a:p>
            <a:pPr lvl="1"/>
            <a:r>
              <a:rPr lang="en-US" b="1" smtClean="0">
                <a:solidFill>
                  <a:srgbClr val="CC0000"/>
                </a:solidFill>
              </a:rPr>
              <a:t>relative deadline</a:t>
            </a:r>
            <a:r>
              <a:rPr lang="en-US" smtClean="0"/>
              <a:t> </a:t>
            </a:r>
            <a:r>
              <a:rPr lang="en-US" smtClean="0">
                <a:solidFill>
                  <a:schemeClr val="tx2"/>
                </a:solidFill>
              </a:rPr>
              <a:t>D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</a:p>
          <a:p>
            <a:pPr lvl="1"/>
            <a:r>
              <a:rPr lang="en-US" b="1" smtClean="0">
                <a:solidFill>
                  <a:srgbClr val="CC0000"/>
                </a:solidFill>
              </a:rPr>
              <a:t>execution time</a:t>
            </a:r>
            <a:r>
              <a:rPr lang="en-US" smtClean="0">
                <a:solidFill>
                  <a:schemeClr val="tx2"/>
                </a:solidFill>
              </a:rPr>
              <a:t> e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/>
              <a:t>.</a:t>
            </a:r>
            <a:endParaRPr lang="en-US" sz="600" smtClean="0"/>
          </a:p>
          <a:p>
            <a:r>
              <a:rPr lang="en-US" smtClean="0"/>
              <a:t>Sometimes range of release times: </a:t>
            </a:r>
            <a:r>
              <a:rPr lang="en-US" smtClean="0">
                <a:solidFill>
                  <a:schemeClr val="tx2"/>
                </a:solidFill>
              </a:rPr>
              <a:t>[r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baseline="30000" smtClean="0">
                <a:solidFill>
                  <a:schemeClr val="tx2"/>
                </a:solidFill>
                <a:sym typeface="Symbol" pitchFamily="18" charset="2"/>
              </a:rPr>
              <a:t></a:t>
            </a:r>
            <a:r>
              <a:rPr lang="en-US" smtClean="0">
                <a:solidFill>
                  <a:schemeClr val="tx2"/>
                </a:solidFill>
              </a:rPr>
              <a:t>, r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baseline="30000" smtClean="0">
                <a:solidFill>
                  <a:schemeClr val="tx2"/>
                </a:solidFill>
              </a:rPr>
              <a:t>+</a:t>
            </a:r>
            <a:r>
              <a:rPr lang="en-US" smtClean="0">
                <a:solidFill>
                  <a:schemeClr val="tx2"/>
                </a:solidFill>
              </a:rPr>
              <a:t>] </a:t>
            </a:r>
            <a:r>
              <a:rPr lang="en-US" smtClean="0">
                <a:solidFill>
                  <a:schemeClr val="tx2"/>
                </a:solidFill>
                <a:sym typeface="Wingdings" pitchFamily="2" charset="2"/>
              </a:rPr>
              <a:t></a:t>
            </a:r>
            <a:r>
              <a:rPr lang="en-US" smtClean="0"/>
              <a:t> </a:t>
            </a:r>
            <a:r>
              <a:rPr lang="en-US" b="1" smtClean="0">
                <a:solidFill>
                  <a:srgbClr val="CC0000"/>
                </a:solidFill>
              </a:rPr>
              <a:t>release-time jitter</a:t>
            </a:r>
            <a:endParaRPr lang="en-US" smtClean="0"/>
          </a:p>
          <a:p>
            <a:r>
              <a:rPr lang="en-US" smtClean="0"/>
              <a:t>Sometimes range over </a:t>
            </a:r>
            <a:r>
              <a:rPr lang="en-US" smtClean="0">
                <a:solidFill>
                  <a:schemeClr val="tx2"/>
                </a:solidFill>
              </a:rPr>
              <a:t>[e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baseline="30000" smtClean="0">
                <a:solidFill>
                  <a:schemeClr val="tx2"/>
                </a:solidFill>
                <a:sym typeface="Symbol" pitchFamily="18" charset="2"/>
              </a:rPr>
              <a:t></a:t>
            </a:r>
            <a:r>
              <a:rPr lang="en-US" smtClean="0">
                <a:solidFill>
                  <a:schemeClr val="tx2"/>
                </a:solidFill>
              </a:rPr>
              <a:t>, e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baseline="30000" smtClean="0">
                <a:solidFill>
                  <a:schemeClr val="tx2"/>
                </a:solidFill>
              </a:rPr>
              <a:t>+</a:t>
            </a:r>
            <a:r>
              <a:rPr lang="en-US" smtClean="0">
                <a:solidFill>
                  <a:schemeClr val="tx2"/>
                </a:solidFill>
              </a:rPr>
              <a:t>]</a:t>
            </a:r>
          </a:p>
          <a:p>
            <a:pPr lvl="1"/>
            <a:r>
              <a:rPr lang="en-US" smtClean="0">
                <a:solidFill>
                  <a:schemeClr val="tx2"/>
                </a:solidFill>
              </a:rPr>
              <a:t>difficult to get a precise estimate of e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 (more on this later)</a:t>
            </a:r>
          </a:p>
          <a:p>
            <a:r>
              <a:rPr lang="en-US" b="1" smtClean="0">
                <a:solidFill>
                  <a:srgbClr val="CC0000"/>
                </a:solidFill>
              </a:rPr>
              <a:t>Periodic task </a:t>
            </a:r>
            <a:r>
              <a:rPr lang="en-US" smtClean="0"/>
              <a:t>has a </a:t>
            </a:r>
            <a:r>
              <a:rPr lang="en-US" b="1" smtClean="0">
                <a:solidFill>
                  <a:srgbClr val="CC0000"/>
                </a:solidFill>
              </a:rPr>
              <a:t>period p</a:t>
            </a:r>
            <a:r>
              <a:rPr lang="en-US" b="1" baseline="-25000" smtClean="0">
                <a:solidFill>
                  <a:srgbClr val="CC0000"/>
                </a:solidFill>
              </a:rPr>
              <a:t>i</a:t>
            </a:r>
            <a:r>
              <a:rPr lang="en-US" smtClean="0"/>
              <a:t>: exact spacing between jobs J</a:t>
            </a:r>
            <a:r>
              <a:rPr lang="en-US" baseline="-25000" smtClean="0"/>
              <a:t>i</a:t>
            </a:r>
          </a:p>
          <a:p>
            <a:pPr lvl="1"/>
            <a:r>
              <a:rPr lang="en-US" smtClean="0">
                <a:solidFill>
                  <a:schemeClr val="tx2"/>
                </a:solidFill>
              </a:rPr>
              <a:t>Ignore: Only Liu textbook says p</a:t>
            </a:r>
            <a:r>
              <a:rPr lang="en-US" baseline="-25000" smtClean="0">
                <a:solidFill>
                  <a:schemeClr val="tx2"/>
                </a:solidFill>
              </a:rPr>
              <a:t>i</a:t>
            </a:r>
            <a:r>
              <a:rPr lang="en-US" smtClean="0">
                <a:solidFill>
                  <a:schemeClr val="tx2"/>
                </a:solidFill>
              </a:rPr>
              <a:t> is </a:t>
            </a:r>
            <a:r>
              <a:rPr lang="en-US" i="1" smtClean="0">
                <a:solidFill>
                  <a:schemeClr val="tx2"/>
                </a:solidFill>
              </a:rPr>
              <a:t>minimum</a:t>
            </a:r>
            <a:r>
              <a:rPr lang="en-US" smtClean="0">
                <a:solidFill>
                  <a:schemeClr val="tx2"/>
                </a:solidFill>
              </a:rPr>
              <a:t> time b/w jobs</a:t>
            </a:r>
            <a:endParaRPr lang="en-US" sz="1600" smtClean="0">
              <a:solidFill>
                <a:schemeClr val="tx2"/>
              </a:solidFill>
            </a:endParaRPr>
          </a:p>
          <a:p>
            <a:r>
              <a:rPr lang="en-US" b="1" smtClean="0">
                <a:solidFill>
                  <a:srgbClr val="CC0000"/>
                </a:solidFill>
              </a:rPr>
              <a:t>Sporadic task: </a:t>
            </a:r>
            <a:r>
              <a:rPr lang="en-US" smtClean="0"/>
              <a:t>Released at arbitrary times, </a:t>
            </a:r>
            <a:r>
              <a:rPr lang="en-US" b="1" smtClean="0"/>
              <a:t>hard</a:t>
            </a:r>
            <a:r>
              <a:rPr lang="en-US" smtClean="0"/>
              <a:t> deadline</a:t>
            </a:r>
            <a:endParaRPr lang="en-US" b="1" smtClean="0">
              <a:solidFill>
                <a:srgbClr val="CC0000"/>
              </a:solidFill>
            </a:endParaRPr>
          </a:p>
          <a:p>
            <a:r>
              <a:rPr lang="en-US" b="1" smtClean="0">
                <a:solidFill>
                  <a:srgbClr val="CC0000"/>
                </a:solidFill>
              </a:rPr>
              <a:t>Aperiodic tasks:</a:t>
            </a:r>
            <a:r>
              <a:rPr lang="en-US" smtClean="0"/>
              <a:t> Released at arbitrary times, soft (or no deadline)</a:t>
            </a:r>
          </a:p>
          <a:p>
            <a:endParaRPr lang="en-US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Examples</a:t>
            </a:r>
          </a:p>
        </p:txBody>
      </p:sp>
      <p:sp>
        <p:nvSpPr>
          <p:cNvPr id="31747" name="Text Box 29"/>
          <p:cNvSpPr txBox="1">
            <a:spLocks noChangeArrowheads="1"/>
          </p:cNvSpPr>
          <p:nvPr/>
        </p:nvSpPr>
        <p:spPr bwMode="auto">
          <a:xfrm>
            <a:off x="357188" y="1493838"/>
            <a:ext cx="8313737" cy="8302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en-US" b="0"/>
              <a:t>A </a:t>
            </a:r>
            <a:r>
              <a:rPr lang="en-US"/>
              <a:t>periodic</a:t>
            </a:r>
            <a:r>
              <a:rPr lang="en-US" b="0"/>
              <a:t> task T</a:t>
            </a:r>
            <a:r>
              <a:rPr lang="en-US" b="0" baseline="-25000"/>
              <a:t>i</a:t>
            </a:r>
            <a:r>
              <a:rPr lang="en-US" b="0"/>
              <a:t> with r</a:t>
            </a:r>
            <a:r>
              <a:rPr lang="en-US" b="0" baseline="-25000"/>
              <a:t>i</a:t>
            </a:r>
            <a:r>
              <a:rPr lang="en-US" b="0"/>
              <a:t> = 2, p</a:t>
            </a:r>
            <a:r>
              <a:rPr lang="en-US" b="0" baseline="-25000"/>
              <a:t>i</a:t>
            </a:r>
            <a:r>
              <a:rPr lang="en-US" b="0"/>
              <a:t> = 5, e</a:t>
            </a:r>
            <a:r>
              <a:rPr lang="en-US" b="0" baseline="-25000"/>
              <a:t>i</a:t>
            </a:r>
            <a:r>
              <a:rPr lang="en-US" b="0"/>
              <a:t> = 2, D</a:t>
            </a:r>
            <a:r>
              <a:rPr lang="en-US" b="0" baseline="-25000"/>
              <a:t>i</a:t>
            </a:r>
            <a:r>
              <a:rPr lang="en-US" b="0"/>
              <a:t> =5 executes like this according  to the rest of the world:</a:t>
            </a:r>
          </a:p>
        </p:txBody>
      </p:sp>
      <p:sp>
        <p:nvSpPr>
          <p:cNvPr id="350246" name="Rectangle 38"/>
          <p:cNvSpPr>
            <a:spLocks noChangeArrowheads="1"/>
          </p:cNvSpPr>
          <p:nvPr/>
        </p:nvSpPr>
        <p:spPr bwMode="auto">
          <a:xfrm>
            <a:off x="5902325" y="2352675"/>
            <a:ext cx="8953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1749" name="Line 3"/>
          <p:cNvSpPr>
            <a:spLocks noChangeShapeType="1"/>
          </p:cNvSpPr>
          <p:nvPr/>
        </p:nvSpPr>
        <p:spPr bwMode="auto">
          <a:xfrm>
            <a:off x="328613" y="2795588"/>
            <a:ext cx="84280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Line 4"/>
          <p:cNvSpPr>
            <a:spLocks noChangeShapeType="1"/>
          </p:cNvSpPr>
          <p:nvPr/>
        </p:nvSpPr>
        <p:spPr bwMode="auto">
          <a:xfrm>
            <a:off x="646113" y="27955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Line 5"/>
          <p:cNvSpPr>
            <a:spLocks noChangeShapeType="1"/>
          </p:cNvSpPr>
          <p:nvPr/>
        </p:nvSpPr>
        <p:spPr bwMode="auto">
          <a:xfrm>
            <a:off x="1084263" y="279082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Line 6"/>
          <p:cNvSpPr>
            <a:spLocks noChangeShapeType="1"/>
          </p:cNvSpPr>
          <p:nvPr/>
        </p:nvSpPr>
        <p:spPr bwMode="auto">
          <a:xfrm>
            <a:off x="1522413" y="28003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Line 7"/>
          <p:cNvSpPr>
            <a:spLocks noChangeShapeType="1"/>
          </p:cNvSpPr>
          <p:nvPr/>
        </p:nvSpPr>
        <p:spPr bwMode="auto">
          <a:xfrm>
            <a:off x="1960563" y="27955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Line 8"/>
          <p:cNvSpPr>
            <a:spLocks noChangeShapeType="1"/>
          </p:cNvSpPr>
          <p:nvPr/>
        </p:nvSpPr>
        <p:spPr bwMode="auto">
          <a:xfrm>
            <a:off x="2398713" y="28051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Line 9"/>
          <p:cNvSpPr>
            <a:spLocks noChangeShapeType="1"/>
          </p:cNvSpPr>
          <p:nvPr/>
        </p:nvSpPr>
        <p:spPr bwMode="auto">
          <a:xfrm>
            <a:off x="2836863" y="28003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6" name="Line 10"/>
          <p:cNvSpPr>
            <a:spLocks noChangeShapeType="1"/>
          </p:cNvSpPr>
          <p:nvPr/>
        </p:nvSpPr>
        <p:spPr bwMode="auto">
          <a:xfrm>
            <a:off x="3275013" y="28003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Line 11"/>
          <p:cNvSpPr>
            <a:spLocks noChangeShapeType="1"/>
          </p:cNvSpPr>
          <p:nvPr/>
        </p:nvSpPr>
        <p:spPr bwMode="auto">
          <a:xfrm>
            <a:off x="3713163" y="279082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8" name="Line 12"/>
          <p:cNvSpPr>
            <a:spLocks noChangeShapeType="1"/>
          </p:cNvSpPr>
          <p:nvPr/>
        </p:nvSpPr>
        <p:spPr bwMode="auto">
          <a:xfrm>
            <a:off x="4151313" y="28003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9" name="Line 13"/>
          <p:cNvSpPr>
            <a:spLocks noChangeShapeType="1"/>
          </p:cNvSpPr>
          <p:nvPr/>
        </p:nvSpPr>
        <p:spPr bwMode="auto">
          <a:xfrm>
            <a:off x="4589463" y="27955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0" name="Line 14"/>
          <p:cNvSpPr>
            <a:spLocks noChangeShapeType="1"/>
          </p:cNvSpPr>
          <p:nvPr/>
        </p:nvSpPr>
        <p:spPr bwMode="auto">
          <a:xfrm>
            <a:off x="5027613" y="279082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Line 15"/>
          <p:cNvSpPr>
            <a:spLocks noChangeShapeType="1"/>
          </p:cNvSpPr>
          <p:nvPr/>
        </p:nvSpPr>
        <p:spPr bwMode="auto">
          <a:xfrm>
            <a:off x="5465763" y="28003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2" name="Line 16"/>
          <p:cNvSpPr>
            <a:spLocks noChangeShapeType="1"/>
          </p:cNvSpPr>
          <p:nvPr/>
        </p:nvSpPr>
        <p:spPr bwMode="auto">
          <a:xfrm>
            <a:off x="5903913" y="27955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3" name="Line 17"/>
          <p:cNvSpPr>
            <a:spLocks noChangeShapeType="1"/>
          </p:cNvSpPr>
          <p:nvPr/>
        </p:nvSpPr>
        <p:spPr bwMode="auto">
          <a:xfrm>
            <a:off x="6342063" y="279082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4" name="Line 18"/>
          <p:cNvSpPr>
            <a:spLocks noChangeShapeType="1"/>
          </p:cNvSpPr>
          <p:nvPr/>
        </p:nvSpPr>
        <p:spPr bwMode="auto">
          <a:xfrm>
            <a:off x="6780213" y="28003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Line 19"/>
          <p:cNvSpPr>
            <a:spLocks noChangeShapeType="1"/>
          </p:cNvSpPr>
          <p:nvPr/>
        </p:nvSpPr>
        <p:spPr bwMode="auto">
          <a:xfrm>
            <a:off x="7218363" y="28098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28" name="Line 20"/>
          <p:cNvSpPr>
            <a:spLocks noChangeShapeType="1"/>
          </p:cNvSpPr>
          <p:nvPr/>
        </p:nvSpPr>
        <p:spPr bwMode="auto">
          <a:xfrm flipV="1">
            <a:off x="1531938" y="2347913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Line 21"/>
          <p:cNvSpPr>
            <a:spLocks noChangeShapeType="1"/>
          </p:cNvSpPr>
          <p:nvPr/>
        </p:nvSpPr>
        <p:spPr bwMode="auto">
          <a:xfrm flipV="1">
            <a:off x="2811463" y="348932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30" name="Line 22"/>
          <p:cNvSpPr>
            <a:spLocks noChangeShapeType="1"/>
          </p:cNvSpPr>
          <p:nvPr/>
        </p:nvSpPr>
        <p:spPr bwMode="auto">
          <a:xfrm flipV="1">
            <a:off x="3741738" y="2343150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9" name="Line 23"/>
          <p:cNvSpPr>
            <a:spLocks noChangeShapeType="1"/>
          </p:cNvSpPr>
          <p:nvPr/>
        </p:nvSpPr>
        <p:spPr bwMode="auto">
          <a:xfrm flipV="1">
            <a:off x="4962525" y="3562350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70" name="Text Box 24"/>
          <p:cNvSpPr txBox="1">
            <a:spLocks noChangeArrowheads="1"/>
          </p:cNvSpPr>
          <p:nvPr/>
        </p:nvSpPr>
        <p:spPr bwMode="auto">
          <a:xfrm>
            <a:off x="2943225" y="3503613"/>
            <a:ext cx="17414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release</a:t>
            </a:r>
          </a:p>
        </p:txBody>
      </p:sp>
      <p:sp>
        <p:nvSpPr>
          <p:cNvPr id="31771" name="Text Box 25"/>
          <p:cNvSpPr txBox="1">
            <a:spLocks noChangeArrowheads="1"/>
          </p:cNvSpPr>
          <p:nvPr/>
        </p:nvSpPr>
        <p:spPr bwMode="auto">
          <a:xfrm>
            <a:off x="5070475" y="3508375"/>
            <a:ext cx="19272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= job deadline</a:t>
            </a:r>
          </a:p>
        </p:txBody>
      </p:sp>
      <p:sp>
        <p:nvSpPr>
          <p:cNvPr id="350234" name="Rectangle 26"/>
          <p:cNvSpPr>
            <a:spLocks noChangeArrowheads="1"/>
          </p:cNvSpPr>
          <p:nvPr/>
        </p:nvSpPr>
        <p:spPr bwMode="auto">
          <a:xfrm>
            <a:off x="2397125" y="2338388"/>
            <a:ext cx="8953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1773" name="Text Box 27"/>
          <p:cNvSpPr txBox="1">
            <a:spLocks noChangeArrowheads="1"/>
          </p:cNvSpPr>
          <p:nvPr/>
        </p:nvSpPr>
        <p:spPr bwMode="auto">
          <a:xfrm>
            <a:off x="496888" y="2952750"/>
            <a:ext cx="82486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0"/>
              <a:t>0     1     2     3    4     5     6     7     8     9    10   11   12   13   14   15   16  17   18</a:t>
            </a:r>
            <a:endParaRPr lang="en-US" b="0"/>
          </a:p>
        </p:txBody>
      </p:sp>
      <p:sp>
        <p:nvSpPr>
          <p:cNvPr id="350238" name="Line 30"/>
          <p:cNvSpPr>
            <a:spLocks noChangeShapeType="1"/>
          </p:cNvSpPr>
          <p:nvPr/>
        </p:nvSpPr>
        <p:spPr bwMode="auto">
          <a:xfrm flipV="1">
            <a:off x="3727450" y="237172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39" name="Line 31"/>
          <p:cNvSpPr>
            <a:spLocks noChangeShapeType="1"/>
          </p:cNvSpPr>
          <p:nvPr/>
        </p:nvSpPr>
        <p:spPr bwMode="auto">
          <a:xfrm flipV="1">
            <a:off x="5937250" y="2366963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40" name="Rectangle 32"/>
          <p:cNvSpPr>
            <a:spLocks noChangeArrowheads="1"/>
          </p:cNvSpPr>
          <p:nvPr/>
        </p:nvSpPr>
        <p:spPr bwMode="auto">
          <a:xfrm>
            <a:off x="4135438" y="2347913"/>
            <a:ext cx="8953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50244" name="Line 36"/>
          <p:cNvSpPr>
            <a:spLocks noChangeShapeType="1"/>
          </p:cNvSpPr>
          <p:nvPr/>
        </p:nvSpPr>
        <p:spPr bwMode="auto">
          <a:xfrm flipV="1">
            <a:off x="5922963" y="2366963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45" name="Line 37"/>
          <p:cNvSpPr>
            <a:spLocks noChangeShapeType="1"/>
          </p:cNvSpPr>
          <p:nvPr/>
        </p:nvSpPr>
        <p:spPr bwMode="auto">
          <a:xfrm flipV="1">
            <a:off x="8132763" y="2362200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79" name="Line 40"/>
          <p:cNvSpPr>
            <a:spLocks noChangeShapeType="1"/>
          </p:cNvSpPr>
          <p:nvPr/>
        </p:nvSpPr>
        <p:spPr bwMode="auto">
          <a:xfrm>
            <a:off x="7685088" y="280511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80" name="Line 41"/>
          <p:cNvSpPr>
            <a:spLocks noChangeShapeType="1"/>
          </p:cNvSpPr>
          <p:nvPr/>
        </p:nvSpPr>
        <p:spPr bwMode="auto">
          <a:xfrm>
            <a:off x="8108950" y="280035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81" name="Line 42"/>
          <p:cNvSpPr>
            <a:spLocks noChangeShapeType="1"/>
          </p:cNvSpPr>
          <p:nvPr/>
        </p:nvSpPr>
        <p:spPr bwMode="auto">
          <a:xfrm>
            <a:off x="8532813" y="279558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82" name="Rectangle 43"/>
          <p:cNvSpPr>
            <a:spLocks noChangeArrowheads="1"/>
          </p:cNvSpPr>
          <p:nvPr/>
        </p:nvSpPr>
        <p:spPr bwMode="auto">
          <a:xfrm>
            <a:off x="2628900" y="3436938"/>
            <a:ext cx="4314825" cy="6635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50252" name="Rectangle 44"/>
          <p:cNvSpPr>
            <a:spLocks noChangeArrowheads="1"/>
          </p:cNvSpPr>
          <p:nvPr/>
        </p:nvSpPr>
        <p:spPr bwMode="auto">
          <a:xfrm>
            <a:off x="7151688" y="4757738"/>
            <a:ext cx="8953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1784" name="Line 45"/>
          <p:cNvSpPr>
            <a:spLocks noChangeShapeType="1"/>
          </p:cNvSpPr>
          <p:nvPr/>
        </p:nvSpPr>
        <p:spPr bwMode="auto">
          <a:xfrm flipV="1">
            <a:off x="263525" y="5214938"/>
            <a:ext cx="84470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85" name="Line 46"/>
          <p:cNvSpPr>
            <a:spLocks noChangeShapeType="1"/>
          </p:cNvSpPr>
          <p:nvPr/>
        </p:nvSpPr>
        <p:spPr bwMode="auto">
          <a:xfrm>
            <a:off x="581025" y="52149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86" name="Line 47"/>
          <p:cNvSpPr>
            <a:spLocks noChangeShapeType="1"/>
          </p:cNvSpPr>
          <p:nvPr/>
        </p:nvSpPr>
        <p:spPr bwMode="auto">
          <a:xfrm>
            <a:off x="1019175" y="52101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87" name="Line 48"/>
          <p:cNvSpPr>
            <a:spLocks noChangeShapeType="1"/>
          </p:cNvSpPr>
          <p:nvPr/>
        </p:nvSpPr>
        <p:spPr bwMode="auto">
          <a:xfrm>
            <a:off x="1457325" y="521970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88" name="Line 49"/>
          <p:cNvSpPr>
            <a:spLocks noChangeShapeType="1"/>
          </p:cNvSpPr>
          <p:nvPr/>
        </p:nvSpPr>
        <p:spPr bwMode="auto">
          <a:xfrm>
            <a:off x="1895475" y="52149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89" name="Line 50"/>
          <p:cNvSpPr>
            <a:spLocks noChangeShapeType="1"/>
          </p:cNvSpPr>
          <p:nvPr/>
        </p:nvSpPr>
        <p:spPr bwMode="auto">
          <a:xfrm>
            <a:off x="2333625" y="522446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0" name="Line 51"/>
          <p:cNvSpPr>
            <a:spLocks noChangeShapeType="1"/>
          </p:cNvSpPr>
          <p:nvPr/>
        </p:nvSpPr>
        <p:spPr bwMode="auto">
          <a:xfrm>
            <a:off x="2771775" y="521970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1" name="Line 52"/>
          <p:cNvSpPr>
            <a:spLocks noChangeShapeType="1"/>
          </p:cNvSpPr>
          <p:nvPr/>
        </p:nvSpPr>
        <p:spPr bwMode="auto">
          <a:xfrm>
            <a:off x="3209925" y="522922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2" name="Line 53"/>
          <p:cNvSpPr>
            <a:spLocks noChangeShapeType="1"/>
          </p:cNvSpPr>
          <p:nvPr/>
        </p:nvSpPr>
        <p:spPr bwMode="auto">
          <a:xfrm>
            <a:off x="3648075" y="52101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3" name="Line 54"/>
          <p:cNvSpPr>
            <a:spLocks noChangeShapeType="1"/>
          </p:cNvSpPr>
          <p:nvPr/>
        </p:nvSpPr>
        <p:spPr bwMode="auto">
          <a:xfrm>
            <a:off x="4086225" y="521970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4" name="Line 55"/>
          <p:cNvSpPr>
            <a:spLocks noChangeShapeType="1"/>
          </p:cNvSpPr>
          <p:nvPr/>
        </p:nvSpPr>
        <p:spPr bwMode="auto">
          <a:xfrm>
            <a:off x="4524375" y="52149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5" name="Line 56"/>
          <p:cNvSpPr>
            <a:spLocks noChangeShapeType="1"/>
          </p:cNvSpPr>
          <p:nvPr/>
        </p:nvSpPr>
        <p:spPr bwMode="auto">
          <a:xfrm>
            <a:off x="4962525" y="52101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6" name="Line 57"/>
          <p:cNvSpPr>
            <a:spLocks noChangeShapeType="1"/>
          </p:cNvSpPr>
          <p:nvPr/>
        </p:nvSpPr>
        <p:spPr bwMode="auto">
          <a:xfrm>
            <a:off x="5400675" y="521970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7" name="Line 58"/>
          <p:cNvSpPr>
            <a:spLocks noChangeShapeType="1"/>
          </p:cNvSpPr>
          <p:nvPr/>
        </p:nvSpPr>
        <p:spPr bwMode="auto">
          <a:xfrm>
            <a:off x="5838825" y="52149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8" name="Line 59"/>
          <p:cNvSpPr>
            <a:spLocks noChangeShapeType="1"/>
          </p:cNvSpPr>
          <p:nvPr/>
        </p:nvSpPr>
        <p:spPr bwMode="auto">
          <a:xfrm>
            <a:off x="6276975" y="521017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99" name="Line 60"/>
          <p:cNvSpPr>
            <a:spLocks noChangeShapeType="1"/>
          </p:cNvSpPr>
          <p:nvPr/>
        </p:nvSpPr>
        <p:spPr bwMode="auto">
          <a:xfrm>
            <a:off x="6715125" y="521970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800" name="Line 61"/>
          <p:cNvSpPr>
            <a:spLocks noChangeShapeType="1"/>
          </p:cNvSpPr>
          <p:nvPr/>
        </p:nvSpPr>
        <p:spPr bwMode="auto">
          <a:xfrm>
            <a:off x="7153275" y="5229225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70" name="Line 62"/>
          <p:cNvSpPr>
            <a:spLocks noChangeShapeType="1"/>
          </p:cNvSpPr>
          <p:nvPr/>
        </p:nvSpPr>
        <p:spPr bwMode="auto">
          <a:xfrm flipV="1">
            <a:off x="1466850" y="4767263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71" name="Line 63"/>
          <p:cNvSpPr>
            <a:spLocks noChangeShapeType="1"/>
          </p:cNvSpPr>
          <p:nvPr/>
        </p:nvSpPr>
        <p:spPr bwMode="auto">
          <a:xfrm flipV="1">
            <a:off x="3648075" y="4762500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72" name="Rectangle 64"/>
          <p:cNvSpPr>
            <a:spLocks noChangeArrowheads="1"/>
          </p:cNvSpPr>
          <p:nvPr/>
        </p:nvSpPr>
        <p:spPr bwMode="auto">
          <a:xfrm>
            <a:off x="2332038" y="4767263"/>
            <a:ext cx="8953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1804" name="Text Box 65"/>
          <p:cNvSpPr txBox="1">
            <a:spLocks noChangeArrowheads="1"/>
          </p:cNvSpPr>
          <p:nvPr/>
        </p:nvSpPr>
        <p:spPr bwMode="auto">
          <a:xfrm>
            <a:off x="431800" y="5372100"/>
            <a:ext cx="82486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0"/>
              <a:t>0     1     2     3    4     5     6     7     8     9    10   11   12   13   14   15   16  17   18</a:t>
            </a:r>
            <a:endParaRPr lang="en-US" b="0"/>
          </a:p>
        </p:txBody>
      </p:sp>
      <p:sp>
        <p:nvSpPr>
          <p:cNvPr id="350274" name="Line 66"/>
          <p:cNvSpPr>
            <a:spLocks noChangeShapeType="1"/>
          </p:cNvSpPr>
          <p:nvPr/>
        </p:nvSpPr>
        <p:spPr bwMode="auto">
          <a:xfrm flipV="1">
            <a:off x="4076700" y="4791075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75" name="Line 67"/>
          <p:cNvSpPr>
            <a:spLocks noChangeShapeType="1"/>
          </p:cNvSpPr>
          <p:nvPr/>
        </p:nvSpPr>
        <p:spPr bwMode="auto">
          <a:xfrm flipV="1">
            <a:off x="6286500" y="4786313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76" name="Rectangle 68"/>
          <p:cNvSpPr>
            <a:spLocks noChangeArrowheads="1"/>
          </p:cNvSpPr>
          <p:nvPr/>
        </p:nvSpPr>
        <p:spPr bwMode="auto">
          <a:xfrm>
            <a:off x="4513263" y="4762500"/>
            <a:ext cx="89535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50277" name="Line 69"/>
          <p:cNvSpPr>
            <a:spLocks noChangeShapeType="1"/>
          </p:cNvSpPr>
          <p:nvPr/>
        </p:nvSpPr>
        <p:spPr bwMode="auto">
          <a:xfrm flipV="1">
            <a:off x="6272213" y="4786313"/>
            <a:ext cx="0" cy="4476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0278" name="Line 70"/>
          <p:cNvSpPr>
            <a:spLocks noChangeShapeType="1"/>
          </p:cNvSpPr>
          <p:nvPr/>
        </p:nvSpPr>
        <p:spPr bwMode="auto">
          <a:xfrm flipV="1">
            <a:off x="8482013" y="4781550"/>
            <a:ext cx="0" cy="4476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810" name="Line 71"/>
          <p:cNvSpPr>
            <a:spLocks noChangeShapeType="1"/>
          </p:cNvSpPr>
          <p:nvPr/>
        </p:nvSpPr>
        <p:spPr bwMode="auto">
          <a:xfrm>
            <a:off x="7620000" y="5224463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811" name="Line 72"/>
          <p:cNvSpPr>
            <a:spLocks noChangeShapeType="1"/>
          </p:cNvSpPr>
          <p:nvPr/>
        </p:nvSpPr>
        <p:spPr bwMode="auto">
          <a:xfrm>
            <a:off x="8043863" y="5219700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812" name="Line 73"/>
          <p:cNvSpPr>
            <a:spLocks noChangeShapeType="1"/>
          </p:cNvSpPr>
          <p:nvPr/>
        </p:nvSpPr>
        <p:spPr bwMode="auto">
          <a:xfrm>
            <a:off x="8467725" y="5214938"/>
            <a:ext cx="0" cy="158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813" name="Text Box 74"/>
          <p:cNvSpPr txBox="1">
            <a:spLocks noChangeArrowheads="1"/>
          </p:cNvSpPr>
          <p:nvPr/>
        </p:nvSpPr>
        <p:spPr bwMode="auto">
          <a:xfrm>
            <a:off x="282575" y="4019550"/>
            <a:ext cx="5826125" cy="4619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0" dirty="0">
                <a:solidFill>
                  <a:schemeClr val="bg2">
                    <a:lumMod val="50000"/>
                  </a:schemeClr>
                </a:solidFill>
              </a:rPr>
              <a:t>(According to Liu, it could execute like this:)</a:t>
            </a:r>
          </a:p>
        </p:txBody>
      </p:sp>
      <p:sp>
        <p:nvSpPr>
          <p:cNvPr id="31814" name="Text Box 75"/>
          <p:cNvSpPr txBox="1">
            <a:spLocks noChangeArrowheads="1"/>
          </p:cNvSpPr>
          <p:nvPr/>
        </p:nvSpPr>
        <p:spPr bwMode="auto">
          <a:xfrm>
            <a:off x="312738" y="5851525"/>
            <a:ext cx="6059487" cy="4619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0"/>
              <a:t>To the rest of the world, this is a </a:t>
            </a:r>
            <a:r>
              <a:rPr lang="en-US"/>
              <a:t>sporadic task.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46" grpId="0" animBg="1"/>
      <p:bldP spid="350228" grpId="0" animBg="1"/>
      <p:bldP spid="350230" grpId="0" animBg="1"/>
      <p:bldP spid="350234" grpId="0" animBg="1"/>
      <p:bldP spid="350238" grpId="0" animBg="1"/>
      <p:bldP spid="350239" grpId="0" animBg="1"/>
      <p:bldP spid="350240" grpId="0" animBg="1"/>
      <p:bldP spid="350244" grpId="0" animBg="1"/>
      <p:bldP spid="350245" grpId="0" animBg="1"/>
      <p:bldP spid="350252" grpId="0" animBg="1"/>
      <p:bldP spid="350270" grpId="0" animBg="1"/>
      <p:bldP spid="350271" grpId="0" animBg="1"/>
      <p:bldP spid="350272" grpId="0" animBg="1"/>
      <p:bldP spid="350274" grpId="0" animBg="1"/>
      <p:bldP spid="350275" grpId="0" animBg="1"/>
      <p:bldP spid="350276" grpId="0" animBg="1"/>
      <p:bldP spid="350277" grpId="0" animBg="1"/>
      <p:bldP spid="35027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298450"/>
            <a:ext cx="8724900" cy="908050"/>
          </a:xfrm>
        </p:spPr>
        <p:txBody>
          <a:bodyPr/>
          <a:lstStyle/>
          <a:p>
            <a:r>
              <a:rPr lang="en-US" smtClean="0"/>
              <a:t>Definitions for Periodic Task Systems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975" y="1484313"/>
            <a:ext cx="8243888" cy="4876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mtClean="0"/>
              <a:t>The jobs of task T</a:t>
            </a:r>
            <a:r>
              <a:rPr lang="en-US" baseline="-25000" smtClean="0"/>
              <a:t>i</a:t>
            </a:r>
            <a:r>
              <a:rPr lang="en-US" smtClean="0"/>
              <a:t> are denoted </a:t>
            </a:r>
            <a:r>
              <a:rPr lang="en-US" smtClean="0">
                <a:solidFill>
                  <a:schemeClr val="tx2"/>
                </a:solidFill>
              </a:rPr>
              <a:t>J</a:t>
            </a:r>
            <a:r>
              <a:rPr lang="en-US" baseline="-25000" smtClean="0">
                <a:solidFill>
                  <a:schemeClr val="tx2"/>
                </a:solidFill>
              </a:rPr>
              <a:t>i,1</a:t>
            </a:r>
            <a:r>
              <a:rPr lang="en-US" smtClean="0">
                <a:solidFill>
                  <a:schemeClr val="tx2"/>
                </a:solidFill>
              </a:rPr>
              <a:t>, J</a:t>
            </a:r>
            <a:r>
              <a:rPr lang="en-US" baseline="-25000" smtClean="0">
                <a:solidFill>
                  <a:schemeClr val="tx2"/>
                </a:solidFill>
              </a:rPr>
              <a:t>i,2</a:t>
            </a:r>
            <a:r>
              <a:rPr lang="en-US" smtClean="0">
                <a:solidFill>
                  <a:schemeClr val="tx2"/>
                </a:solidFill>
              </a:rPr>
              <a:t>, …</a:t>
            </a:r>
            <a:r>
              <a:rPr lang="en-US" smtClean="0"/>
              <a:t> .</a:t>
            </a:r>
          </a:p>
          <a:p>
            <a:pPr>
              <a:lnSpc>
                <a:spcPct val="130000"/>
              </a:lnSpc>
            </a:pPr>
            <a:r>
              <a:rPr lang="en-US" smtClean="0">
                <a:solidFill>
                  <a:schemeClr val="tx2"/>
                </a:solidFill>
              </a:rPr>
              <a:t>r</a:t>
            </a:r>
            <a:r>
              <a:rPr lang="en-US" baseline="-25000" smtClean="0">
                <a:solidFill>
                  <a:schemeClr val="tx2"/>
                </a:solidFill>
              </a:rPr>
              <a:t>i,1</a:t>
            </a:r>
            <a:r>
              <a:rPr lang="en-US" smtClean="0"/>
              <a:t> (the release time of J</a:t>
            </a:r>
            <a:r>
              <a:rPr lang="en-US" baseline="-25000" smtClean="0"/>
              <a:t>i,1</a:t>
            </a:r>
            <a:r>
              <a:rPr lang="en-US" smtClean="0"/>
              <a:t>) is called the </a:t>
            </a:r>
            <a:r>
              <a:rPr lang="en-US" b="1" smtClean="0">
                <a:solidFill>
                  <a:srgbClr val="CC0000"/>
                </a:solidFill>
              </a:rPr>
              <a:t>phase</a:t>
            </a:r>
            <a:r>
              <a:rPr lang="en-US" smtClean="0"/>
              <a:t> of T</a:t>
            </a:r>
            <a:r>
              <a:rPr lang="en-US" baseline="-25000" smtClean="0"/>
              <a:t>i</a:t>
            </a:r>
            <a:r>
              <a:rPr lang="en-US" smtClean="0"/>
              <a:t>.</a:t>
            </a:r>
          </a:p>
          <a:p>
            <a:pPr lvl="1">
              <a:lnSpc>
                <a:spcPct val="130000"/>
              </a:lnSpc>
            </a:pPr>
            <a:r>
              <a:rPr lang="en-US" b="1" smtClean="0">
                <a:solidFill>
                  <a:srgbClr val="CC0000"/>
                </a:solidFill>
              </a:rPr>
              <a:t>Synchronous System:</a:t>
            </a:r>
            <a:r>
              <a:rPr lang="en-US" smtClean="0"/>
              <a:t> Each task has a phase of 0.</a:t>
            </a:r>
          </a:p>
          <a:p>
            <a:pPr lvl="1">
              <a:lnSpc>
                <a:spcPct val="130000"/>
              </a:lnSpc>
            </a:pPr>
            <a:r>
              <a:rPr lang="en-US" b="1" smtClean="0">
                <a:solidFill>
                  <a:srgbClr val="CC0000"/>
                </a:solidFill>
              </a:rPr>
              <a:t>Asynchronous System:</a:t>
            </a:r>
            <a:r>
              <a:rPr lang="en-US" smtClean="0"/>
              <a:t> Phases are arbitrary.</a:t>
            </a:r>
          </a:p>
          <a:p>
            <a:pPr>
              <a:lnSpc>
                <a:spcPct val="130000"/>
              </a:lnSpc>
            </a:pPr>
            <a:r>
              <a:rPr lang="en-US" b="1" smtClean="0">
                <a:solidFill>
                  <a:srgbClr val="CC0000"/>
                </a:solidFill>
              </a:rPr>
              <a:t>Hyperperiod:</a:t>
            </a:r>
            <a:r>
              <a:rPr lang="en-US" smtClean="0"/>
              <a:t> Least common multiple of {p</a:t>
            </a:r>
            <a:r>
              <a:rPr lang="en-US" baseline="-25000" smtClean="0"/>
              <a:t>i</a:t>
            </a:r>
            <a:r>
              <a:rPr lang="en-US" smtClean="0"/>
              <a:t>}.</a:t>
            </a:r>
          </a:p>
          <a:p>
            <a:pPr>
              <a:lnSpc>
                <a:spcPct val="130000"/>
              </a:lnSpc>
            </a:pPr>
            <a:r>
              <a:rPr lang="en-US" b="1" smtClean="0">
                <a:solidFill>
                  <a:srgbClr val="CC0000"/>
                </a:solidFill>
              </a:rPr>
              <a:t>Task utilization:</a:t>
            </a:r>
            <a:r>
              <a:rPr lang="en-US" smtClean="0"/>
              <a:t> u</a:t>
            </a:r>
            <a:r>
              <a:rPr lang="en-US" baseline="-25000" smtClean="0"/>
              <a:t>i</a:t>
            </a:r>
            <a:r>
              <a:rPr lang="en-US" smtClean="0"/>
              <a:t> = e</a:t>
            </a:r>
            <a:r>
              <a:rPr lang="en-US" baseline="-25000" smtClean="0"/>
              <a:t>i</a:t>
            </a:r>
            <a:r>
              <a:rPr lang="en-US" smtClean="0"/>
              <a:t>/p</a:t>
            </a:r>
            <a:r>
              <a:rPr lang="en-US" baseline="-25000" smtClean="0"/>
              <a:t>i</a:t>
            </a:r>
            <a:r>
              <a:rPr lang="en-US" smtClean="0"/>
              <a:t>.</a:t>
            </a:r>
          </a:p>
          <a:p>
            <a:pPr>
              <a:lnSpc>
                <a:spcPct val="130000"/>
              </a:lnSpc>
            </a:pPr>
            <a:r>
              <a:rPr lang="en-US" b="1" smtClean="0">
                <a:solidFill>
                  <a:srgbClr val="CC0000"/>
                </a:solidFill>
              </a:rPr>
              <a:t>System utilization:</a:t>
            </a:r>
            <a:r>
              <a:rPr lang="en-US" smtClean="0"/>
              <a:t> U = </a:t>
            </a:r>
            <a:r>
              <a:rPr lang="en-US" smtClean="0">
                <a:sym typeface="Symbol" pitchFamily="18" charset="2"/>
              </a:rPr>
              <a:t></a:t>
            </a:r>
            <a:r>
              <a:rPr lang="en-US" baseline="-25000" smtClean="0">
                <a:sym typeface="Symbol" pitchFamily="18" charset="2"/>
              </a:rPr>
              <a:t>i=1..n</a:t>
            </a:r>
            <a:r>
              <a:rPr lang="en-US" smtClean="0">
                <a:sym typeface="Symbol" pitchFamily="18" charset="2"/>
              </a:rPr>
              <a:t>u</a:t>
            </a:r>
            <a:r>
              <a:rPr lang="en-US" baseline="-25000" smtClean="0">
                <a:sym typeface="Symbol" pitchFamily="18" charset="2"/>
              </a:rPr>
              <a:t>i</a:t>
            </a:r>
            <a:r>
              <a:rPr lang="en-US" smtClean="0">
                <a:sym typeface="Symbol" pitchFamily="18" charset="2"/>
              </a:rPr>
              <a:t>.</a:t>
            </a:r>
          </a:p>
          <a:p>
            <a:r>
              <a:rPr lang="en-US" smtClean="0"/>
              <a:t>Task dependencies: </a:t>
            </a:r>
            <a:r>
              <a:rPr lang="en-US" smtClean="0">
                <a:solidFill>
                  <a:schemeClr val="tx2"/>
                </a:solidFill>
              </a:rPr>
              <a:t>Critical Sections, Precedence Constraints.</a:t>
            </a:r>
          </a:p>
          <a:p>
            <a:pPr lvl="2"/>
            <a:r>
              <a:rPr lang="en-US" smtClean="0"/>
              <a:t>E.g, job J</a:t>
            </a:r>
            <a:r>
              <a:rPr lang="en-US" baseline="-25000" smtClean="0"/>
              <a:t>i</a:t>
            </a:r>
            <a:r>
              <a:rPr lang="en-US" smtClean="0"/>
              <a:t> released only </a:t>
            </a:r>
            <a:r>
              <a:rPr lang="en-US" i="1" smtClean="0"/>
              <a:t>after</a:t>
            </a:r>
            <a:r>
              <a:rPr lang="en-US" smtClean="0"/>
              <a:t> job J</a:t>
            </a:r>
            <a:r>
              <a:rPr lang="en-US" baseline="-25000" smtClean="0"/>
              <a:t>k</a:t>
            </a:r>
            <a:r>
              <a:rPr lang="en-US" smtClean="0"/>
              <a:t> completes.</a:t>
            </a:r>
          </a:p>
          <a:p>
            <a:r>
              <a:rPr lang="en-US" smtClean="0"/>
              <a:t>Tasks with no dependencies are called </a:t>
            </a:r>
            <a:r>
              <a:rPr lang="en-US" b="1" smtClean="0">
                <a:solidFill>
                  <a:srgbClr val="CC0000"/>
                </a:solidFill>
              </a:rPr>
              <a:t>independent.</a:t>
            </a:r>
            <a:endParaRPr lang="en-US" smtClean="0">
              <a:sym typeface="Symbol" pitchFamily="18" charset="2"/>
            </a:endParaRPr>
          </a:p>
          <a:p>
            <a:pPr>
              <a:lnSpc>
                <a:spcPct val="130000"/>
              </a:lnSpc>
            </a:pPr>
            <a:endParaRPr lang="en-US" smtClean="0">
              <a:sym typeface="Symbol" pitchFamily="18" charset="2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endParaRPr lang="en-US" baseline="-250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5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Algorithms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587500"/>
            <a:ext cx="8513763" cy="5067300"/>
          </a:xfrm>
        </p:spPr>
        <p:txBody>
          <a:bodyPr/>
          <a:lstStyle/>
          <a:p>
            <a:pPr marL="457200" indent="-457200"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dirty="0" smtClean="0"/>
              <a:t>A </a:t>
            </a:r>
            <a:r>
              <a:rPr lang="en-US" b="1" dirty="0" smtClean="0">
                <a:solidFill>
                  <a:srgbClr val="CC0000"/>
                </a:solidFill>
              </a:rPr>
              <a:t>scheduler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CC0000"/>
                </a:solidFill>
              </a:rPr>
              <a:t>scheduling algorithm</a:t>
            </a:r>
            <a:r>
              <a:rPr lang="en-US" dirty="0" smtClean="0"/>
              <a:t>, which generates a schedule at runtime (following some policy)</a:t>
            </a:r>
          </a:p>
          <a:p>
            <a:pPr marL="457200" indent="-457200"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dirty="0" smtClean="0"/>
              <a:t>A </a:t>
            </a:r>
            <a:r>
              <a:rPr lang="en-US" b="1" dirty="0" smtClean="0">
                <a:solidFill>
                  <a:srgbClr val="CC0000"/>
                </a:solidFill>
              </a:rPr>
              <a:t>feasibility or </a:t>
            </a:r>
            <a:r>
              <a:rPr lang="en-US" b="1" dirty="0" err="1" smtClean="0">
                <a:solidFill>
                  <a:srgbClr val="CC0000"/>
                </a:solidFill>
              </a:rPr>
              <a:t>schedulability</a:t>
            </a:r>
            <a:r>
              <a:rPr lang="en-US" b="1" dirty="0" smtClean="0">
                <a:solidFill>
                  <a:srgbClr val="CC0000"/>
                </a:solidFill>
              </a:rPr>
              <a:t>-analysis algorithm</a:t>
            </a:r>
            <a:r>
              <a:rPr lang="en-US" dirty="0" smtClean="0"/>
              <a:t>, which checks if timing constraints are met (typically statically, without running)</a:t>
            </a:r>
          </a:p>
          <a:p>
            <a:pPr>
              <a:defRPr/>
            </a:pPr>
            <a:endParaRPr lang="en-US" dirty="0" smtClean="0"/>
          </a:p>
        </p:txBody>
      </p:sp>
      <p:grpSp>
        <p:nvGrpSpPr>
          <p:cNvPr id="33796" name="Group 12"/>
          <p:cNvGrpSpPr>
            <a:grpSpLocks/>
          </p:cNvGrpSpPr>
          <p:nvPr/>
        </p:nvGrpSpPr>
        <p:grpSpPr bwMode="auto">
          <a:xfrm>
            <a:off x="903288" y="3111500"/>
            <a:ext cx="7580312" cy="3176588"/>
            <a:chOff x="417513" y="1463675"/>
            <a:chExt cx="8703470" cy="4338768"/>
          </a:xfrm>
        </p:grpSpPr>
        <p:sp>
          <p:nvSpPr>
            <p:cNvPr id="33797" name="Text Box 3"/>
            <p:cNvSpPr txBox="1">
              <a:spLocks noChangeArrowheads="1"/>
            </p:cNvSpPr>
            <p:nvPr/>
          </p:nvSpPr>
          <p:spPr bwMode="auto">
            <a:xfrm>
              <a:off x="2552700" y="1463675"/>
              <a:ext cx="3878114" cy="63066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0">
                  <a:solidFill>
                    <a:srgbClr val="002060"/>
                  </a:solidFill>
                </a:rPr>
                <a:t>All scheduling algorithms</a:t>
              </a:r>
            </a:p>
          </p:txBody>
        </p:sp>
        <p:sp>
          <p:nvSpPr>
            <p:cNvPr id="33798" name="Text Box 4"/>
            <p:cNvSpPr txBox="1">
              <a:spLocks noChangeArrowheads="1"/>
            </p:cNvSpPr>
            <p:nvPr/>
          </p:nvSpPr>
          <p:spPr bwMode="auto">
            <a:xfrm>
              <a:off x="417513" y="2717800"/>
              <a:ext cx="4077689" cy="113519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b="0">
                  <a:solidFill>
                    <a:srgbClr val="002060"/>
                  </a:solidFill>
                </a:rPr>
                <a:t>static scheduling</a:t>
              </a:r>
            </a:p>
            <a:p>
              <a:pPr algn="ctr" eaLnBrk="0" hangingPunct="0"/>
              <a:r>
                <a:rPr lang="en-US" b="0">
                  <a:solidFill>
                    <a:srgbClr val="002060"/>
                  </a:solidFill>
                </a:rPr>
                <a:t>(or offline, or clock driven)</a:t>
              </a:r>
            </a:p>
          </p:txBody>
        </p:sp>
        <p:sp>
          <p:nvSpPr>
            <p:cNvPr id="33799" name="Text Box 5"/>
            <p:cNvSpPr txBox="1">
              <a:spLocks noChangeArrowheads="1"/>
            </p:cNvSpPr>
            <p:nvPr/>
          </p:nvSpPr>
          <p:spPr bwMode="auto">
            <a:xfrm>
              <a:off x="4662488" y="2716212"/>
              <a:ext cx="4319813" cy="113519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b="0">
                  <a:solidFill>
                    <a:srgbClr val="002060"/>
                  </a:solidFill>
                </a:rPr>
                <a:t>dynamic scheduling</a:t>
              </a:r>
            </a:p>
            <a:p>
              <a:pPr algn="ctr" eaLnBrk="0" hangingPunct="0"/>
              <a:r>
                <a:rPr lang="en-US" b="0">
                  <a:solidFill>
                    <a:srgbClr val="002060"/>
                  </a:solidFill>
                </a:rPr>
                <a:t>(or online, or priority driven)</a:t>
              </a:r>
            </a:p>
          </p:txBody>
        </p:sp>
        <p:sp>
          <p:nvSpPr>
            <p:cNvPr id="33800" name="Text Box 6"/>
            <p:cNvSpPr txBox="1">
              <a:spLocks noChangeArrowheads="1"/>
            </p:cNvSpPr>
            <p:nvPr/>
          </p:nvSpPr>
          <p:spPr bwMode="auto">
            <a:xfrm>
              <a:off x="3894138" y="4667250"/>
              <a:ext cx="2131564" cy="113519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b="0">
                  <a:solidFill>
                    <a:srgbClr val="002060"/>
                  </a:solidFill>
                </a:rPr>
                <a:t>static-priority</a:t>
              </a:r>
            </a:p>
            <a:p>
              <a:pPr algn="ctr" eaLnBrk="0" hangingPunct="0"/>
              <a:r>
                <a:rPr lang="en-US" b="0">
                  <a:solidFill>
                    <a:srgbClr val="002060"/>
                  </a:solidFill>
                </a:rPr>
                <a:t>scheduling</a:t>
              </a:r>
            </a:p>
          </p:txBody>
        </p:sp>
        <p:sp>
          <p:nvSpPr>
            <p:cNvPr id="33801" name="Text Box 7"/>
            <p:cNvSpPr txBox="1">
              <a:spLocks noChangeArrowheads="1"/>
            </p:cNvSpPr>
            <p:nvPr/>
          </p:nvSpPr>
          <p:spPr bwMode="auto">
            <a:xfrm>
              <a:off x="6518274" y="4662488"/>
              <a:ext cx="2602709" cy="113519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b="0">
                  <a:solidFill>
                    <a:srgbClr val="002060"/>
                  </a:solidFill>
                </a:rPr>
                <a:t>dynamic-priority</a:t>
              </a:r>
            </a:p>
            <a:p>
              <a:pPr algn="ctr" eaLnBrk="0" hangingPunct="0"/>
              <a:r>
                <a:rPr lang="en-US" b="0">
                  <a:solidFill>
                    <a:srgbClr val="002060"/>
                  </a:solidFill>
                </a:rPr>
                <a:t>scheduling</a:t>
              </a:r>
            </a:p>
          </p:txBody>
        </p:sp>
        <p:sp>
          <p:nvSpPr>
            <p:cNvPr id="33802" name="Line 8"/>
            <p:cNvSpPr>
              <a:spLocks noChangeShapeType="1"/>
            </p:cNvSpPr>
            <p:nvPr/>
          </p:nvSpPr>
          <p:spPr bwMode="auto">
            <a:xfrm flipH="1">
              <a:off x="2413000" y="1905000"/>
              <a:ext cx="1558925" cy="8794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3" name="Line 9"/>
            <p:cNvSpPr>
              <a:spLocks noChangeShapeType="1"/>
            </p:cNvSpPr>
            <p:nvPr/>
          </p:nvSpPr>
          <p:spPr bwMode="auto">
            <a:xfrm>
              <a:off x="4822825" y="1905000"/>
              <a:ext cx="1443038" cy="8366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4" name="Line 10"/>
            <p:cNvSpPr>
              <a:spLocks noChangeShapeType="1"/>
            </p:cNvSpPr>
            <p:nvPr/>
          </p:nvSpPr>
          <p:spPr bwMode="auto">
            <a:xfrm flipH="1">
              <a:off x="5010150" y="3492500"/>
              <a:ext cx="1212850" cy="11826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5" name="Line 11"/>
            <p:cNvSpPr>
              <a:spLocks noChangeShapeType="1"/>
            </p:cNvSpPr>
            <p:nvPr/>
          </p:nvSpPr>
          <p:spPr bwMode="auto">
            <a:xfrm>
              <a:off x="6757988" y="3492500"/>
              <a:ext cx="1154112" cy="12430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Optimality and Feasibility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975" y="1471613"/>
            <a:ext cx="8269288" cy="4876800"/>
          </a:xfrm>
        </p:spPr>
        <p:txBody>
          <a:bodyPr/>
          <a:lstStyle/>
          <a:p>
            <a:r>
              <a:rPr lang="en-US" smtClean="0"/>
              <a:t>A schedule is </a:t>
            </a:r>
            <a:r>
              <a:rPr lang="en-US" b="1" smtClean="0">
                <a:solidFill>
                  <a:srgbClr val="CC0000"/>
                </a:solidFill>
              </a:rPr>
              <a:t>feasible</a:t>
            </a:r>
            <a:r>
              <a:rPr lang="en-US" smtClean="0"/>
              <a:t> if all timing constraints are met.</a:t>
            </a:r>
          </a:p>
          <a:p>
            <a:pPr lvl="2"/>
            <a:r>
              <a:rPr lang="en-US" smtClean="0"/>
              <a:t>term </a:t>
            </a:r>
            <a:r>
              <a:rPr lang="en-US" smtClean="0">
                <a:solidFill>
                  <a:schemeClr val="tx2"/>
                </a:solidFill>
              </a:rPr>
              <a:t>“correct”</a:t>
            </a:r>
            <a:r>
              <a:rPr lang="en-US" smtClean="0"/>
              <a:t> is probably better — see the next slide.</a:t>
            </a:r>
          </a:p>
          <a:p>
            <a:r>
              <a:rPr lang="en-US" smtClean="0"/>
              <a:t>A task set T is </a:t>
            </a:r>
            <a:r>
              <a:rPr lang="en-US" b="1" smtClean="0">
                <a:solidFill>
                  <a:srgbClr val="CC0000"/>
                </a:solidFill>
              </a:rPr>
              <a:t>schedulable</a:t>
            </a:r>
            <a:r>
              <a:rPr lang="en-US" smtClean="0"/>
              <a:t> using scheduling algorithm A if A always produces a feasible schedule for T.</a:t>
            </a:r>
          </a:p>
          <a:p>
            <a:r>
              <a:rPr lang="en-US" smtClean="0"/>
              <a:t>A scheduling algorithm is </a:t>
            </a:r>
            <a:r>
              <a:rPr lang="en-US" b="1" smtClean="0">
                <a:solidFill>
                  <a:srgbClr val="CC0000"/>
                </a:solidFill>
              </a:rPr>
              <a:t>optimal</a:t>
            </a:r>
            <a:r>
              <a:rPr lang="en-US" smtClean="0"/>
              <a:t> if it always produces a feasible schedule when one exists (under any scheduling algorithm).</a:t>
            </a:r>
          </a:p>
          <a:p>
            <a:pPr lvl="2"/>
            <a:r>
              <a:rPr lang="en-US" smtClean="0"/>
              <a:t>Can similarly define optimality for a class of schedulers, e.g., </a:t>
            </a:r>
            <a:r>
              <a:rPr lang="en-US" smtClean="0">
                <a:solidFill>
                  <a:schemeClr val="tx2"/>
                </a:solidFill>
              </a:rPr>
              <a:t>“an optimal static-priority scheduling algorithm.”</a:t>
            </a: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1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Feasibility versus Schedulability</a:t>
            </a:r>
          </a:p>
        </p:txBody>
      </p:sp>
      <p:sp>
        <p:nvSpPr>
          <p:cNvPr id="35843" name="Text Box 16"/>
          <p:cNvSpPr txBox="1">
            <a:spLocks noChangeArrowheads="1"/>
          </p:cNvSpPr>
          <p:nvPr/>
        </p:nvSpPr>
        <p:spPr bwMode="auto">
          <a:xfrm>
            <a:off x="6905625" y="5045075"/>
            <a:ext cx="217963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</a:rPr>
              <a:t>T</a:t>
            </a:r>
            <a:r>
              <a:rPr lang="en-US" b="0">
                <a:solidFill>
                  <a:schemeClr val="tx2"/>
                </a:solidFill>
              </a:rPr>
              <a:t> is schedulable</a:t>
            </a:r>
          </a:p>
        </p:txBody>
      </p:sp>
      <p:sp>
        <p:nvSpPr>
          <p:cNvPr id="35844" name="Text Box 22"/>
          <p:cNvSpPr txBox="1">
            <a:spLocks noChangeArrowheads="1"/>
          </p:cNvSpPr>
          <p:nvPr/>
        </p:nvSpPr>
        <p:spPr bwMode="auto">
          <a:xfrm>
            <a:off x="419100" y="1457325"/>
            <a:ext cx="8293100" cy="18272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en-US" b="0"/>
              <a:t>To most people in real-time community:</a:t>
            </a:r>
          </a:p>
          <a:p>
            <a:pPr eaLnBrk="0" hangingPunct="0"/>
            <a:r>
              <a:rPr lang="en-US" b="0"/>
              <a:t>	</a:t>
            </a:r>
            <a:r>
              <a:rPr lang="en-US">
                <a:solidFill>
                  <a:srgbClr val="CC0000"/>
                </a:solidFill>
              </a:rPr>
              <a:t>feasibility</a:t>
            </a:r>
            <a:r>
              <a:rPr lang="en-US" b="0"/>
              <a:t> </a:t>
            </a:r>
            <a:r>
              <a:rPr lang="en-US" b="0">
                <a:sym typeface="Wingdings" pitchFamily="2" charset="2"/>
              </a:rPr>
              <a:t></a:t>
            </a:r>
            <a:r>
              <a:rPr lang="en-US" b="0"/>
              <a:t> an </a:t>
            </a:r>
            <a:r>
              <a:rPr lang="en-US">
                <a:solidFill>
                  <a:srgbClr val="CC0000"/>
                </a:solidFill>
              </a:rPr>
              <a:t>exact</a:t>
            </a:r>
            <a:r>
              <a:rPr lang="en-US" b="0"/>
              <a:t> schedulability test</a:t>
            </a:r>
          </a:p>
          <a:p>
            <a:pPr eaLnBrk="0" hangingPunct="0"/>
            <a:r>
              <a:rPr lang="en-US" b="0"/>
              <a:t>	</a:t>
            </a:r>
            <a:r>
              <a:rPr lang="en-US">
                <a:solidFill>
                  <a:srgbClr val="CC0000"/>
                </a:solidFill>
              </a:rPr>
              <a:t>schedulability</a:t>
            </a:r>
            <a:r>
              <a:rPr lang="en-US" b="0"/>
              <a:t> </a:t>
            </a:r>
            <a:r>
              <a:rPr lang="en-US" b="0">
                <a:sym typeface="Wingdings" pitchFamily="2" charset="2"/>
              </a:rPr>
              <a:t></a:t>
            </a:r>
            <a:r>
              <a:rPr lang="en-US" b="0"/>
              <a:t> a </a:t>
            </a:r>
            <a:r>
              <a:rPr lang="en-US">
                <a:solidFill>
                  <a:srgbClr val="CC0000"/>
                </a:solidFill>
              </a:rPr>
              <a:t>sufficient</a:t>
            </a:r>
            <a:r>
              <a:rPr lang="en-US" b="0"/>
              <a:t> schedulability test.</a:t>
            </a:r>
          </a:p>
          <a:p>
            <a:pPr eaLnBrk="0" hangingPunct="0"/>
            <a:endParaRPr lang="en-US" sz="1800" b="0"/>
          </a:p>
          <a:p>
            <a:pPr eaLnBrk="0" hangingPunct="0">
              <a:buFont typeface="Wingdings" pitchFamily="2" charset="2"/>
              <a:buChar char="Ø"/>
            </a:pPr>
            <a:r>
              <a:rPr lang="en-US" b="0"/>
              <a:t> terms are used somewhat inconsistently in papers</a:t>
            </a:r>
          </a:p>
        </p:txBody>
      </p:sp>
      <p:grpSp>
        <p:nvGrpSpPr>
          <p:cNvPr id="35845" name="Group 29"/>
          <p:cNvGrpSpPr>
            <a:grpSpLocks/>
          </p:cNvGrpSpPr>
          <p:nvPr/>
        </p:nvGrpSpPr>
        <p:grpSpPr bwMode="auto">
          <a:xfrm>
            <a:off x="263525" y="3729038"/>
            <a:ext cx="8880475" cy="2506662"/>
            <a:chOff x="102" y="2175"/>
            <a:chExt cx="5594" cy="1579"/>
          </a:xfrm>
        </p:grpSpPr>
        <p:sp>
          <p:nvSpPr>
            <p:cNvPr id="35846" name="Text Box 4"/>
            <p:cNvSpPr txBox="1">
              <a:spLocks noChangeArrowheads="1"/>
            </p:cNvSpPr>
            <p:nvPr/>
          </p:nvSpPr>
          <p:spPr bwMode="auto">
            <a:xfrm>
              <a:off x="1638" y="2322"/>
              <a:ext cx="1759" cy="52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0"/>
                <a:t>Algorithm for</a:t>
              </a:r>
            </a:p>
            <a:p>
              <a:pPr eaLnBrk="0" hangingPunct="0"/>
              <a:r>
                <a:rPr lang="en-US" b="0"/>
                <a:t>Checking </a:t>
              </a:r>
              <a:r>
                <a:rPr lang="en-US"/>
                <a:t>Feasibility</a:t>
              </a:r>
              <a:endParaRPr lang="en-US" b="0"/>
            </a:p>
          </p:txBody>
        </p:sp>
        <p:sp>
          <p:nvSpPr>
            <p:cNvPr id="35847" name="Line 5"/>
            <p:cNvSpPr>
              <a:spLocks noChangeShapeType="1"/>
            </p:cNvSpPr>
            <p:nvPr/>
          </p:nvSpPr>
          <p:spPr bwMode="auto">
            <a:xfrm>
              <a:off x="3400" y="2416"/>
              <a:ext cx="6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8" name="Text Box 8"/>
            <p:cNvSpPr txBox="1">
              <a:spLocks noChangeArrowheads="1"/>
            </p:cNvSpPr>
            <p:nvPr/>
          </p:nvSpPr>
          <p:spPr bwMode="auto">
            <a:xfrm>
              <a:off x="102" y="2458"/>
              <a:ext cx="958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0">
                  <a:solidFill>
                    <a:schemeClr val="tx2"/>
                  </a:solidFill>
                </a:rPr>
                <a:t>Task Set </a:t>
              </a:r>
              <a:r>
                <a:rPr lang="en-US">
                  <a:solidFill>
                    <a:schemeClr val="tx2"/>
                  </a:solidFill>
                </a:rPr>
                <a:t>T</a:t>
              </a:r>
              <a:endParaRPr lang="en-US" b="0">
                <a:solidFill>
                  <a:schemeClr val="tx2"/>
                </a:solidFill>
              </a:endParaRPr>
            </a:p>
          </p:txBody>
        </p:sp>
        <p:sp>
          <p:nvSpPr>
            <p:cNvPr id="35849" name="Text Box 9"/>
            <p:cNvSpPr txBox="1">
              <a:spLocks noChangeArrowheads="1"/>
            </p:cNvSpPr>
            <p:nvPr/>
          </p:nvSpPr>
          <p:spPr bwMode="auto">
            <a:xfrm>
              <a:off x="4030" y="2274"/>
              <a:ext cx="1373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2"/>
                  </a:solidFill>
                </a:rPr>
                <a:t>T</a:t>
              </a:r>
              <a:r>
                <a:rPr lang="en-US" b="0">
                  <a:solidFill>
                    <a:schemeClr val="tx2"/>
                  </a:solidFill>
                </a:rPr>
                <a:t> is schedulable</a:t>
              </a:r>
            </a:p>
          </p:txBody>
        </p:sp>
        <p:sp>
          <p:nvSpPr>
            <p:cNvPr id="35850" name="Line 10"/>
            <p:cNvSpPr>
              <a:spLocks noChangeShapeType="1"/>
            </p:cNvSpPr>
            <p:nvPr/>
          </p:nvSpPr>
          <p:spPr bwMode="auto">
            <a:xfrm>
              <a:off x="1032" y="2600"/>
              <a:ext cx="6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Line 11"/>
            <p:cNvSpPr>
              <a:spLocks noChangeShapeType="1"/>
            </p:cNvSpPr>
            <p:nvPr/>
          </p:nvSpPr>
          <p:spPr bwMode="auto">
            <a:xfrm>
              <a:off x="3400" y="2728"/>
              <a:ext cx="6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Text Box 12"/>
            <p:cNvSpPr txBox="1">
              <a:spLocks noChangeArrowheads="1"/>
            </p:cNvSpPr>
            <p:nvPr/>
          </p:nvSpPr>
          <p:spPr bwMode="auto">
            <a:xfrm>
              <a:off x="4030" y="2586"/>
              <a:ext cx="166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>
                  <a:solidFill>
                    <a:schemeClr val="tx2"/>
                  </a:solidFill>
                </a:rPr>
                <a:t>T</a:t>
              </a:r>
              <a:r>
                <a:rPr lang="en-US" b="0">
                  <a:solidFill>
                    <a:schemeClr val="tx2"/>
                  </a:solidFill>
                </a:rPr>
                <a:t> is not schedulable</a:t>
              </a:r>
            </a:p>
          </p:txBody>
        </p:sp>
        <p:sp>
          <p:nvSpPr>
            <p:cNvPr id="35853" name="Text Box 13"/>
            <p:cNvSpPr txBox="1">
              <a:spLocks noChangeArrowheads="1"/>
            </p:cNvSpPr>
            <p:nvPr/>
          </p:nvSpPr>
          <p:spPr bwMode="auto">
            <a:xfrm>
              <a:off x="1638" y="3186"/>
              <a:ext cx="2080" cy="52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0"/>
                <a:t>Algorithm for</a:t>
              </a:r>
            </a:p>
            <a:p>
              <a:pPr eaLnBrk="0" hangingPunct="0"/>
              <a:r>
                <a:rPr lang="en-US" b="0"/>
                <a:t>Checking </a:t>
              </a:r>
              <a:r>
                <a:rPr lang="en-US"/>
                <a:t>Schedulability</a:t>
              </a:r>
              <a:endParaRPr lang="en-US" b="0"/>
            </a:p>
          </p:txBody>
        </p:sp>
        <p:sp>
          <p:nvSpPr>
            <p:cNvPr id="35854" name="Line 14"/>
            <p:cNvSpPr>
              <a:spLocks noChangeShapeType="1"/>
            </p:cNvSpPr>
            <p:nvPr/>
          </p:nvSpPr>
          <p:spPr bwMode="auto">
            <a:xfrm>
              <a:off x="3720" y="3320"/>
              <a:ext cx="6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Text Box 15"/>
            <p:cNvSpPr txBox="1">
              <a:spLocks noChangeArrowheads="1"/>
            </p:cNvSpPr>
            <p:nvPr/>
          </p:nvSpPr>
          <p:spPr bwMode="auto">
            <a:xfrm>
              <a:off x="102" y="3322"/>
              <a:ext cx="958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0">
                  <a:solidFill>
                    <a:schemeClr val="tx2"/>
                  </a:solidFill>
                </a:rPr>
                <a:t>Task Set </a:t>
              </a:r>
              <a:r>
                <a:rPr lang="en-US">
                  <a:solidFill>
                    <a:schemeClr val="tx2"/>
                  </a:solidFill>
                </a:rPr>
                <a:t>T</a:t>
              </a:r>
              <a:endParaRPr lang="en-US" b="0">
                <a:solidFill>
                  <a:schemeClr val="tx2"/>
                </a:solidFill>
              </a:endParaRPr>
            </a:p>
          </p:txBody>
        </p:sp>
        <p:sp>
          <p:nvSpPr>
            <p:cNvPr id="35856" name="Line 17"/>
            <p:cNvSpPr>
              <a:spLocks noChangeShapeType="1"/>
            </p:cNvSpPr>
            <p:nvPr/>
          </p:nvSpPr>
          <p:spPr bwMode="auto">
            <a:xfrm>
              <a:off x="1032" y="3464"/>
              <a:ext cx="6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7" name="Text Box 23"/>
            <p:cNvSpPr txBox="1">
              <a:spLocks noChangeArrowheads="1"/>
            </p:cNvSpPr>
            <p:nvPr/>
          </p:nvSpPr>
          <p:spPr bwMode="auto">
            <a:xfrm>
              <a:off x="3458" y="2175"/>
              <a:ext cx="329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0">
                  <a:solidFill>
                    <a:srgbClr val="CC0000"/>
                  </a:solidFill>
                </a:rPr>
                <a:t>yes</a:t>
              </a:r>
            </a:p>
          </p:txBody>
        </p:sp>
        <p:sp>
          <p:nvSpPr>
            <p:cNvPr id="35858" name="Text Box 24"/>
            <p:cNvSpPr txBox="1">
              <a:spLocks noChangeArrowheads="1"/>
            </p:cNvSpPr>
            <p:nvPr/>
          </p:nvSpPr>
          <p:spPr bwMode="auto">
            <a:xfrm>
              <a:off x="3464" y="2499"/>
              <a:ext cx="27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0">
                  <a:solidFill>
                    <a:srgbClr val="CC0000"/>
                  </a:solidFill>
                </a:rPr>
                <a:t>no</a:t>
              </a:r>
            </a:p>
          </p:txBody>
        </p:sp>
        <p:sp>
          <p:nvSpPr>
            <p:cNvPr id="35859" name="Text Box 25"/>
            <p:cNvSpPr txBox="1">
              <a:spLocks noChangeArrowheads="1"/>
            </p:cNvSpPr>
            <p:nvPr/>
          </p:nvSpPr>
          <p:spPr bwMode="auto">
            <a:xfrm>
              <a:off x="3770" y="3081"/>
              <a:ext cx="329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0">
                  <a:solidFill>
                    <a:srgbClr val="CC0000"/>
                  </a:solidFill>
                </a:rPr>
                <a:t>yes</a:t>
              </a:r>
            </a:p>
          </p:txBody>
        </p:sp>
        <p:sp>
          <p:nvSpPr>
            <p:cNvPr id="35860" name="Line 26"/>
            <p:cNvSpPr>
              <a:spLocks noChangeShapeType="1"/>
            </p:cNvSpPr>
            <p:nvPr/>
          </p:nvSpPr>
          <p:spPr bwMode="auto">
            <a:xfrm>
              <a:off x="3728" y="3608"/>
              <a:ext cx="6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1" name="Text Box 27"/>
            <p:cNvSpPr txBox="1">
              <a:spLocks noChangeArrowheads="1"/>
            </p:cNvSpPr>
            <p:nvPr/>
          </p:nvSpPr>
          <p:spPr bwMode="auto">
            <a:xfrm>
              <a:off x="4358" y="3466"/>
              <a:ext cx="99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b="0">
                  <a:solidFill>
                    <a:schemeClr val="tx2"/>
                  </a:solidFill>
                </a:rPr>
                <a:t>don’t know</a:t>
              </a:r>
            </a:p>
          </p:txBody>
        </p:sp>
        <p:sp>
          <p:nvSpPr>
            <p:cNvPr id="35862" name="Text Box 28"/>
            <p:cNvSpPr txBox="1">
              <a:spLocks noChangeArrowheads="1"/>
            </p:cNvSpPr>
            <p:nvPr/>
          </p:nvSpPr>
          <p:spPr bwMode="auto">
            <a:xfrm>
              <a:off x="3776" y="3403"/>
              <a:ext cx="27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0">
                  <a:solidFill>
                    <a:srgbClr val="CC0000"/>
                  </a:solidFill>
                </a:rPr>
                <a:t>no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Automotive Control Systems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Type of NCS/CPS with hard+soft real-time deadlines (hybrid)</a:t>
            </a:r>
          </a:p>
          <a:p>
            <a:pPr lvl="1"/>
            <a:r>
              <a:rPr lang="en-US" smtClean="0"/>
              <a:t>Engine/drive control</a:t>
            </a:r>
          </a:p>
          <a:p>
            <a:pPr lvl="1"/>
            <a:r>
              <a:rPr lang="en-US" smtClean="0"/>
              <a:t>Safety systems</a:t>
            </a:r>
          </a:p>
          <a:p>
            <a:pPr lvl="1"/>
            <a:r>
              <a:rPr lang="en-US" smtClean="0"/>
              <a:t>Driver assist systems</a:t>
            </a:r>
          </a:p>
          <a:p>
            <a:pPr lvl="1"/>
            <a:r>
              <a:rPr lang="en-US" smtClean="0"/>
              <a:t>Entertainment systems</a:t>
            </a:r>
          </a:p>
          <a:p>
            <a:pPr lvl="1"/>
            <a:r>
              <a:rPr lang="en-US" smtClean="0"/>
              <a:t>Security systems?</a:t>
            </a:r>
          </a:p>
          <a:p>
            <a:pPr lvl="2"/>
            <a:r>
              <a:rPr lang="en-US" smtClean="0"/>
              <a:t>Theft control </a:t>
            </a:r>
            <a:r>
              <a:rPr lang="en-US" smtClean="0">
                <a:sym typeface="Wingdings" pitchFamily="2" charset="2"/>
              </a:rPr>
              <a:t> common</a:t>
            </a:r>
          </a:p>
          <a:p>
            <a:pPr lvl="2"/>
            <a:r>
              <a:rPr lang="en-US" smtClean="0">
                <a:sym typeface="Wingdings" pitchFamily="2" charset="2"/>
              </a:rPr>
              <a:t>Cyber-physical security  rare</a:t>
            </a:r>
            <a:endParaRPr lang="en-US" smtClean="0"/>
          </a:p>
          <a:p>
            <a:endParaRPr lang="en-US" smtClean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Automotive Sensor, Actuators, Networks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37892" name="Picture 2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541338" y="1574800"/>
            <a:ext cx="7196137" cy="504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3" name="TextBox 4"/>
          <p:cNvSpPr txBox="1">
            <a:spLocks noChangeArrowheads="1"/>
          </p:cNvSpPr>
          <p:nvPr/>
        </p:nvSpPr>
        <p:spPr bwMode="auto">
          <a:xfrm>
            <a:off x="5049838" y="1476375"/>
            <a:ext cx="3952875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800"/>
              <a:t> Control Area Network</a:t>
            </a:r>
          </a:p>
          <a:p>
            <a:pPr>
              <a:buFont typeface="Arial" pitchFamily="34" charset="0"/>
              <a:buChar char="•"/>
            </a:pPr>
            <a:r>
              <a:rPr lang="en-US" sz="1800"/>
              <a:t> Vehicle Area Network</a:t>
            </a:r>
          </a:p>
          <a:p>
            <a:pPr>
              <a:buFont typeface="Arial" pitchFamily="34" charset="0"/>
              <a:buChar char="•"/>
            </a:pPr>
            <a:r>
              <a:rPr lang="en-US" sz="1800"/>
              <a:t> Local Interconnected Network</a:t>
            </a:r>
          </a:p>
          <a:p>
            <a:pPr>
              <a:buFont typeface="Arial" pitchFamily="34" charset="0"/>
              <a:buChar char="•"/>
            </a:pPr>
            <a:r>
              <a:rPr lang="en-US" sz="1800"/>
              <a:t> Media Oriented System Transport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100" smtClean="0"/>
              <a:t>The Automotive Electronic Design Chain</a:t>
            </a:r>
          </a:p>
        </p:txBody>
      </p:sp>
      <p:sp>
        <p:nvSpPr>
          <p:cNvPr id="38915" name="Content Placeholder 2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>
                <a:solidFill>
                  <a:srgbClr val="FF0000"/>
                </a:solidFill>
              </a:rPr>
              <a:t>Manufacturers become integrators</a:t>
            </a:r>
          </a:p>
        </p:txBody>
      </p:sp>
      <p:sp>
        <p:nvSpPr>
          <p:cNvPr id="175107" name="Rectangle 3"/>
          <p:cNvSpPr>
            <a:spLocks noChangeArrowheads="1"/>
          </p:cNvSpPr>
          <p:nvPr/>
        </p:nvSpPr>
        <p:spPr bwMode="auto">
          <a:xfrm>
            <a:off x="1905000" y="2139950"/>
            <a:ext cx="2971800" cy="914400"/>
          </a:xfrm>
          <a:prstGeom prst="rect">
            <a:avLst/>
          </a:prstGeom>
          <a:solidFill>
            <a:srgbClr val="FF66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B2B2B2"/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>
                <a:latin typeface="Comic Sans MS" pitchFamily="66" charset="0"/>
                <a:ea typeface="MS PGothic" pitchFamily="34" charset="-128"/>
              </a:rPr>
              <a:t>Product Definition</a:t>
            </a:r>
          </a:p>
        </p:txBody>
      </p:sp>
      <p:sp>
        <p:nvSpPr>
          <p:cNvPr id="175108" name="Rectangle 4"/>
          <p:cNvSpPr>
            <a:spLocks noChangeArrowheads="1"/>
          </p:cNvSpPr>
          <p:nvPr/>
        </p:nvSpPr>
        <p:spPr bwMode="auto">
          <a:xfrm>
            <a:off x="6781800" y="4046538"/>
            <a:ext cx="2209800" cy="7239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B2B2B2"/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>
                <a:latin typeface="Comic Sans MS" pitchFamily="66" charset="0"/>
                <a:ea typeface="MS PGothic" pitchFamily="34" charset="-128"/>
              </a:rPr>
              <a:t>IP</a:t>
            </a:r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1981200" y="3968750"/>
            <a:ext cx="3124200" cy="6858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B2B2B2"/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>
                <a:latin typeface="Comic Sans MS" pitchFamily="66" charset="0"/>
                <a:ea typeface="MS PGothic" pitchFamily="34" charset="-128"/>
              </a:rPr>
              <a:t>Design And Assembly</a:t>
            </a:r>
          </a:p>
        </p:txBody>
      </p:sp>
      <p:sp>
        <p:nvSpPr>
          <p:cNvPr id="175111" name="AutoShape 7"/>
          <p:cNvSpPr>
            <a:spLocks noChangeArrowheads="1"/>
          </p:cNvSpPr>
          <p:nvPr/>
        </p:nvSpPr>
        <p:spPr bwMode="auto">
          <a:xfrm>
            <a:off x="3241675" y="3170238"/>
            <a:ext cx="533400" cy="685800"/>
          </a:xfrm>
          <a:prstGeom prst="upDownArrow">
            <a:avLst>
              <a:gd name="adj1" fmla="val 50000"/>
              <a:gd name="adj2" fmla="val 25714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B2B2B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75113" name="AutoShape 9"/>
          <p:cNvSpPr>
            <a:spLocks noChangeArrowheads="1"/>
          </p:cNvSpPr>
          <p:nvPr/>
        </p:nvSpPr>
        <p:spPr bwMode="auto">
          <a:xfrm rot="-5400000">
            <a:off x="5611019" y="3767931"/>
            <a:ext cx="533400" cy="1392238"/>
          </a:xfrm>
          <a:prstGeom prst="upDownArrow">
            <a:avLst>
              <a:gd name="adj1" fmla="val 50000"/>
              <a:gd name="adj2" fmla="val 52202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B2B2B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8921" name="Text Box 10"/>
          <p:cNvSpPr txBox="1">
            <a:spLocks noChangeArrowheads="1"/>
          </p:cNvSpPr>
          <p:nvPr/>
        </p:nvSpPr>
        <p:spPr bwMode="auto">
          <a:xfrm>
            <a:off x="1752600" y="3282950"/>
            <a:ext cx="1589088" cy="420688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Comic Sans MS" pitchFamily="66" charset="0"/>
                <a:ea typeface="MS PGothic" pitchFamily="34" charset="-128"/>
              </a:rPr>
              <a:t>Platforms</a:t>
            </a:r>
          </a:p>
        </p:txBody>
      </p:sp>
      <p:sp>
        <p:nvSpPr>
          <p:cNvPr id="38922" name="Text Box 12"/>
          <p:cNvSpPr txBox="1">
            <a:spLocks noChangeArrowheads="1"/>
          </p:cNvSpPr>
          <p:nvPr/>
        </p:nvSpPr>
        <p:spPr bwMode="auto">
          <a:xfrm>
            <a:off x="5181600" y="4738688"/>
            <a:ext cx="1770063" cy="420687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Comic Sans MS" pitchFamily="66" charset="0"/>
                <a:ea typeface="MS PGothic" pitchFamily="34" charset="-128"/>
              </a:rPr>
              <a:t>Interfaces</a:t>
            </a:r>
          </a:p>
        </p:txBody>
      </p:sp>
      <p:grpSp>
        <p:nvGrpSpPr>
          <p:cNvPr id="38923" name="Group 13"/>
          <p:cNvGrpSpPr>
            <a:grpSpLocks/>
          </p:cNvGrpSpPr>
          <p:nvPr/>
        </p:nvGrpSpPr>
        <p:grpSpPr bwMode="auto">
          <a:xfrm>
            <a:off x="5519738" y="2063750"/>
            <a:ext cx="3395662" cy="1028700"/>
            <a:chOff x="3477" y="1152"/>
            <a:chExt cx="2139" cy="648"/>
          </a:xfrm>
        </p:grpSpPr>
        <p:pic>
          <p:nvPicPr>
            <p:cNvPr id="38938" name="Picture 14" descr="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00" y="1296"/>
              <a:ext cx="816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8939" name="Group 15"/>
            <p:cNvGrpSpPr>
              <a:grpSpLocks/>
            </p:cNvGrpSpPr>
            <p:nvPr/>
          </p:nvGrpSpPr>
          <p:grpSpPr bwMode="auto">
            <a:xfrm>
              <a:off x="3477" y="1152"/>
              <a:ext cx="1287" cy="648"/>
              <a:chOff x="3477" y="1152"/>
              <a:chExt cx="1287" cy="648"/>
            </a:xfrm>
          </p:grpSpPr>
          <p:pic>
            <p:nvPicPr>
              <p:cNvPr id="38940" name="Picture 16" descr="bmw_logo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477" y="1152"/>
                <a:ext cx="648" cy="6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8941" name="Picture 17" descr="ford_logo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4260" y="1205"/>
                <a:ext cx="504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38924" name="Group 18"/>
          <p:cNvGrpSpPr>
            <a:grpSpLocks/>
          </p:cNvGrpSpPr>
          <p:nvPr/>
        </p:nvGrpSpPr>
        <p:grpSpPr bwMode="auto">
          <a:xfrm>
            <a:off x="0" y="2979738"/>
            <a:ext cx="1603375" cy="2359025"/>
            <a:chOff x="0" y="1729"/>
            <a:chExt cx="1010" cy="1486"/>
          </a:xfrm>
        </p:grpSpPr>
        <p:pic>
          <p:nvPicPr>
            <p:cNvPr id="38934" name="Picture 19" descr="go_glob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0" y="1729"/>
              <a:ext cx="906" cy="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8935" name="Group 20"/>
            <p:cNvGrpSpPr>
              <a:grpSpLocks/>
            </p:cNvGrpSpPr>
            <p:nvPr/>
          </p:nvGrpSpPr>
          <p:grpSpPr bwMode="auto">
            <a:xfrm>
              <a:off x="145" y="2256"/>
              <a:ext cx="865" cy="959"/>
              <a:chOff x="145" y="2256"/>
              <a:chExt cx="865" cy="959"/>
            </a:xfrm>
          </p:grpSpPr>
          <p:pic>
            <p:nvPicPr>
              <p:cNvPr id="38936" name="Picture 21" descr="bosh_logo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145" y="2256"/>
                <a:ext cx="865" cy="2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8937" name="Picture 22" descr="marelli_logo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146" y="2712"/>
                <a:ext cx="864" cy="5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grpSp>
        <p:nvGrpSpPr>
          <p:cNvPr id="38925" name="Group 23"/>
          <p:cNvGrpSpPr>
            <a:grpSpLocks/>
          </p:cNvGrpSpPr>
          <p:nvPr/>
        </p:nvGrpSpPr>
        <p:grpSpPr bwMode="auto">
          <a:xfrm>
            <a:off x="6013450" y="4922838"/>
            <a:ext cx="3130550" cy="1503362"/>
            <a:chOff x="3788" y="2953"/>
            <a:chExt cx="1972" cy="947"/>
          </a:xfrm>
        </p:grpSpPr>
        <p:pic>
          <p:nvPicPr>
            <p:cNvPr id="38926" name="Picture 24" descr="logo_01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788" y="3086"/>
              <a:ext cx="1179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8927" name="Group 25"/>
            <p:cNvGrpSpPr>
              <a:grpSpLocks/>
            </p:cNvGrpSpPr>
            <p:nvPr/>
          </p:nvGrpSpPr>
          <p:grpSpPr bwMode="auto">
            <a:xfrm>
              <a:off x="4455" y="2953"/>
              <a:ext cx="1248" cy="681"/>
              <a:chOff x="4455" y="2953"/>
              <a:chExt cx="1248" cy="681"/>
            </a:xfrm>
          </p:grpSpPr>
          <p:grpSp>
            <p:nvGrpSpPr>
              <p:cNvPr id="38929" name="Group 26"/>
              <p:cNvGrpSpPr>
                <a:grpSpLocks/>
              </p:cNvGrpSpPr>
              <p:nvPr/>
            </p:nvGrpSpPr>
            <p:grpSpPr bwMode="auto">
              <a:xfrm>
                <a:off x="5079" y="2953"/>
                <a:ext cx="480" cy="288"/>
                <a:chOff x="4421" y="3073"/>
                <a:chExt cx="592" cy="349"/>
              </a:xfrm>
            </p:grpSpPr>
            <p:sp>
              <p:nvSpPr>
                <p:cNvPr id="38931" name="Freeform 27"/>
                <p:cNvSpPr>
                  <a:spLocks/>
                </p:cNvSpPr>
                <p:nvPr/>
              </p:nvSpPr>
              <p:spPr bwMode="auto">
                <a:xfrm>
                  <a:off x="4769" y="3181"/>
                  <a:ext cx="194" cy="241"/>
                </a:xfrm>
                <a:custGeom>
                  <a:avLst/>
                  <a:gdLst>
                    <a:gd name="T0" fmla="*/ 3 w 388"/>
                    <a:gd name="T1" fmla="*/ 0 h 484"/>
                    <a:gd name="T2" fmla="*/ 2 w 388"/>
                    <a:gd name="T3" fmla="*/ 0 h 484"/>
                    <a:gd name="T4" fmla="*/ 0 w 388"/>
                    <a:gd name="T5" fmla="*/ 3 h 484"/>
                    <a:gd name="T6" fmla="*/ 2 w 388"/>
                    <a:gd name="T7" fmla="*/ 3 h 484"/>
                    <a:gd name="T8" fmla="*/ 3 w 388"/>
                    <a:gd name="T9" fmla="*/ 0 h 4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8"/>
                    <a:gd name="T16" fmla="*/ 0 h 484"/>
                    <a:gd name="T17" fmla="*/ 388 w 388"/>
                    <a:gd name="T18" fmla="*/ 484 h 4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8" h="484">
                      <a:moveTo>
                        <a:pt x="388" y="0"/>
                      </a:moveTo>
                      <a:lnTo>
                        <a:pt x="206" y="0"/>
                      </a:lnTo>
                      <a:lnTo>
                        <a:pt x="0" y="484"/>
                      </a:lnTo>
                      <a:lnTo>
                        <a:pt x="182" y="484"/>
                      </a:lnTo>
                      <a:lnTo>
                        <a:pt x="388" y="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 w="1651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2" name="Freeform 28"/>
                <p:cNvSpPr>
                  <a:spLocks/>
                </p:cNvSpPr>
                <p:nvPr/>
              </p:nvSpPr>
              <p:spPr bwMode="auto">
                <a:xfrm>
                  <a:off x="4592" y="3181"/>
                  <a:ext cx="195" cy="241"/>
                </a:xfrm>
                <a:custGeom>
                  <a:avLst/>
                  <a:gdLst>
                    <a:gd name="T0" fmla="*/ 3 w 392"/>
                    <a:gd name="T1" fmla="*/ 0 h 484"/>
                    <a:gd name="T2" fmla="*/ 0 w 392"/>
                    <a:gd name="T3" fmla="*/ 0 h 484"/>
                    <a:gd name="T4" fmla="*/ 0 w 392"/>
                    <a:gd name="T5" fmla="*/ 0 h 484"/>
                    <a:gd name="T6" fmla="*/ 0 w 392"/>
                    <a:gd name="T7" fmla="*/ 0 h 484"/>
                    <a:gd name="T8" fmla="*/ 0 w 392"/>
                    <a:gd name="T9" fmla="*/ 0 h 484"/>
                    <a:gd name="T10" fmla="*/ 0 w 392"/>
                    <a:gd name="T11" fmla="*/ 0 h 484"/>
                    <a:gd name="T12" fmla="*/ 0 w 392"/>
                    <a:gd name="T13" fmla="*/ 0 h 484"/>
                    <a:gd name="T14" fmla="*/ 0 w 392"/>
                    <a:gd name="T15" fmla="*/ 0 h 484"/>
                    <a:gd name="T16" fmla="*/ 0 w 392"/>
                    <a:gd name="T17" fmla="*/ 0 h 484"/>
                    <a:gd name="T18" fmla="*/ 1 w 392"/>
                    <a:gd name="T19" fmla="*/ 1 h 484"/>
                    <a:gd name="T20" fmla="*/ 1 w 392"/>
                    <a:gd name="T21" fmla="*/ 2 h 484"/>
                    <a:gd name="T22" fmla="*/ 1 w 392"/>
                    <a:gd name="T23" fmla="*/ 2 h 484"/>
                    <a:gd name="T24" fmla="*/ 1 w 392"/>
                    <a:gd name="T25" fmla="*/ 2 h 484"/>
                    <a:gd name="T26" fmla="*/ 1 w 392"/>
                    <a:gd name="T27" fmla="*/ 2 h 484"/>
                    <a:gd name="T28" fmla="*/ 1 w 392"/>
                    <a:gd name="T29" fmla="*/ 2 h 484"/>
                    <a:gd name="T30" fmla="*/ 1 w 392"/>
                    <a:gd name="T31" fmla="*/ 2 h 484"/>
                    <a:gd name="T32" fmla="*/ 1 w 392"/>
                    <a:gd name="T33" fmla="*/ 2 h 484"/>
                    <a:gd name="T34" fmla="*/ 1 w 392"/>
                    <a:gd name="T35" fmla="*/ 3 h 484"/>
                    <a:gd name="T36" fmla="*/ 1 w 392"/>
                    <a:gd name="T37" fmla="*/ 3 h 484"/>
                    <a:gd name="T38" fmla="*/ 1 w 392"/>
                    <a:gd name="T39" fmla="*/ 3 h 484"/>
                    <a:gd name="T40" fmla="*/ 1 w 392"/>
                    <a:gd name="T41" fmla="*/ 3 h 484"/>
                    <a:gd name="T42" fmla="*/ 0 w 392"/>
                    <a:gd name="T43" fmla="*/ 3 h 484"/>
                    <a:gd name="T44" fmla="*/ 1 w 392"/>
                    <a:gd name="T45" fmla="*/ 3 h 484"/>
                    <a:gd name="T46" fmla="*/ 3 w 392"/>
                    <a:gd name="T47" fmla="*/ 0 h 484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392"/>
                    <a:gd name="T73" fmla="*/ 0 h 484"/>
                    <a:gd name="T74" fmla="*/ 392 w 392"/>
                    <a:gd name="T75" fmla="*/ 484 h 484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392" h="484">
                      <a:moveTo>
                        <a:pt x="392" y="0"/>
                      </a:moveTo>
                      <a:lnTo>
                        <a:pt x="42" y="0"/>
                      </a:lnTo>
                      <a:lnTo>
                        <a:pt x="31" y="3"/>
                      </a:lnTo>
                      <a:lnTo>
                        <a:pt x="18" y="11"/>
                      </a:lnTo>
                      <a:lnTo>
                        <a:pt x="10" y="21"/>
                      </a:lnTo>
                      <a:lnTo>
                        <a:pt x="0" y="36"/>
                      </a:lnTo>
                      <a:lnTo>
                        <a:pt x="0" y="42"/>
                      </a:lnTo>
                      <a:lnTo>
                        <a:pt x="4" y="54"/>
                      </a:lnTo>
                      <a:lnTo>
                        <a:pt x="20" y="76"/>
                      </a:lnTo>
                      <a:lnTo>
                        <a:pt x="202" y="249"/>
                      </a:lnTo>
                      <a:lnTo>
                        <a:pt x="213" y="265"/>
                      </a:lnTo>
                      <a:lnTo>
                        <a:pt x="222" y="284"/>
                      </a:lnTo>
                      <a:lnTo>
                        <a:pt x="224" y="294"/>
                      </a:lnTo>
                      <a:lnTo>
                        <a:pt x="232" y="302"/>
                      </a:lnTo>
                      <a:lnTo>
                        <a:pt x="233" y="325"/>
                      </a:lnTo>
                      <a:lnTo>
                        <a:pt x="233" y="346"/>
                      </a:lnTo>
                      <a:lnTo>
                        <a:pt x="232" y="372"/>
                      </a:lnTo>
                      <a:lnTo>
                        <a:pt x="222" y="393"/>
                      </a:lnTo>
                      <a:lnTo>
                        <a:pt x="210" y="426"/>
                      </a:lnTo>
                      <a:lnTo>
                        <a:pt x="191" y="446"/>
                      </a:lnTo>
                      <a:lnTo>
                        <a:pt x="168" y="464"/>
                      </a:lnTo>
                      <a:lnTo>
                        <a:pt x="122" y="484"/>
                      </a:lnTo>
                      <a:lnTo>
                        <a:pt x="202" y="484"/>
                      </a:lnTo>
                      <a:lnTo>
                        <a:pt x="392" y="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 w="1651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3" name="Freeform 29"/>
                <p:cNvSpPr>
                  <a:spLocks/>
                </p:cNvSpPr>
                <p:nvPr/>
              </p:nvSpPr>
              <p:spPr bwMode="auto">
                <a:xfrm>
                  <a:off x="4421" y="3073"/>
                  <a:ext cx="592" cy="291"/>
                </a:xfrm>
                <a:custGeom>
                  <a:avLst/>
                  <a:gdLst>
                    <a:gd name="T0" fmla="*/ 2 w 1185"/>
                    <a:gd name="T1" fmla="*/ 0 h 582"/>
                    <a:gd name="T2" fmla="*/ 9 w 1185"/>
                    <a:gd name="T3" fmla="*/ 0 h 582"/>
                    <a:gd name="T4" fmla="*/ 8 w 1185"/>
                    <a:gd name="T5" fmla="*/ 1 h 582"/>
                    <a:gd name="T6" fmla="*/ 3 w 1185"/>
                    <a:gd name="T7" fmla="*/ 1 h 582"/>
                    <a:gd name="T8" fmla="*/ 2 w 1185"/>
                    <a:gd name="T9" fmla="*/ 1 h 582"/>
                    <a:gd name="T10" fmla="*/ 2 w 1185"/>
                    <a:gd name="T11" fmla="*/ 1 h 582"/>
                    <a:gd name="T12" fmla="*/ 2 w 1185"/>
                    <a:gd name="T13" fmla="*/ 1 h 582"/>
                    <a:gd name="T14" fmla="*/ 2 w 1185"/>
                    <a:gd name="T15" fmla="*/ 1 h 582"/>
                    <a:gd name="T16" fmla="*/ 2 w 1185"/>
                    <a:gd name="T17" fmla="*/ 1 h 582"/>
                    <a:gd name="T18" fmla="*/ 2 w 1185"/>
                    <a:gd name="T19" fmla="*/ 1 h 582"/>
                    <a:gd name="T20" fmla="*/ 1 w 1185"/>
                    <a:gd name="T21" fmla="*/ 1 h 582"/>
                    <a:gd name="T22" fmla="*/ 1 w 1185"/>
                    <a:gd name="T23" fmla="*/ 1 h 582"/>
                    <a:gd name="T24" fmla="*/ 1 w 1185"/>
                    <a:gd name="T25" fmla="*/ 1 h 582"/>
                    <a:gd name="T26" fmla="*/ 1 w 1185"/>
                    <a:gd name="T27" fmla="*/ 1 h 582"/>
                    <a:gd name="T28" fmla="*/ 1 w 1185"/>
                    <a:gd name="T29" fmla="*/ 1 h 582"/>
                    <a:gd name="T30" fmla="*/ 1 w 1185"/>
                    <a:gd name="T31" fmla="*/ 1 h 582"/>
                    <a:gd name="T32" fmla="*/ 1 w 1185"/>
                    <a:gd name="T33" fmla="*/ 2 h 582"/>
                    <a:gd name="T34" fmla="*/ 1 w 1185"/>
                    <a:gd name="T35" fmla="*/ 2 h 582"/>
                    <a:gd name="T36" fmla="*/ 1 w 1185"/>
                    <a:gd name="T37" fmla="*/ 2 h 582"/>
                    <a:gd name="T38" fmla="*/ 1 w 1185"/>
                    <a:gd name="T39" fmla="*/ 2 h 582"/>
                    <a:gd name="T40" fmla="*/ 1 w 1185"/>
                    <a:gd name="T41" fmla="*/ 2 h 582"/>
                    <a:gd name="T42" fmla="*/ 3 w 1185"/>
                    <a:gd name="T43" fmla="*/ 3 h 582"/>
                    <a:gd name="T44" fmla="*/ 3 w 1185"/>
                    <a:gd name="T45" fmla="*/ 3 h 582"/>
                    <a:gd name="T46" fmla="*/ 3 w 1185"/>
                    <a:gd name="T47" fmla="*/ 5 h 582"/>
                    <a:gd name="T48" fmla="*/ 3 w 1185"/>
                    <a:gd name="T49" fmla="*/ 5 h 582"/>
                    <a:gd name="T50" fmla="*/ 3 w 1185"/>
                    <a:gd name="T51" fmla="*/ 5 h 582"/>
                    <a:gd name="T52" fmla="*/ 3 w 1185"/>
                    <a:gd name="T53" fmla="*/ 5 h 582"/>
                    <a:gd name="T54" fmla="*/ 3 w 1185"/>
                    <a:gd name="T55" fmla="*/ 5 h 582"/>
                    <a:gd name="T56" fmla="*/ 2 w 1185"/>
                    <a:gd name="T57" fmla="*/ 5 h 582"/>
                    <a:gd name="T58" fmla="*/ 2 w 1185"/>
                    <a:gd name="T59" fmla="*/ 5 h 582"/>
                    <a:gd name="T60" fmla="*/ 0 w 1185"/>
                    <a:gd name="T61" fmla="*/ 5 h 582"/>
                    <a:gd name="T62" fmla="*/ 2 w 1185"/>
                    <a:gd name="T63" fmla="*/ 0 h 582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1185"/>
                    <a:gd name="T97" fmla="*/ 0 h 582"/>
                    <a:gd name="T98" fmla="*/ 1185 w 1185"/>
                    <a:gd name="T99" fmla="*/ 582 h 582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1185" h="582">
                      <a:moveTo>
                        <a:pt x="261" y="0"/>
                      </a:moveTo>
                      <a:lnTo>
                        <a:pt x="1185" y="0"/>
                      </a:lnTo>
                      <a:lnTo>
                        <a:pt x="1137" y="98"/>
                      </a:lnTo>
                      <a:lnTo>
                        <a:pt x="384" y="98"/>
                      </a:lnTo>
                      <a:lnTo>
                        <a:pt x="362" y="98"/>
                      </a:lnTo>
                      <a:lnTo>
                        <a:pt x="330" y="98"/>
                      </a:lnTo>
                      <a:lnTo>
                        <a:pt x="303" y="104"/>
                      </a:lnTo>
                      <a:lnTo>
                        <a:pt x="288" y="112"/>
                      </a:lnTo>
                      <a:lnTo>
                        <a:pt x="274" y="118"/>
                      </a:lnTo>
                      <a:lnTo>
                        <a:pt x="258" y="126"/>
                      </a:lnTo>
                      <a:lnTo>
                        <a:pt x="240" y="142"/>
                      </a:lnTo>
                      <a:lnTo>
                        <a:pt x="227" y="150"/>
                      </a:lnTo>
                      <a:lnTo>
                        <a:pt x="216" y="164"/>
                      </a:lnTo>
                      <a:lnTo>
                        <a:pt x="201" y="180"/>
                      </a:lnTo>
                      <a:lnTo>
                        <a:pt x="193" y="202"/>
                      </a:lnTo>
                      <a:lnTo>
                        <a:pt x="182" y="227"/>
                      </a:lnTo>
                      <a:lnTo>
                        <a:pt x="182" y="257"/>
                      </a:lnTo>
                      <a:lnTo>
                        <a:pt x="184" y="270"/>
                      </a:lnTo>
                      <a:lnTo>
                        <a:pt x="190" y="292"/>
                      </a:lnTo>
                      <a:lnTo>
                        <a:pt x="205" y="326"/>
                      </a:lnTo>
                      <a:lnTo>
                        <a:pt x="227" y="354"/>
                      </a:lnTo>
                      <a:lnTo>
                        <a:pt x="384" y="497"/>
                      </a:lnTo>
                      <a:lnTo>
                        <a:pt x="395" y="508"/>
                      </a:lnTo>
                      <a:lnTo>
                        <a:pt x="402" y="519"/>
                      </a:lnTo>
                      <a:lnTo>
                        <a:pt x="407" y="530"/>
                      </a:lnTo>
                      <a:lnTo>
                        <a:pt x="407" y="545"/>
                      </a:lnTo>
                      <a:lnTo>
                        <a:pt x="407" y="560"/>
                      </a:lnTo>
                      <a:lnTo>
                        <a:pt x="391" y="576"/>
                      </a:lnTo>
                      <a:lnTo>
                        <a:pt x="376" y="577"/>
                      </a:lnTo>
                      <a:lnTo>
                        <a:pt x="352" y="582"/>
                      </a:lnTo>
                      <a:lnTo>
                        <a:pt x="0" y="582"/>
                      </a:lnTo>
                      <a:lnTo>
                        <a:pt x="261" y="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 w="1651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38930" name="Picture 30" descr="wr-logo-gif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4455" y="3360"/>
                <a:ext cx="1248" cy="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38928" name="Picture 31" descr="t_nec_logo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4128" y="3648"/>
              <a:ext cx="163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Automotive Control: Distributed Systems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3994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475" y="1377950"/>
            <a:ext cx="8907463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2"/>
          <p:cNvGrpSpPr>
            <a:grpSpLocks/>
          </p:cNvGrpSpPr>
          <p:nvPr/>
        </p:nvGrpSpPr>
        <p:grpSpPr bwMode="auto">
          <a:xfrm>
            <a:off x="19050" y="1376363"/>
            <a:ext cx="7433600" cy="3957637"/>
            <a:chOff x="0" y="760"/>
            <a:chExt cx="4597" cy="2493"/>
          </a:xfrm>
        </p:grpSpPr>
        <p:pic>
          <p:nvPicPr>
            <p:cNvPr id="40967" name="Picture 3" descr="sistalfa"/>
            <p:cNvPicPr>
              <a:picLocks noChangeAspect="1" noChangeArrowheads="1"/>
            </p:cNvPicPr>
            <p:nvPr/>
          </p:nvPicPr>
          <p:blipFill>
            <a:blip r:embed="rId2"/>
            <a:srcRect t="3334" r="3323"/>
            <a:stretch>
              <a:fillRect/>
            </a:stretch>
          </p:blipFill>
          <p:spPr bwMode="auto">
            <a:xfrm>
              <a:off x="0" y="760"/>
              <a:ext cx="3226" cy="249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40968" name="Text Box 4"/>
            <p:cNvSpPr txBox="1">
              <a:spLocks noChangeAspect="1" noChangeArrowheads="1"/>
            </p:cNvSpPr>
            <p:nvPr/>
          </p:nvSpPr>
          <p:spPr bwMode="auto">
            <a:xfrm>
              <a:off x="2943" y="774"/>
              <a:ext cx="1654" cy="15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1 	Transmission ECU</a:t>
              </a:r>
            </a:p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2 	Actuation group</a:t>
              </a:r>
            </a:p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3 	Engine ECU</a:t>
              </a:r>
            </a:p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4	DBW</a:t>
              </a:r>
            </a:p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5  	Active shift display</a:t>
              </a:r>
            </a:p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6/7 	Up/Down buttons </a:t>
              </a:r>
            </a:p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8	City mode button</a:t>
              </a:r>
            </a:p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9	Up/Down lever</a:t>
              </a:r>
            </a:p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10	Accelerator pedal 	position sensor</a:t>
              </a:r>
            </a:p>
            <a:p>
              <a:pPr eaLnBrk="0" hangingPunct="0">
                <a:lnSpc>
                  <a:spcPts val="1700"/>
                </a:lnSpc>
                <a:tabLst>
                  <a:tab pos="482600" algn="l"/>
                </a:tabLst>
              </a:pPr>
              <a:r>
                <a:rPr lang="en-GB" sz="1600" dirty="0">
                  <a:latin typeface="Comic Sans MS" pitchFamily="66" charset="0"/>
                </a:rPr>
                <a:t>11	Brake switch</a:t>
              </a:r>
            </a:p>
          </p:txBody>
        </p:sp>
      </p:grpSp>
      <p:sp>
        <p:nvSpPr>
          <p:cNvPr id="185349" name="Text Box 5"/>
          <p:cNvSpPr txBox="1">
            <a:spLocks noChangeArrowheads="1"/>
          </p:cNvSpPr>
          <p:nvPr/>
        </p:nvSpPr>
        <p:spPr bwMode="auto">
          <a:xfrm>
            <a:off x="0" y="5392738"/>
            <a:ext cx="9144000" cy="1465262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>
                <a:latin typeface="Comic Sans MS" pitchFamily="66" charset="0"/>
              </a:rPr>
              <a:t>Subsystem Partitioning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>
                <a:latin typeface="Comic Sans MS" pitchFamily="66" charset="0"/>
              </a:rPr>
              <a:t>Subsystem Integration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>
                <a:latin typeface="Comic Sans MS" pitchFamily="66" charset="0"/>
              </a:rPr>
              <a:t>Software Design: Control Algorithms, Data Processing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>
                <a:latin typeface="Comic Sans MS" pitchFamily="66" charset="0"/>
              </a:rPr>
              <a:t>Physical Implementation and Production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>
              <a:latin typeface="Comic Sans MS" pitchFamily="66" charset="0"/>
            </a:endParaRPr>
          </a:p>
        </p:txBody>
      </p:sp>
      <p:pic>
        <p:nvPicPr>
          <p:cNvPr id="40964" name="Picture 6" descr="bosh_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8863" y="2667000"/>
            <a:ext cx="1600200" cy="53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5" name="Picture 7" descr="marelli_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15200" y="4267200"/>
            <a:ext cx="1668463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Automotive Supply Chain:</a:t>
            </a:r>
            <a:br>
              <a:rPr lang="en-US" smtClean="0"/>
            </a:br>
            <a:r>
              <a:rPr lang="en-US" smtClean="0"/>
              <a:t>Tier 1 Subsystem Providers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9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0"/>
          <p:cNvSpPr>
            <a:spLocks noChangeArrowheads="1"/>
          </p:cNvSpPr>
          <p:nvPr/>
        </p:nvSpPr>
        <p:spPr bwMode="auto">
          <a:xfrm>
            <a:off x="7467600" y="4114800"/>
            <a:ext cx="1219200" cy="838200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987" name="Rectangle 59"/>
          <p:cNvSpPr>
            <a:spLocks noChangeArrowheads="1"/>
          </p:cNvSpPr>
          <p:nvPr/>
        </p:nvSpPr>
        <p:spPr bwMode="auto">
          <a:xfrm>
            <a:off x="6781800" y="2133600"/>
            <a:ext cx="2362200" cy="838200"/>
          </a:xfrm>
          <a:prstGeom prst="rect">
            <a:avLst/>
          </a:prstGeom>
          <a:solidFill>
            <a:srgbClr val="66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8418" name="Text Box 2"/>
          <p:cNvSpPr txBox="1">
            <a:spLocks noChangeArrowheads="1"/>
          </p:cNvSpPr>
          <p:nvPr/>
        </p:nvSpPr>
        <p:spPr bwMode="auto">
          <a:xfrm>
            <a:off x="773113" y="4575175"/>
            <a:ext cx="1689100" cy="339725"/>
          </a:xfrm>
          <a:prstGeom prst="rect">
            <a:avLst/>
          </a:prstGeom>
          <a:solidFill>
            <a:srgbClr val="FFFF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600">
                <a:solidFill>
                  <a:srgbClr val="FF0000"/>
                </a:solidFill>
                <a:latin typeface="Arial" pitchFamily="34" charset="0"/>
              </a:rPr>
              <a:t>HW layer</a:t>
            </a:r>
          </a:p>
        </p:txBody>
      </p:sp>
      <p:sp>
        <p:nvSpPr>
          <p:cNvPr id="188419" name="Text Box 3"/>
          <p:cNvSpPr txBox="1">
            <a:spLocks noChangeArrowheads="1"/>
          </p:cNvSpPr>
          <p:nvPr/>
        </p:nvSpPr>
        <p:spPr bwMode="auto">
          <a:xfrm>
            <a:off x="381000" y="2860675"/>
            <a:ext cx="2081213" cy="584200"/>
          </a:xfrm>
          <a:prstGeom prst="rect">
            <a:avLst/>
          </a:prstGeom>
          <a:solidFill>
            <a:srgbClr val="0099FF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600">
                <a:solidFill>
                  <a:schemeClr val="bg1"/>
                </a:solidFill>
                <a:latin typeface="Arial" pitchFamily="34" charset="0"/>
              </a:rPr>
              <a:t>SW Platform layer</a:t>
            </a:r>
          </a:p>
          <a:p>
            <a:pPr algn="ctr" eaLnBrk="0" hangingPunct="0">
              <a:defRPr/>
            </a:pPr>
            <a:r>
              <a:rPr lang="en-US" sz="1600">
                <a:solidFill>
                  <a:schemeClr val="bg1"/>
                </a:solidFill>
                <a:latin typeface="Arial" pitchFamily="34" charset="0"/>
              </a:rPr>
              <a:t>(&gt; 60% of total SW)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838200" y="1474788"/>
            <a:ext cx="2819400" cy="584200"/>
          </a:xfrm>
          <a:prstGeom prst="rect">
            <a:avLst/>
          </a:prstGeom>
          <a:solidFill>
            <a:srgbClr val="DDDDDD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600">
                <a:solidFill>
                  <a:srgbClr val="333399"/>
                </a:solidFill>
                <a:latin typeface="Arial" pitchFamily="34" charset="0"/>
              </a:rPr>
              <a:t>Application Platform layer</a:t>
            </a:r>
          </a:p>
          <a:p>
            <a:pPr algn="ctr" eaLnBrk="0" hangingPunct="0">
              <a:defRPr/>
            </a:pPr>
            <a:r>
              <a:rPr lang="en-US" sz="1600">
                <a:solidFill>
                  <a:srgbClr val="333399"/>
                </a:solidFill>
                <a:latin typeface="Arial" pitchFamily="34" charset="0"/>
              </a:rPr>
              <a:t>(</a:t>
            </a:r>
            <a:r>
              <a:rPr lang="en-US" sz="1600">
                <a:solidFill>
                  <a:srgbClr val="333399"/>
                </a:solidFill>
                <a:latin typeface="Symbol" pitchFamily="18" charset="2"/>
              </a:rPr>
              <a:t>@ </a:t>
            </a:r>
            <a:r>
              <a:rPr lang="en-US" sz="1600">
                <a:solidFill>
                  <a:srgbClr val="333399"/>
                </a:solidFill>
                <a:latin typeface="Arial" pitchFamily="34" charset="0"/>
              </a:rPr>
              <a:t>10% of total SW)</a:t>
            </a:r>
            <a:endParaRPr lang="en-US">
              <a:solidFill>
                <a:srgbClr val="333399"/>
              </a:solidFill>
            </a:endParaRPr>
          </a:p>
        </p:txBody>
      </p:sp>
      <p:sp>
        <p:nvSpPr>
          <p:cNvPr id="41991" name="Rectangle 5"/>
          <p:cNvSpPr>
            <a:spLocks noChangeArrowheads="1"/>
          </p:cNvSpPr>
          <p:nvPr/>
        </p:nvSpPr>
        <p:spPr bwMode="auto">
          <a:xfrm>
            <a:off x="2813050" y="4168775"/>
            <a:ext cx="3729038" cy="319088"/>
          </a:xfrm>
          <a:prstGeom prst="rect">
            <a:avLst/>
          </a:prstGeom>
          <a:solidFill>
            <a:srgbClr val="FFFF6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>
                <a:solidFill>
                  <a:srgbClr val="393939"/>
                </a:solidFill>
                <a:latin typeface="Symbol" pitchFamily="18" charset="2"/>
              </a:rPr>
              <a:t>m</a:t>
            </a:r>
            <a:r>
              <a:rPr lang="en-US" sz="1600">
                <a:solidFill>
                  <a:srgbClr val="393939"/>
                </a:solidFill>
                <a:latin typeface="Arial" pitchFamily="34" charset="0"/>
              </a:rPr>
              <a:t>Controllers Library</a:t>
            </a:r>
            <a:endParaRPr lang="en-US" sz="2000" i="1">
              <a:latin typeface="Arial" pitchFamily="34" charset="0"/>
            </a:endParaRPr>
          </a:p>
        </p:txBody>
      </p:sp>
      <p:sp>
        <p:nvSpPr>
          <p:cNvPr id="41992" name="Rectangle 6"/>
          <p:cNvSpPr>
            <a:spLocks noChangeArrowheads="1"/>
          </p:cNvSpPr>
          <p:nvPr/>
        </p:nvSpPr>
        <p:spPr bwMode="auto">
          <a:xfrm>
            <a:off x="2813050" y="2357438"/>
            <a:ext cx="774700" cy="1457325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400">
                <a:solidFill>
                  <a:schemeClr val="bg1"/>
                </a:solidFill>
                <a:latin typeface="Arial" pitchFamily="34" charset="0"/>
              </a:rPr>
              <a:t>OSEK</a:t>
            </a:r>
          </a:p>
          <a:p>
            <a:pPr algn="ctr" eaLnBrk="0" hangingPunct="0"/>
            <a:r>
              <a:rPr lang="en-US" sz="1400">
                <a:solidFill>
                  <a:schemeClr val="bg1"/>
                </a:solidFill>
                <a:latin typeface="Arial" pitchFamily="34" charset="0"/>
              </a:rPr>
              <a:t>RTOS</a:t>
            </a:r>
          </a:p>
        </p:txBody>
      </p:sp>
      <p:sp>
        <p:nvSpPr>
          <p:cNvPr id="41993" name="Rectangle 7"/>
          <p:cNvSpPr>
            <a:spLocks noChangeArrowheads="1"/>
          </p:cNvSpPr>
          <p:nvPr/>
        </p:nvSpPr>
        <p:spPr bwMode="auto">
          <a:xfrm>
            <a:off x="5767388" y="2995613"/>
            <a:ext cx="774700" cy="1173162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400">
                <a:solidFill>
                  <a:schemeClr val="bg1"/>
                </a:solidFill>
                <a:latin typeface="Arial" pitchFamily="34" charset="0"/>
              </a:rPr>
              <a:t>OSEK</a:t>
            </a:r>
          </a:p>
          <a:p>
            <a:pPr algn="ctr" eaLnBrk="0" hangingPunct="0"/>
            <a:r>
              <a:rPr lang="en-US" sz="1400">
                <a:solidFill>
                  <a:schemeClr val="bg1"/>
                </a:solidFill>
                <a:latin typeface="Arial" pitchFamily="34" charset="0"/>
              </a:rPr>
              <a:t>COM</a:t>
            </a:r>
          </a:p>
        </p:txBody>
      </p:sp>
      <p:sp>
        <p:nvSpPr>
          <p:cNvPr id="41994" name="Rectangle 8"/>
          <p:cNvSpPr>
            <a:spLocks noChangeArrowheads="1"/>
          </p:cNvSpPr>
          <p:nvPr/>
        </p:nvSpPr>
        <p:spPr bwMode="auto">
          <a:xfrm>
            <a:off x="3587750" y="3581400"/>
            <a:ext cx="2179638" cy="587375"/>
          </a:xfrm>
          <a:prstGeom prst="rect">
            <a:avLst/>
          </a:prstGeom>
          <a:solidFill>
            <a:srgbClr val="FFFF6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400">
                <a:solidFill>
                  <a:srgbClr val="393939"/>
                </a:solidFill>
                <a:latin typeface="Arial" pitchFamily="34" charset="0"/>
              </a:rPr>
              <a:t>I/O drivers &amp; handlers</a:t>
            </a:r>
          </a:p>
          <a:p>
            <a:pPr algn="ctr" eaLnBrk="0" hangingPunct="0"/>
            <a:r>
              <a:rPr lang="en-US" sz="1400">
                <a:solidFill>
                  <a:srgbClr val="393939"/>
                </a:solidFill>
                <a:latin typeface="Arial" pitchFamily="34" charset="0"/>
              </a:rPr>
              <a:t>(&gt; 20 configurable modules)</a:t>
            </a:r>
            <a:endParaRPr lang="en-US" sz="1400" i="1">
              <a:latin typeface="Arial" pitchFamily="34" charset="0"/>
            </a:endParaRPr>
          </a:p>
        </p:txBody>
      </p:sp>
      <p:sp>
        <p:nvSpPr>
          <p:cNvPr id="41995" name="Rectangle 9"/>
          <p:cNvSpPr>
            <a:spLocks noChangeArrowheads="1"/>
          </p:cNvSpPr>
          <p:nvPr/>
        </p:nvSpPr>
        <p:spPr bwMode="auto">
          <a:xfrm>
            <a:off x="3587750" y="3368675"/>
            <a:ext cx="2179638" cy="212725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>
                <a:solidFill>
                  <a:schemeClr val="bg1"/>
                </a:solidFill>
                <a:latin typeface="Arial" pitchFamily="34" charset="0"/>
              </a:rPr>
              <a:t>Application Programming Interface</a:t>
            </a:r>
            <a:endParaRPr lang="en-US" sz="1400" i="1">
              <a:solidFill>
                <a:schemeClr val="bg1"/>
              </a:solidFill>
              <a:latin typeface="Arial" pitchFamily="34" charset="0"/>
            </a:endParaRPr>
          </a:p>
        </p:txBody>
      </p:sp>
      <p:grpSp>
        <p:nvGrpSpPr>
          <p:cNvPr id="41996" name="Group 10"/>
          <p:cNvGrpSpPr>
            <a:grpSpLocks/>
          </p:cNvGrpSpPr>
          <p:nvPr/>
        </p:nvGrpSpPr>
        <p:grpSpPr bwMode="auto">
          <a:xfrm>
            <a:off x="2813050" y="3814763"/>
            <a:ext cx="774700" cy="355600"/>
            <a:chOff x="1056" y="2640"/>
            <a:chExt cx="528" cy="320"/>
          </a:xfrm>
        </p:grpSpPr>
        <p:sp>
          <p:nvSpPr>
            <p:cNvPr id="42043" name="Rectangle 11"/>
            <p:cNvSpPr>
              <a:spLocks noChangeArrowheads="1"/>
            </p:cNvSpPr>
            <p:nvPr/>
          </p:nvSpPr>
          <p:spPr bwMode="auto">
            <a:xfrm>
              <a:off x="1056" y="2800"/>
              <a:ext cx="528" cy="16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100">
                  <a:solidFill>
                    <a:schemeClr val="bg1"/>
                  </a:solidFill>
                  <a:latin typeface="Arial" pitchFamily="34" charset="0"/>
                </a:rPr>
                <a:t>Boot Loader</a:t>
              </a:r>
              <a:endParaRPr lang="en-US" sz="120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42044" name="Rectangle 12"/>
            <p:cNvSpPr>
              <a:spLocks noChangeArrowheads="1"/>
            </p:cNvSpPr>
            <p:nvPr/>
          </p:nvSpPr>
          <p:spPr bwMode="auto">
            <a:xfrm>
              <a:off x="1056" y="2640"/>
              <a:ext cx="528" cy="16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100">
                  <a:solidFill>
                    <a:schemeClr val="bg1"/>
                  </a:solidFill>
                  <a:latin typeface="Arial" pitchFamily="34" charset="0"/>
                </a:rPr>
                <a:t>Sys. Config</a:t>
              </a:r>
              <a:r>
                <a:rPr lang="en-US" sz="1000">
                  <a:solidFill>
                    <a:schemeClr val="bg1"/>
                  </a:solidFill>
                  <a:latin typeface="Arial" pitchFamily="34" charset="0"/>
                </a:rPr>
                <a:t>.</a:t>
              </a:r>
              <a:endParaRPr lang="en-US" sz="1200">
                <a:solidFill>
                  <a:schemeClr val="bg1"/>
                </a:solidFill>
                <a:latin typeface="Arial" pitchFamily="34" charset="0"/>
              </a:endParaRPr>
            </a:p>
          </p:txBody>
        </p:sp>
      </p:grp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5767388" y="2782888"/>
            <a:ext cx="774700" cy="212725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>
                <a:solidFill>
                  <a:schemeClr val="bg1"/>
                </a:solidFill>
                <a:latin typeface="Arial" pitchFamily="34" charset="0"/>
              </a:rPr>
              <a:t>Transport</a:t>
            </a:r>
            <a:endParaRPr lang="en-US" sz="140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41998" name="Rectangle 14"/>
          <p:cNvSpPr>
            <a:spLocks noChangeArrowheads="1"/>
          </p:cNvSpPr>
          <p:nvPr/>
        </p:nvSpPr>
        <p:spPr bwMode="auto">
          <a:xfrm>
            <a:off x="5767388" y="2570163"/>
            <a:ext cx="774700" cy="212725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>
                <a:latin typeface="Arial" pitchFamily="34" charset="0"/>
              </a:rPr>
              <a:t>KWP 2000</a:t>
            </a:r>
            <a:endParaRPr lang="en-US" sz="1200">
              <a:latin typeface="Arial" pitchFamily="34" charset="0"/>
            </a:endParaRPr>
          </a:p>
        </p:txBody>
      </p:sp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5767388" y="2357438"/>
            <a:ext cx="774700" cy="212725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100">
                <a:latin typeface="Arial" pitchFamily="34" charset="0"/>
              </a:rPr>
              <a:t>CCP</a:t>
            </a:r>
            <a:endParaRPr lang="en-US" sz="1200">
              <a:latin typeface="Arial" pitchFamily="34" charset="0"/>
            </a:endParaRPr>
          </a:p>
        </p:txBody>
      </p:sp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4572000" y="2516188"/>
            <a:ext cx="1055688" cy="746125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000">
                <a:solidFill>
                  <a:srgbClr val="333399"/>
                </a:solidFill>
                <a:latin typeface="Arial" pitchFamily="34" charset="0"/>
              </a:rPr>
              <a:t>Application</a:t>
            </a:r>
          </a:p>
          <a:p>
            <a:pPr algn="ctr" eaLnBrk="0" hangingPunct="0"/>
            <a:r>
              <a:rPr lang="en-US" sz="1000">
                <a:solidFill>
                  <a:srgbClr val="333399"/>
                </a:solidFill>
                <a:latin typeface="Arial" pitchFamily="34" charset="0"/>
              </a:rPr>
              <a:t>Specific</a:t>
            </a:r>
          </a:p>
          <a:p>
            <a:pPr algn="ctr" eaLnBrk="0" hangingPunct="0"/>
            <a:r>
              <a:rPr lang="en-US" sz="1000">
                <a:solidFill>
                  <a:srgbClr val="333399"/>
                </a:solidFill>
                <a:latin typeface="Arial" pitchFamily="34" charset="0"/>
              </a:rPr>
              <a:t>Software</a:t>
            </a:r>
          </a:p>
        </p:txBody>
      </p:sp>
      <p:sp>
        <p:nvSpPr>
          <p:cNvPr id="42001" name="Line 17"/>
          <p:cNvSpPr>
            <a:spLocks noChangeShapeType="1"/>
          </p:cNvSpPr>
          <p:nvPr/>
        </p:nvSpPr>
        <p:spPr bwMode="auto">
          <a:xfrm>
            <a:off x="2673350" y="2251075"/>
            <a:ext cx="0" cy="23431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2" name="Line 18"/>
          <p:cNvSpPr>
            <a:spLocks noChangeShapeType="1"/>
          </p:cNvSpPr>
          <p:nvPr/>
        </p:nvSpPr>
        <p:spPr bwMode="auto">
          <a:xfrm>
            <a:off x="2673350" y="4594225"/>
            <a:ext cx="400843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3" name="Line 19"/>
          <p:cNvSpPr>
            <a:spLocks noChangeShapeType="1"/>
          </p:cNvSpPr>
          <p:nvPr/>
        </p:nvSpPr>
        <p:spPr bwMode="auto">
          <a:xfrm flipV="1">
            <a:off x="6681788" y="2251075"/>
            <a:ext cx="0" cy="23431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004" name="Group 20"/>
          <p:cNvGrpSpPr>
            <a:grpSpLocks/>
          </p:cNvGrpSpPr>
          <p:nvPr/>
        </p:nvGrpSpPr>
        <p:grpSpPr bwMode="auto">
          <a:xfrm>
            <a:off x="2673350" y="2251075"/>
            <a:ext cx="3024188" cy="1065213"/>
            <a:chOff x="960" y="1392"/>
            <a:chExt cx="2064" cy="960"/>
          </a:xfrm>
        </p:grpSpPr>
        <p:sp>
          <p:nvSpPr>
            <p:cNvPr id="42040" name="Line 21"/>
            <p:cNvSpPr>
              <a:spLocks noChangeShapeType="1"/>
            </p:cNvSpPr>
            <p:nvPr/>
          </p:nvSpPr>
          <p:spPr bwMode="auto">
            <a:xfrm>
              <a:off x="960" y="1392"/>
              <a:ext cx="7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41" name="Line 22"/>
            <p:cNvSpPr>
              <a:spLocks noChangeShapeType="1"/>
            </p:cNvSpPr>
            <p:nvPr/>
          </p:nvSpPr>
          <p:spPr bwMode="auto">
            <a:xfrm>
              <a:off x="1663" y="1392"/>
              <a:ext cx="0" cy="9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42" name="Line 23"/>
            <p:cNvSpPr>
              <a:spLocks noChangeShapeType="1"/>
            </p:cNvSpPr>
            <p:nvPr/>
          </p:nvSpPr>
          <p:spPr bwMode="auto">
            <a:xfrm>
              <a:off x="1663" y="2352"/>
              <a:ext cx="13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005" name="Group 24"/>
          <p:cNvGrpSpPr>
            <a:grpSpLocks/>
          </p:cNvGrpSpPr>
          <p:nvPr/>
        </p:nvGrpSpPr>
        <p:grpSpPr bwMode="auto">
          <a:xfrm>
            <a:off x="5661025" y="2251075"/>
            <a:ext cx="1020763" cy="1033463"/>
            <a:chOff x="2999" y="1392"/>
            <a:chExt cx="697" cy="932"/>
          </a:xfrm>
        </p:grpSpPr>
        <p:sp>
          <p:nvSpPr>
            <p:cNvPr id="42038" name="Line 25"/>
            <p:cNvSpPr>
              <a:spLocks noChangeShapeType="1"/>
            </p:cNvSpPr>
            <p:nvPr/>
          </p:nvSpPr>
          <p:spPr bwMode="auto">
            <a:xfrm flipH="1">
              <a:off x="2999" y="1392"/>
              <a:ext cx="69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9" name="Line 26"/>
            <p:cNvSpPr>
              <a:spLocks noChangeShapeType="1"/>
            </p:cNvSpPr>
            <p:nvPr/>
          </p:nvSpPr>
          <p:spPr bwMode="auto">
            <a:xfrm>
              <a:off x="2999" y="1392"/>
              <a:ext cx="0" cy="9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006" name="Group 27"/>
          <p:cNvGrpSpPr>
            <a:grpSpLocks/>
          </p:cNvGrpSpPr>
          <p:nvPr/>
        </p:nvGrpSpPr>
        <p:grpSpPr bwMode="auto">
          <a:xfrm>
            <a:off x="3624263" y="2228850"/>
            <a:ext cx="869950" cy="1042988"/>
            <a:chOff x="2473" y="1585"/>
            <a:chExt cx="594" cy="939"/>
          </a:xfrm>
        </p:grpSpPr>
        <p:grpSp>
          <p:nvGrpSpPr>
            <p:cNvPr id="42027" name="Group 28"/>
            <p:cNvGrpSpPr>
              <a:grpSpLocks/>
            </p:cNvGrpSpPr>
            <p:nvPr/>
          </p:nvGrpSpPr>
          <p:grpSpPr bwMode="auto">
            <a:xfrm>
              <a:off x="2596" y="1820"/>
              <a:ext cx="384" cy="668"/>
              <a:chOff x="2272" y="1776"/>
              <a:chExt cx="384" cy="648"/>
            </a:xfrm>
          </p:grpSpPr>
          <p:sp>
            <p:nvSpPr>
              <p:cNvPr id="42034" name="Rectangle 29"/>
              <p:cNvSpPr>
                <a:spLocks noChangeArrowheads="1"/>
              </p:cNvSpPr>
              <p:nvPr/>
            </p:nvSpPr>
            <p:spPr bwMode="auto">
              <a:xfrm>
                <a:off x="2272" y="1776"/>
                <a:ext cx="96" cy="648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/>
                <a:r>
                  <a:rPr lang="en-US" sz="1000">
                    <a:solidFill>
                      <a:srgbClr val="333399"/>
                    </a:solidFill>
                    <a:latin typeface="Arial" pitchFamily="34" charset="0"/>
                  </a:rPr>
                  <a:t>Speedometer</a:t>
                </a:r>
              </a:p>
            </p:txBody>
          </p:sp>
          <p:sp>
            <p:nvSpPr>
              <p:cNvPr id="42035" name="Rectangle 30"/>
              <p:cNvSpPr>
                <a:spLocks noChangeArrowheads="1"/>
              </p:cNvSpPr>
              <p:nvPr/>
            </p:nvSpPr>
            <p:spPr bwMode="auto">
              <a:xfrm>
                <a:off x="2368" y="1776"/>
                <a:ext cx="96" cy="648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/>
                <a:r>
                  <a:rPr lang="en-US" sz="1000">
                    <a:solidFill>
                      <a:srgbClr val="333399"/>
                    </a:solidFill>
                    <a:latin typeface="Arial" pitchFamily="34" charset="0"/>
                  </a:rPr>
                  <a:t>Tachometer</a:t>
                </a:r>
              </a:p>
            </p:txBody>
          </p:sp>
          <p:sp>
            <p:nvSpPr>
              <p:cNvPr id="42036" name="Rectangle 31"/>
              <p:cNvSpPr>
                <a:spLocks noChangeArrowheads="1"/>
              </p:cNvSpPr>
              <p:nvPr/>
            </p:nvSpPr>
            <p:spPr bwMode="auto">
              <a:xfrm>
                <a:off x="2464" y="1776"/>
                <a:ext cx="96" cy="648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/>
                <a:r>
                  <a:rPr lang="en-US" sz="1000">
                    <a:solidFill>
                      <a:srgbClr val="333399"/>
                    </a:solidFill>
                    <a:latin typeface="Arial" pitchFamily="34" charset="0"/>
                  </a:rPr>
                  <a:t>Water temp.</a:t>
                </a:r>
              </a:p>
            </p:txBody>
          </p:sp>
          <p:sp>
            <p:nvSpPr>
              <p:cNvPr id="42037" name="Rectangle 32"/>
              <p:cNvSpPr>
                <a:spLocks noChangeArrowheads="1"/>
              </p:cNvSpPr>
              <p:nvPr/>
            </p:nvSpPr>
            <p:spPr bwMode="auto">
              <a:xfrm>
                <a:off x="2560" y="1776"/>
                <a:ext cx="96" cy="648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/>
                <a:endParaRPr lang="en-GB" sz="1000">
                  <a:solidFill>
                    <a:srgbClr val="333399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42028" name="Group 33"/>
            <p:cNvGrpSpPr>
              <a:grpSpLocks/>
            </p:cNvGrpSpPr>
            <p:nvPr/>
          </p:nvGrpSpPr>
          <p:grpSpPr bwMode="auto">
            <a:xfrm>
              <a:off x="2560" y="1852"/>
              <a:ext cx="384" cy="672"/>
              <a:chOff x="2224" y="1832"/>
              <a:chExt cx="384" cy="672"/>
            </a:xfrm>
          </p:grpSpPr>
          <p:sp>
            <p:nvSpPr>
              <p:cNvPr id="42030" name="Rectangle 34"/>
              <p:cNvSpPr>
                <a:spLocks noChangeArrowheads="1"/>
              </p:cNvSpPr>
              <p:nvPr/>
            </p:nvSpPr>
            <p:spPr bwMode="auto">
              <a:xfrm>
                <a:off x="2224" y="1832"/>
                <a:ext cx="96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/>
                <a:r>
                  <a:rPr lang="en-US" sz="1000">
                    <a:solidFill>
                      <a:srgbClr val="333399"/>
                    </a:solidFill>
                    <a:latin typeface="Arial" pitchFamily="34" charset="0"/>
                  </a:rPr>
                  <a:t>Speedometer</a:t>
                </a:r>
              </a:p>
            </p:txBody>
          </p:sp>
          <p:sp>
            <p:nvSpPr>
              <p:cNvPr id="42031" name="Rectangle 35"/>
              <p:cNvSpPr>
                <a:spLocks noChangeArrowheads="1"/>
              </p:cNvSpPr>
              <p:nvPr/>
            </p:nvSpPr>
            <p:spPr bwMode="auto">
              <a:xfrm>
                <a:off x="2320" y="1832"/>
                <a:ext cx="96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/>
                <a:r>
                  <a:rPr lang="en-US" sz="1000">
                    <a:solidFill>
                      <a:srgbClr val="333399"/>
                    </a:solidFill>
                    <a:latin typeface="Arial" pitchFamily="34" charset="0"/>
                  </a:rPr>
                  <a:t>Tachometer</a:t>
                </a:r>
              </a:p>
            </p:txBody>
          </p:sp>
          <p:sp>
            <p:nvSpPr>
              <p:cNvPr id="42032" name="Rectangle 36"/>
              <p:cNvSpPr>
                <a:spLocks noChangeArrowheads="1"/>
              </p:cNvSpPr>
              <p:nvPr/>
            </p:nvSpPr>
            <p:spPr bwMode="auto">
              <a:xfrm>
                <a:off x="2416" y="1832"/>
                <a:ext cx="96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/>
                <a:r>
                  <a:rPr lang="en-US" sz="1000">
                    <a:solidFill>
                      <a:srgbClr val="333399"/>
                    </a:solidFill>
                    <a:latin typeface="Arial" pitchFamily="34" charset="0"/>
                  </a:rPr>
                  <a:t>Odometer</a:t>
                </a:r>
              </a:p>
            </p:txBody>
          </p:sp>
          <p:sp>
            <p:nvSpPr>
              <p:cNvPr id="42033" name="Rectangle 37"/>
              <p:cNvSpPr>
                <a:spLocks noChangeArrowheads="1"/>
              </p:cNvSpPr>
              <p:nvPr/>
            </p:nvSpPr>
            <p:spPr bwMode="auto">
              <a:xfrm>
                <a:off x="2512" y="1832"/>
                <a:ext cx="96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/>
                <a:r>
                  <a:rPr lang="en-US" sz="1000">
                    <a:solidFill>
                      <a:srgbClr val="333399"/>
                    </a:solidFill>
                    <a:latin typeface="Arial" pitchFamily="34" charset="0"/>
                  </a:rPr>
                  <a:t>---------------</a:t>
                </a:r>
              </a:p>
            </p:txBody>
          </p:sp>
        </p:grpSp>
        <p:sp>
          <p:nvSpPr>
            <p:cNvPr id="42029" name="Text Box 38"/>
            <p:cNvSpPr txBox="1">
              <a:spLocks noChangeArrowheads="1"/>
            </p:cNvSpPr>
            <p:nvPr/>
          </p:nvSpPr>
          <p:spPr bwMode="auto">
            <a:xfrm>
              <a:off x="2473" y="1585"/>
              <a:ext cx="594" cy="294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70000"/>
                </a:lnSpc>
              </a:pPr>
              <a:r>
                <a:rPr lang="en-US" sz="1100">
                  <a:solidFill>
                    <a:srgbClr val="333399"/>
                  </a:solidFill>
                  <a:latin typeface="Arial" pitchFamily="34" charset="0"/>
                </a:rPr>
                <a:t>Application</a:t>
              </a:r>
            </a:p>
            <a:p>
              <a:pPr algn="ctr" eaLnBrk="0" hangingPunct="0">
                <a:lnSpc>
                  <a:spcPct val="70000"/>
                </a:lnSpc>
              </a:pPr>
              <a:r>
                <a:rPr lang="en-US" sz="1100">
                  <a:solidFill>
                    <a:srgbClr val="333399"/>
                  </a:solidFill>
                  <a:latin typeface="Arial" pitchFamily="34" charset="0"/>
                </a:rPr>
                <a:t>Libraries</a:t>
              </a:r>
            </a:p>
          </p:txBody>
        </p:sp>
      </p:grpSp>
      <p:sp>
        <p:nvSpPr>
          <p:cNvPr id="188456" name="Text Box 40"/>
          <p:cNvSpPr txBox="1">
            <a:spLocks noChangeArrowheads="1"/>
          </p:cNvSpPr>
          <p:nvPr/>
        </p:nvSpPr>
        <p:spPr bwMode="auto">
          <a:xfrm>
            <a:off x="2813050" y="4616450"/>
            <a:ext cx="779463" cy="277813"/>
          </a:xfrm>
          <a:prstGeom prst="rect">
            <a:avLst/>
          </a:prstGeom>
          <a:solidFill>
            <a:srgbClr val="FFFF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200">
                <a:solidFill>
                  <a:srgbClr val="FF0000"/>
                </a:solidFill>
                <a:latin typeface="Arial" pitchFamily="34" charset="0"/>
              </a:rPr>
              <a:t>Nec78k</a:t>
            </a:r>
            <a:endParaRPr lang="en-US" sz="1200">
              <a:latin typeface="Arial" pitchFamily="34" charset="0"/>
            </a:endParaRPr>
          </a:p>
        </p:txBody>
      </p:sp>
      <p:sp>
        <p:nvSpPr>
          <p:cNvPr id="188457" name="Text Box 41"/>
          <p:cNvSpPr txBox="1">
            <a:spLocks noChangeArrowheads="1"/>
          </p:cNvSpPr>
          <p:nvPr/>
        </p:nvSpPr>
        <p:spPr bwMode="auto">
          <a:xfrm>
            <a:off x="4383088" y="4600575"/>
            <a:ext cx="647700" cy="307975"/>
          </a:xfrm>
          <a:prstGeom prst="rect">
            <a:avLst/>
          </a:prstGeom>
          <a:solidFill>
            <a:srgbClr val="FFFF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400">
                <a:solidFill>
                  <a:srgbClr val="FF0000"/>
                </a:solidFill>
                <a:latin typeface="Arial" pitchFamily="34" charset="0"/>
              </a:rPr>
              <a:t>HC12</a:t>
            </a:r>
            <a:endParaRPr lang="en-US" sz="1400">
              <a:latin typeface="Arial" pitchFamily="34" charset="0"/>
            </a:endParaRPr>
          </a:p>
        </p:txBody>
      </p:sp>
      <p:sp>
        <p:nvSpPr>
          <p:cNvPr id="188458" name="Text Box 42"/>
          <p:cNvSpPr txBox="1">
            <a:spLocks noChangeArrowheads="1"/>
          </p:cNvSpPr>
          <p:nvPr/>
        </p:nvSpPr>
        <p:spPr bwMode="auto">
          <a:xfrm>
            <a:off x="3629025" y="4600575"/>
            <a:ext cx="719138" cy="307975"/>
          </a:xfrm>
          <a:prstGeom prst="rect">
            <a:avLst/>
          </a:prstGeom>
          <a:solidFill>
            <a:srgbClr val="FFFF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400">
                <a:solidFill>
                  <a:srgbClr val="FF0000"/>
                </a:solidFill>
                <a:latin typeface="Arial" pitchFamily="34" charset="0"/>
              </a:rPr>
              <a:t>HC08</a:t>
            </a:r>
            <a:endParaRPr lang="en-US" sz="1400">
              <a:latin typeface="Arial" pitchFamily="34" charset="0"/>
            </a:endParaRPr>
          </a:p>
        </p:txBody>
      </p:sp>
      <p:sp>
        <p:nvSpPr>
          <p:cNvPr id="188459" name="Text Box 43"/>
          <p:cNvSpPr txBox="1">
            <a:spLocks noChangeArrowheads="1"/>
          </p:cNvSpPr>
          <p:nvPr/>
        </p:nvSpPr>
        <p:spPr bwMode="auto">
          <a:xfrm>
            <a:off x="5067300" y="4600575"/>
            <a:ext cx="790575" cy="307975"/>
          </a:xfrm>
          <a:prstGeom prst="rect">
            <a:avLst/>
          </a:prstGeom>
          <a:solidFill>
            <a:srgbClr val="FFFF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400">
                <a:solidFill>
                  <a:srgbClr val="FF0000"/>
                </a:solidFill>
                <a:latin typeface="Arial" pitchFamily="34" charset="0"/>
              </a:rPr>
              <a:t>H8S26</a:t>
            </a:r>
            <a:endParaRPr lang="en-US" sz="1400">
              <a:latin typeface="Arial" pitchFamily="34" charset="0"/>
            </a:endParaRPr>
          </a:p>
        </p:txBody>
      </p:sp>
      <p:sp>
        <p:nvSpPr>
          <p:cNvPr id="188460" name="Text Box 44"/>
          <p:cNvSpPr txBox="1">
            <a:spLocks noChangeArrowheads="1"/>
          </p:cNvSpPr>
          <p:nvPr/>
        </p:nvSpPr>
        <p:spPr bwMode="auto">
          <a:xfrm>
            <a:off x="5894388" y="4614863"/>
            <a:ext cx="647700" cy="277812"/>
          </a:xfrm>
          <a:prstGeom prst="rect">
            <a:avLst/>
          </a:prstGeom>
          <a:solidFill>
            <a:srgbClr val="FFFF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200">
                <a:solidFill>
                  <a:srgbClr val="FF0000"/>
                </a:solidFill>
                <a:latin typeface="Arial" pitchFamily="34" charset="0"/>
              </a:rPr>
              <a:t>MB90</a:t>
            </a:r>
            <a:endParaRPr lang="en-US" sz="1200">
              <a:latin typeface="Arial" pitchFamily="34" charset="0"/>
            </a:endParaRPr>
          </a:p>
        </p:txBody>
      </p:sp>
      <p:cxnSp>
        <p:nvCxnSpPr>
          <p:cNvPr id="42012" name="AutoShape 45"/>
          <p:cNvCxnSpPr>
            <a:cxnSpLocks noChangeShapeType="1"/>
            <a:stCxn id="188419" idx="3"/>
            <a:endCxn id="41992" idx="1"/>
          </p:cNvCxnSpPr>
          <p:nvPr/>
        </p:nvCxnSpPr>
        <p:spPr bwMode="auto">
          <a:xfrm flipV="1">
            <a:off x="2462213" y="3086100"/>
            <a:ext cx="350837" cy="65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2013" name="AutoShape 46"/>
          <p:cNvCxnSpPr>
            <a:cxnSpLocks noChangeShapeType="1"/>
            <a:stCxn id="188420" idx="3"/>
            <a:endCxn id="42032" idx="0"/>
          </p:cNvCxnSpPr>
          <p:nvPr/>
        </p:nvCxnSpPr>
        <p:spPr bwMode="auto">
          <a:xfrm>
            <a:off x="3657600" y="1766888"/>
            <a:ext cx="446088" cy="758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2014" name="AutoShape 47"/>
          <p:cNvCxnSpPr>
            <a:cxnSpLocks noChangeShapeType="1"/>
            <a:stCxn id="188418" idx="3"/>
            <a:endCxn id="188456" idx="1"/>
          </p:cNvCxnSpPr>
          <p:nvPr/>
        </p:nvCxnSpPr>
        <p:spPr bwMode="auto">
          <a:xfrm>
            <a:off x="2462213" y="4745038"/>
            <a:ext cx="350837" cy="11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2015" name="Text Box 48"/>
          <p:cNvSpPr txBox="1">
            <a:spLocks noChangeArrowheads="1"/>
          </p:cNvSpPr>
          <p:nvPr/>
        </p:nvSpPr>
        <p:spPr bwMode="auto">
          <a:xfrm>
            <a:off x="4579938" y="2227263"/>
            <a:ext cx="788987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70000"/>
              </a:lnSpc>
            </a:pPr>
            <a:r>
              <a:rPr lang="en-US" sz="1100">
                <a:latin typeface="Arial" pitchFamily="34" charset="0"/>
              </a:rPr>
              <a:t>Customer</a:t>
            </a:r>
          </a:p>
          <a:p>
            <a:pPr algn="ctr" eaLnBrk="0" hangingPunct="0">
              <a:lnSpc>
                <a:spcPct val="70000"/>
              </a:lnSpc>
            </a:pPr>
            <a:r>
              <a:rPr lang="en-US" sz="1100">
                <a:latin typeface="Arial" pitchFamily="34" charset="0"/>
              </a:rPr>
              <a:t>Libraries</a:t>
            </a:r>
          </a:p>
        </p:txBody>
      </p:sp>
      <p:sp>
        <p:nvSpPr>
          <p:cNvPr id="42016" name="Rectangle 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Automotive Supply Chain:</a:t>
            </a:r>
            <a:br>
              <a:rPr lang="en-US" smtClean="0"/>
            </a:br>
            <a:r>
              <a:rPr lang="en-US" smtClean="0"/>
              <a:t>Tier 2 Platform &amp; IP Providers</a:t>
            </a:r>
          </a:p>
        </p:txBody>
      </p:sp>
      <p:grpSp>
        <p:nvGrpSpPr>
          <p:cNvPr id="42017" name="Group 50"/>
          <p:cNvGrpSpPr>
            <a:grpSpLocks/>
          </p:cNvGrpSpPr>
          <p:nvPr/>
        </p:nvGrpSpPr>
        <p:grpSpPr bwMode="auto">
          <a:xfrm>
            <a:off x="198440" y="5334000"/>
            <a:ext cx="7826375" cy="766763"/>
            <a:chOff x="125" y="3360"/>
            <a:chExt cx="4930" cy="483"/>
          </a:xfrm>
        </p:grpSpPr>
        <p:sp>
          <p:nvSpPr>
            <p:cNvPr id="42024" name="Rectangle 51"/>
            <p:cNvSpPr>
              <a:spLocks noChangeArrowheads="1"/>
            </p:cNvSpPr>
            <p:nvPr/>
          </p:nvSpPr>
          <p:spPr bwMode="auto">
            <a:xfrm>
              <a:off x="2208" y="3360"/>
              <a:ext cx="2736" cy="240"/>
            </a:xfrm>
            <a:prstGeom prst="rect">
              <a:avLst/>
            </a:prstGeom>
            <a:solidFill>
              <a:srgbClr val="00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5" name="Rectangle 52"/>
            <p:cNvSpPr>
              <a:spLocks noChangeArrowheads="1"/>
            </p:cNvSpPr>
            <p:nvPr/>
          </p:nvSpPr>
          <p:spPr bwMode="auto">
            <a:xfrm>
              <a:off x="2208" y="3600"/>
              <a:ext cx="2736" cy="240"/>
            </a:xfrm>
            <a:prstGeom prst="rect">
              <a:avLst/>
            </a:prstGeom>
            <a:solidFill>
              <a:srgbClr val="FFFF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6" name="Text Box 53"/>
            <p:cNvSpPr txBox="1">
              <a:spLocks noChangeArrowheads="1"/>
            </p:cNvSpPr>
            <p:nvPr/>
          </p:nvSpPr>
          <p:spPr bwMode="auto">
            <a:xfrm>
              <a:off x="125" y="3366"/>
              <a:ext cx="4930" cy="4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buFont typeface="Wingdings" pitchFamily="2" charset="2"/>
                <a:buChar char="§"/>
              </a:pPr>
              <a:r>
                <a:rPr lang="en-US" dirty="0">
                  <a:latin typeface="Arial" pitchFamily="34" charset="0"/>
                </a:rPr>
                <a:t>“Software”  platform</a:t>
              </a:r>
              <a:r>
                <a:rPr lang="en-US" dirty="0">
                  <a:latin typeface="Arial Unicode MS" pitchFamily="34" charset="-128"/>
                </a:rPr>
                <a:t>:  </a:t>
              </a:r>
              <a:r>
                <a:rPr lang="en-US" sz="2000" dirty="0">
                  <a:latin typeface="Arial" pitchFamily="34" charset="0"/>
                </a:rPr>
                <a:t>RTOS and communication layer</a:t>
              </a:r>
            </a:p>
            <a:p>
              <a:pPr>
                <a:lnSpc>
                  <a:spcPct val="90000"/>
                </a:lnSpc>
                <a:buFont typeface="Wingdings" pitchFamily="2" charset="2"/>
                <a:buChar char="§"/>
              </a:pPr>
              <a:r>
                <a:rPr lang="en-US" dirty="0">
                  <a:latin typeface="Arial" pitchFamily="34" charset="0"/>
                </a:rPr>
                <a:t>“Hardware” platform</a:t>
              </a:r>
              <a:r>
                <a:rPr lang="en-US" dirty="0">
                  <a:latin typeface="Arial Unicode MS" pitchFamily="34" charset="-128"/>
                </a:rPr>
                <a:t>:  </a:t>
              </a:r>
              <a:r>
                <a:rPr lang="en-US" sz="2000" dirty="0">
                  <a:latin typeface="Arial" pitchFamily="34" charset="0"/>
                </a:rPr>
                <a:t>Hardware and IO drivers</a:t>
              </a:r>
              <a:r>
                <a:rPr lang="en-US" sz="2000" dirty="0">
                  <a:latin typeface="Arial Unicode MS" pitchFamily="34" charset="-128"/>
                </a:rPr>
                <a:t> </a:t>
              </a:r>
            </a:p>
          </p:txBody>
        </p:sp>
      </p:grpSp>
      <p:grpSp>
        <p:nvGrpSpPr>
          <p:cNvPr id="42018" name="Group 54"/>
          <p:cNvGrpSpPr>
            <a:grpSpLocks/>
          </p:cNvGrpSpPr>
          <p:nvPr/>
        </p:nvGrpSpPr>
        <p:grpSpPr bwMode="auto">
          <a:xfrm>
            <a:off x="7696200" y="4267200"/>
            <a:ext cx="762000" cy="457200"/>
            <a:chOff x="4421" y="3073"/>
            <a:chExt cx="592" cy="349"/>
          </a:xfrm>
        </p:grpSpPr>
        <p:sp>
          <p:nvSpPr>
            <p:cNvPr id="42021" name="Freeform 55"/>
            <p:cNvSpPr>
              <a:spLocks/>
            </p:cNvSpPr>
            <p:nvPr/>
          </p:nvSpPr>
          <p:spPr bwMode="auto">
            <a:xfrm>
              <a:off x="4769" y="3181"/>
              <a:ext cx="194" cy="241"/>
            </a:xfrm>
            <a:custGeom>
              <a:avLst/>
              <a:gdLst>
                <a:gd name="T0" fmla="*/ 3 w 388"/>
                <a:gd name="T1" fmla="*/ 0 h 484"/>
                <a:gd name="T2" fmla="*/ 2 w 388"/>
                <a:gd name="T3" fmla="*/ 0 h 484"/>
                <a:gd name="T4" fmla="*/ 0 w 388"/>
                <a:gd name="T5" fmla="*/ 3 h 484"/>
                <a:gd name="T6" fmla="*/ 2 w 388"/>
                <a:gd name="T7" fmla="*/ 3 h 484"/>
                <a:gd name="T8" fmla="*/ 3 w 388"/>
                <a:gd name="T9" fmla="*/ 0 h 4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8"/>
                <a:gd name="T16" fmla="*/ 0 h 484"/>
                <a:gd name="T17" fmla="*/ 388 w 388"/>
                <a:gd name="T18" fmla="*/ 484 h 4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8" h="484">
                  <a:moveTo>
                    <a:pt x="388" y="0"/>
                  </a:moveTo>
                  <a:lnTo>
                    <a:pt x="206" y="0"/>
                  </a:lnTo>
                  <a:lnTo>
                    <a:pt x="0" y="484"/>
                  </a:lnTo>
                  <a:lnTo>
                    <a:pt x="182" y="484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0099FF"/>
            </a:solidFill>
            <a:ln w="1651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2" name="Freeform 56"/>
            <p:cNvSpPr>
              <a:spLocks/>
            </p:cNvSpPr>
            <p:nvPr/>
          </p:nvSpPr>
          <p:spPr bwMode="auto">
            <a:xfrm>
              <a:off x="4592" y="3181"/>
              <a:ext cx="195" cy="241"/>
            </a:xfrm>
            <a:custGeom>
              <a:avLst/>
              <a:gdLst>
                <a:gd name="T0" fmla="*/ 3 w 392"/>
                <a:gd name="T1" fmla="*/ 0 h 484"/>
                <a:gd name="T2" fmla="*/ 0 w 392"/>
                <a:gd name="T3" fmla="*/ 0 h 484"/>
                <a:gd name="T4" fmla="*/ 0 w 392"/>
                <a:gd name="T5" fmla="*/ 0 h 484"/>
                <a:gd name="T6" fmla="*/ 0 w 392"/>
                <a:gd name="T7" fmla="*/ 0 h 484"/>
                <a:gd name="T8" fmla="*/ 0 w 392"/>
                <a:gd name="T9" fmla="*/ 0 h 484"/>
                <a:gd name="T10" fmla="*/ 0 w 392"/>
                <a:gd name="T11" fmla="*/ 0 h 484"/>
                <a:gd name="T12" fmla="*/ 0 w 392"/>
                <a:gd name="T13" fmla="*/ 0 h 484"/>
                <a:gd name="T14" fmla="*/ 0 w 392"/>
                <a:gd name="T15" fmla="*/ 0 h 484"/>
                <a:gd name="T16" fmla="*/ 0 w 392"/>
                <a:gd name="T17" fmla="*/ 0 h 484"/>
                <a:gd name="T18" fmla="*/ 1 w 392"/>
                <a:gd name="T19" fmla="*/ 1 h 484"/>
                <a:gd name="T20" fmla="*/ 1 w 392"/>
                <a:gd name="T21" fmla="*/ 2 h 484"/>
                <a:gd name="T22" fmla="*/ 1 w 392"/>
                <a:gd name="T23" fmla="*/ 2 h 484"/>
                <a:gd name="T24" fmla="*/ 1 w 392"/>
                <a:gd name="T25" fmla="*/ 2 h 484"/>
                <a:gd name="T26" fmla="*/ 1 w 392"/>
                <a:gd name="T27" fmla="*/ 2 h 484"/>
                <a:gd name="T28" fmla="*/ 1 w 392"/>
                <a:gd name="T29" fmla="*/ 2 h 484"/>
                <a:gd name="T30" fmla="*/ 1 w 392"/>
                <a:gd name="T31" fmla="*/ 2 h 484"/>
                <a:gd name="T32" fmla="*/ 1 w 392"/>
                <a:gd name="T33" fmla="*/ 2 h 484"/>
                <a:gd name="T34" fmla="*/ 1 w 392"/>
                <a:gd name="T35" fmla="*/ 3 h 484"/>
                <a:gd name="T36" fmla="*/ 1 w 392"/>
                <a:gd name="T37" fmla="*/ 3 h 484"/>
                <a:gd name="T38" fmla="*/ 1 w 392"/>
                <a:gd name="T39" fmla="*/ 3 h 484"/>
                <a:gd name="T40" fmla="*/ 1 w 392"/>
                <a:gd name="T41" fmla="*/ 3 h 484"/>
                <a:gd name="T42" fmla="*/ 0 w 392"/>
                <a:gd name="T43" fmla="*/ 3 h 484"/>
                <a:gd name="T44" fmla="*/ 1 w 392"/>
                <a:gd name="T45" fmla="*/ 3 h 484"/>
                <a:gd name="T46" fmla="*/ 3 w 392"/>
                <a:gd name="T47" fmla="*/ 0 h 48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2"/>
                <a:gd name="T73" fmla="*/ 0 h 484"/>
                <a:gd name="T74" fmla="*/ 392 w 392"/>
                <a:gd name="T75" fmla="*/ 484 h 484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2" h="484">
                  <a:moveTo>
                    <a:pt x="392" y="0"/>
                  </a:moveTo>
                  <a:lnTo>
                    <a:pt x="42" y="0"/>
                  </a:lnTo>
                  <a:lnTo>
                    <a:pt x="31" y="3"/>
                  </a:lnTo>
                  <a:lnTo>
                    <a:pt x="18" y="11"/>
                  </a:lnTo>
                  <a:lnTo>
                    <a:pt x="10" y="21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4" y="54"/>
                  </a:lnTo>
                  <a:lnTo>
                    <a:pt x="20" y="76"/>
                  </a:lnTo>
                  <a:lnTo>
                    <a:pt x="202" y="249"/>
                  </a:lnTo>
                  <a:lnTo>
                    <a:pt x="213" y="265"/>
                  </a:lnTo>
                  <a:lnTo>
                    <a:pt x="222" y="284"/>
                  </a:lnTo>
                  <a:lnTo>
                    <a:pt x="224" y="294"/>
                  </a:lnTo>
                  <a:lnTo>
                    <a:pt x="232" y="302"/>
                  </a:lnTo>
                  <a:lnTo>
                    <a:pt x="233" y="325"/>
                  </a:lnTo>
                  <a:lnTo>
                    <a:pt x="233" y="346"/>
                  </a:lnTo>
                  <a:lnTo>
                    <a:pt x="232" y="372"/>
                  </a:lnTo>
                  <a:lnTo>
                    <a:pt x="222" y="393"/>
                  </a:lnTo>
                  <a:lnTo>
                    <a:pt x="210" y="426"/>
                  </a:lnTo>
                  <a:lnTo>
                    <a:pt x="191" y="446"/>
                  </a:lnTo>
                  <a:lnTo>
                    <a:pt x="168" y="464"/>
                  </a:lnTo>
                  <a:lnTo>
                    <a:pt x="122" y="484"/>
                  </a:lnTo>
                  <a:lnTo>
                    <a:pt x="202" y="484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0099FF"/>
            </a:solidFill>
            <a:ln w="1651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3" name="Freeform 57"/>
            <p:cNvSpPr>
              <a:spLocks/>
            </p:cNvSpPr>
            <p:nvPr/>
          </p:nvSpPr>
          <p:spPr bwMode="auto">
            <a:xfrm>
              <a:off x="4421" y="3073"/>
              <a:ext cx="592" cy="291"/>
            </a:xfrm>
            <a:custGeom>
              <a:avLst/>
              <a:gdLst>
                <a:gd name="T0" fmla="*/ 2 w 1185"/>
                <a:gd name="T1" fmla="*/ 0 h 582"/>
                <a:gd name="T2" fmla="*/ 9 w 1185"/>
                <a:gd name="T3" fmla="*/ 0 h 582"/>
                <a:gd name="T4" fmla="*/ 8 w 1185"/>
                <a:gd name="T5" fmla="*/ 1 h 582"/>
                <a:gd name="T6" fmla="*/ 3 w 1185"/>
                <a:gd name="T7" fmla="*/ 1 h 582"/>
                <a:gd name="T8" fmla="*/ 2 w 1185"/>
                <a:gd name="T9" fmla="*/ 1 h 582"/>
                <a:gd name="T10" fmla="*/ 2 w 1185"/>
                <a:gd name="T11" fmla="*/ 1 h 582"/>
                <a:gd name="T12" fmla="*/ 2 w 1185"/>
                <a:gd name="T13" fmla="*/ 1 h 582"/>
                <a:gd name="T14" fmla="*/ 2 w 1185"/>
                <a:gd name="T15" fmla="*/ 1 h 582"/>
                <a:gd name="T16" fmla="*/ 2 w 1185"/>
                <a:gd name="T17" fmla="*/ 1 h 582"/>
                <a:gd name="T18" fmla="*/ 2 w 1185"/>
                <a:gd name="T19" fmla="*/ 1 h 582"/>
                <a:gd name="T20" fmla="*/ 1 w 1185"/>
                <a:gd name="T21" fmla="*/ 1 h 582"/>
                <a:gd name="T22" fmla="*/ 1 w 1185"/>
                <a:gd name="T23" fmla="*/ 1 h 582"/>
                <a:gd name="T24" fmla="*/ 1 w 1185"/>
                <a:gd name="T25" fmla="*/ 1 h 582"/>
                <a:gd name="T26" fmla="*/ 1 w 1185"/>
                <a:gd name="T27" fmla="*/ 1 h 582"/>
                <a:gd name="T28" fmla="*/ 1 w 1185"/>
                <a:gd name="T29" fmla="*/ 1 h 582"/>
                <a:gd name="T30" fmla="*/ 1 w 1185"/>
                <a:gd name="T31" fmla="*/ 1 h 582"/>
                <a:gd name="T32" fmla="*/ 1 w 1185"/>
                <a:gd name="T33" fmla="*/ 2 h 582"/>
                <a:gd name="T34" fmla="*/ 1 w 1185"/>
                <a:gd name="T35" fmla="*/ 2 h 582"/>
                <a:gd name="T36" fmla="*/ 1 w 1185"/>
                <a:gd name="T37" fmla="*/ 2 h 582"/>
                <a:gd name="T38" fmla="*/ 1 w 1185"/>
                <a:gd name="T39" fmla="*/ 2 h 582"/>
                <a:gd name="T40" fmla="*/ 1 w 1185"/>
                <a:gd name="T41" fmla="*/ 2 h 582"/>
                <a:gd name="T42" fmla="*/ 3 w 1185"/>
                <a:gd name="T43" fmla="*/ 3 h 582"/>
                <a:gd name="T44" fmla="*/ 3 w 1185"/>
                <a:gd name="T45" fmla="*/ 3 h 582"/>
                <a:gd name="T46" fmla="*/ 3 w 1185"/>
                <a:gd name="T47" fmla="*/ 5 h 582"/>
                <a:gd name="T48" fmla="*/ 3 w 1185"/>
                <a:gd name="T49" fmla="*/ 5 h 582"/>
                <a:gd name="T50" fmla="*/ 3 w 1185"/>
                <a:gd name="T51" fmla="*/ 5 h 582"/>
                <a:gd name="T52" fmla="*/ 3 w 1185"/>
                <a:gd name="T53" fmla="*/ 5 h 582"/>
                <a:gd name="T54" fmla="*/ 3 w 1185"/>
                <a:gd name="T55" fmla="*/ 5 h 582"/>
                <a:gd name="T56" fmla="*/ 2 w 1185"/>
                <a:gd name="T57" fmla="*/ 5 h 582"/>
                <a:gd name="T58" fmla="*/ 2 w 1185"/>
                <a:gd name="T59" fmla="*/ 5 h 582"/>
                <a:gd name="T60" fmla="*/ 0 w 1185"/>
                <a:gd name="T61" fmla="*/ 5 h 582"/>
                <a:gd name="T62" fmla="*/ 2 w 1185"/>
                <a:gd name="T63" fmla="*/ 0 h 58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185"/>
                <a:gd name="T97" fmla="*/ 0 h 582"/>
                <a:gd name="T98" fmla="*/ 1185 w 1185"/>
                <a:gd name="T99" fmla="*/ 582 h 58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185" h="582">
                  <a:moveTo>
                    <a:pt x="261" y="0"/>
                  </a:moveTo>
                  <a:lnTo>
                    <a:pt x="1185" y="0"/>
                  </a:lnTo>
                  <a:lnTo>
                    <a:pt x="1137" y="98"/>
                  </a:lnTo>
                  <a:lnTo>
                    <a:pt x="384" y="98"/>
                  </a:lnTo>
                  <a:lnTo>
                    <a:pt x="362" y="98"/>
                  </a:lnTo>
                  <a:lnTo>
                    <a:pt x="330" y="98"/>
                  </a:lnTo>
                  <a:lnTo>
                    <a:pt x="303" y="104"/>
                  </a:lnTo>
                  <a:lnTo>
                    <a:pt x="288" y="112"/>
                  </a:lnTo>
                  <a:lnTo>
                    <a:pt x="274" y="118"/>
                  </a:lnTo>
                  <a:lnTo>
                    <a:pt x="258" y="126"/>
                  </a:lnTo>
                  <a:lnTo>
                    <a:pt x="240" y="142"/>
                  </a:lnTo>
                  <a:lnTo>
                    <a:pt x="227" y="150"/>
                  </a:lnTo>
                  <a:lnTo>
                    <a:pt x="216" y="164"/>
                  </a:lnTo>
                  <a:lnTo>
                    <a:pt x="201" y="180"/>
                  </a:lnTo>
                  <a:lnTo>
                    <a:pt x="193" y="202"/>
                  </a:lnTo>
                  <a:lnTo>
                    <a:pt x="182" y="227"/>
                  </a:lnTo>
                  <a:lnTo>
                    <a:pt x="182" y="257"/>
                  </a:lnTo>
                  <a:lnTo>
                    <a:pt x="184" y="270"/>
                  </a:lnTo>
                  <a:lnTo>
                    <a:pt x="190" y="292"/>
                  </a:lnTo>
                  <a:lnTo>
                    <a:pt x="205" y="326"/>
                  </a:lnTo>
                  <a:lnTo>
                    <a:pt x="227" y="354"/>
                  </a:lnTo>
                  <a:lnTo>
                    <a:pt x="384" y="497"/>
                  </a:lnTo>
                  <a:lnTo>
                    <a:pt x="395" y="508"/>
                  </a:lnTo>
                  <a:lnTo>
                    <a:pt x="402" y="519"/>
                  </a:lnTo>
                  <a:lnTo>
                    <a:pt x="407" y="530"/>
                  </a:lnTo>
                  <a:lnTo>
                    <a:pt x="407" y="545"/>
                  </a:lnTo>
                  <a:lnTo>
                    <a:pt x="407" y="560"/>
                  </a:lnTo>
                  <a:lnTo>
                    <a:pt x="391" y="576"/>
                  </a:lnTo>
                  <a:lnTo>
                    <a:pt x="376" y="577"/>
                  </a:lnTo>
                  <a:lnTo>
                    <a:pt x="352" y="582"/>
                  </a:lnTo>
                  <a:lnTo>
                    <a:pt x="0" y="582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0099FF"/>
            </a:solidFill>
            <a:ln w="1651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2019" name="Picture 58" descr="wr-logo-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3713" y="2308225"/>
            <a:ext cx="1981200" cy="4349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</p:pic>
      <p:sp>
        <p:nvSpPr>
          <p:cNvPr id="188483" name="Text Box 67"/>
          <p:cNvSpPr txBox="1">
            <a:spLocks noChangeArrowheads="1"/>
          </p:cNvSpPr>
          <p:nvPr/>
        </p:nvSpPr>
        <p:spPr bwMode="auto">
          <a:xfrm>
            <a:off x="6629400" y="4648200"/>
            <a:ext cx="647700" cy="277813"/>
          </a:xfrm>
          <a:prstGeom prst="rect">
            <a:avLst/>
          </a:prstGeom>
          <a:solidFill>
            <a:srgbClr val="FFFF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en-US" sz="1200">
                <a:solidFill>
                  <a:srgbClr val="FF0000"/>
                </a:solidFill>
                <a:latin typeface="Arial" pitchFamily="34" charset="0"/>
              </a:rPr>
              <a:t>ST10</a:t>
            </a:r>
            <a:endParaRPr lang="en-US" sz="1200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AutoShape 2"/>
          <p:cNvSpPr>
            <a:spLocks noChangeArrowheads="1"/>
          </p:cNvSpPr>
          <p:nvPr/>
        </p:nvSpPr>
        <p:spPr bwMode="auto">
          <a:xfrm>
            <a:off x="381000" y="1482725"/>
            <a:ext cx="8382000" cy="5092700"/>
          </a:xfrm>
          <a:prstGeom prst="roundRect">
            <a:avLst>
              <a:gd name="adj" fmla="val 12486"/>
            </a:avLst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1" name="Line 3"/>
          <p:cNvSpPr>
            <a:spLocks noChangeShapeType="1"/>
          </p:cNvSpPr>
          <p:nvPr/>
        </p:nvSpPr>
        <p:spPr bwMode="auto">
          <a:xfrm flipH="1">
            <a:off x="4419600" y="1533525"/>
            <a:ext cx="0" cy="502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685800" y="6562725"/>
            <a:ext cx="1538288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7000"/>
              </a:lnSpc>
            </a:pPr>
            <a:r>
              <a:rPr lang="en-GB" sz="2000" i="1">
                <a:latin typeface="Arial" pitchFamily="34" charset="0"/>
              </a:rPr>
              <a:t>now</a:t>
            </a:r>
          </a:p>
        </p:txBody>
      </p:sp>
      <p:sp>
        <p:nvSpPr>
          <p:cNvPr id="254981" name="Rectangle 5"/>
          <p:cNvSpPr>
            <a:spLocks noChangeArrowheads="1"/>
          </p:cNvSpPr>
          <p:nvPr/>
        </p:nvSpPr>
        <p:spPr bwMode="auto">
          <a:xfrm rot="16200000">
            <a:off x="3505994" y="4304507"/>
            <a:ext cx="1844675" cy="357187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>
              <a:lnSpc>
                <a:spcPct val="87000"/>
              </a:lnSpc>
              <a:defRPr/>
            </a:pPr>
            <a:r>
              <a:rPr lang="en-GB" sz="2000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real</a:t>
            </a:r>
            <a:r>
              <a:rPr lang="en-GB" sz="20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     </a:t>
            </a:r>
            <a:r>
              <a:rPr lang="en-GB" sz="20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virtual </a:t>
            </a:r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>
            <a:off x="381000" y="4581525"/>
            <a:ext cx="8382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533400" y="4657725"/>
            <a:ext cx="3535363" cy="1219200"/>
          </a:xfrm>
          <a:prstGeom prst="ellipse">
            <a:avLst/>
          </a:prstGeom>
          <a:solidFill>
            <a:srgbClr val="E9AB8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6" name="AutoShape 8"/>
          <p:cNvSpPr>
            <a:spLocks noChangeArrowheads="1"/>
          </p:cNvSpPr>
          <p:nvPr/>
        </p:nvSpPr>
        <p:spPr bwMode="auto">
          <a:xfrm>
            <a:off x="768350" y="1628775"/>
            <a:ext cx="617538" cy="4324350"/>
          </a:xfrm>
          <a:prstGeom prst="roundRect">
            <a:avLst>
              <a:gd name="adj" fmla="val 12468"/>
            </a:avLst>
          </a:prstGeom>
          <a:solidFill>
            <a:srgbClr val="FFFF99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762000" y="1685925"/>
            <a:ext cx="646113" cy="20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117000"/>
              </a:lnSpc>
            </a:pPr>
            <a:r>
              <a:rPr lang="en-GB" sz="1600">
                <a:latin typeface="Arial" pitchFamily="34" charset="0"/>
              </a:rPr>
              <a:t>Fct</a:t>
            </a:r>
            <a:r>
              <a:rPr lang="en-GB" sz="1800" baseline="-10000">
                <a:latin typeface="Arial" pitchFamily="34" charset="0"/>
              </a:rPr>
              <a:t>1</a:t>
            </a: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de-DE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Spec</a:t>
            </a: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&amp;</a:t>
            </a: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Sim.</a:t>
            </a: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en-GB" sz="1800" baseline="-10000">
              <a:latin typeface="Arial" pitchFamily="34" charset="0"/>
            </a:endParaRPr>
          </a:p>
        </p:txBody>
      </p:sp>
      <p:sp>
        <p:nvSpPr>
          <p:cNvPr id="43018" name="AutoShape 10"/>
          <p:cNvSpPr>
            <a:spLocks noChangeArrowheads="1"/>
          </p:cNvSpPr>
          <p:nvPr/>
        </p:nvSpPr>
        <p:spPr bwMode="auto">
          <a:xfrm>
            <a:off x="3048000" y="1609725"/>
            <a:ext cx="615950" cy="4343400"/>
          </a:xfrm>
          <a:prstGeom prst="roundRect">
            <a:avLst>
              <a:gd name="adj" fmla="val 12468"/>
            </a:avLst>
          </a:prstGeom>
          <a:solidFill>
            <a:srgbClr val="FFFF99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3048000" y="1685925"/>
            <a:ext cx="646113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Fct</a:t>
            </a:r>
            <a:r>
              <a:rPr lang="en-GB" baseline="-10000">
                <a:latin typeface="Arial" pitchFamily="34" charset="0"/>
              </a:rPr>
              <a:t>n</a:t>
            </a:r>
            <a:endParaRPr lang="en-GB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de-DE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Spec</a:t>
            </a: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&amp;</a:t>
            </a: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Sim.</a:t>
            </a: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</p:txBody>
      </p:sp>
      <p:sp>
        <p:nvSpPr>
          <p:cNvPr id="254988" name="Rectangle 12"/>
          <p:cNvSpPr>
            <a:spLocks noChangeArrowheads="1"/>
          </p:cNvSpPr>
          <p:nvPr/>
        </p:nvSpPr>
        <p:spPr bwMode="auto">
          <a:xfrm>
            <a:off x="1600200" y="5038725"/>
            <a:ext cx="1365250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>
              <a:lnSpc>
                <a:spcPct val="87000"/>
              </a:lnSpc>
              <a:defRPr/>
            </a:pPr>
            <a:r>
              <a:rPr lang="en-GB" sz="18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Integration</a:t>
            </a:r>
          </a:p>
        </p:txBody>
      </p:sp>
      <p:sp>
        <p:nvSpPr>
          <p:cNvPr id="43021" name="Rectangle 13"/>
          <p:cNvSpPr>
            <a:spLocks noChangeArrowheads="1"/>
          </p:cNvSpPr>
          <p:nvPr/>
        </p:nvSpPr>
        <p:spPr bwMode="auto">
          <a:xfrm>
            <a:off x="754063" y="5254625"/>
            <a:ext cx="695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ECU</a:t>
            </a:r>
            <a:r>
              <a:rPr lang="en-GB" sz="1800" baseline="-10000">
                <a:latin typeface="Arial" pitchFamily="34" charset="0"/>
              </a:rPr>
              <a:t>1</a:t>
            </a:r>
          </a:p>
        </p:txBody>
      </p:sp>
      <p:sp>
        <p:nvSpPr>
          <p:cNvPr id="43022" name="Rectangle 14"/>
          <p:cNvSpPr>
            <a:spLocks noChangeArrowheads="1"/>
          </p:cNvSpPr>
          <p:nvPr/>
        </p:nvSpPr>
        <p:spPr bwMode="auto">
          <a:xfrm>
            <a:off x="3014663" y="5267325"/>
            <a:ext cx="7350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87000"/>
              </a:lnSpc>
            </a:pPr>
            <a:r>
              <a:rPr lang="de-DE" sz="1600">
                <a:latin typeface="Arial" pitchFamily="34" charset="0"/>
              </a:rPr>
              <a:t>E</a:t>
            </a:r>
            <a:r>
              <a:rPr lang="en-GB" sz="1600">
                <a:latin typeface="Arial" pitchFamily="34" charset="0"/>
              </a:rPr>
              <a:t>CU</a:t>
            </a:r>
            <a:r>
              <a:rPr lang="en-GB" baseline="-10000">
                <a:latin typeface="Arial" pitchFamily="34" charset="0"/>
              </a:rPr>
              <a:t>n</a:t>
            </a:r>
          </a:p>
        </p:txBody>
      </p:sp>
      <p:sp>
        <p:nvSpPr>
          <p:cNvPr id="43023" name="Rectangle 15"/>
          <p:cNvSpPr>
            <a:spLocks noChangeArrowheads="1"/>
          </p:cNvSpPr>
          <p:nvPr/>
        </p:nvSpPr>
        <p:spPr bwMode="auto">
          <a:xfrm>
            <a:off x="4578350" y="1563688"/>
            <a:ext cx="40100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4" name="AutoShape 16"/>
          <p:cNvSpPr>
            <a:spLocks noChangeArrowheads="1"/>
          </p:cNvSpPr>
          <p:nvPr/>
        </p:nvSpPr>
        <p:spPr bwMode="auto">
          <a:xfrm>
            <a:off x="381000" y="1482725"/>
            <a:ext cx="8382000" cy="5092700"/>
          </a:xfrm>
          <a:prstGeom prst="roundRect">
            <a:avLst>
              <a:gd name="adj" fmla="val 12486"/>
            </a:avLst>
          </a:prstGeom>
          <a:solidFill>
            <a:srgbClr val="CBCBCB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5" name="Line 17"/>
          <p:cNvSpPr>
            <a:spLocks noChangeShapeType="1"/>
          </p:cNvSpPr>
          <p:nvPr/>
        </p:nvSpPr>
        <p:spPr bwMode="auto">
          <a:xfrm flipH="1">
            <a:off x="4419600" y="1533525"/>
            <a:ext cx="0" cy="502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4994" name="Rectangle 18"/>
          <p:cNvSpPr>
            <a:spLocks noChangeArrowheads="1"/>
          </p:cNvSpPr>
          <p:nvPr/>
        </p:nvSpPr>
        <p:spPr bwMode="auto">
          <a:xfrm rot="16200000">
            <a:off x="3505994" y="4304507"/>
            <a:ext cx="1844675" cy="357187"/>
          </a:xfrm>
          <a:prstGeom prst="rect">
            <a:avLst/>
          </a:prstGeom>
          <a:solidFill>
            <a:srgbClr val="CBCBCB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>
              <a:lnSpc>
                <a:spcPct val="87000"/>
              </a:lnSpc>
              <a:defRPr/>
            </a:pPr>
            <a:r>
              <a:rPr lang="en-GB" sz="2000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real</a:t>
            </a:r>
            <a:r>
              <a:rPr lang="en-GB" sz="20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     </a:t>
            </a:r>
            <a:r>
              <a:rPr lang="en-GB" sz="20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</a:t>
            </a:r>
            <a:r>
              <a:rPr lang="en-GB" sz="20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virtual </a:t>
            </a:r>
          </a:p>
        </p:txBody>
      </p:sp>
      <p:sp>
        <p:nvSpPr>
          <p:cNvPr id="43027" name="Line 19"/>
          <p:cNvSpPr>
            <a:spLocks noChangeShapeType="1"/>
          </p:cNvSpPr>
          <p:nvPr/>
        </p:nvSpPr>
        <p:spPr bwMode="auto">
          <a:xfrm>
            <a:off x="381000" y="4581525"/>
            <a:ext cx="8382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028" name="Oval 20"/>
          <p:cNvSpPr>
            <a:spLocks noChangeArrowheads="1"/>
          </p:cNvSpPr>
          <p:nvPr/>
        </p:nvSpPr>
        <p:spPr bwMode="auto">
          <a:xfrm>
            <a:off x="533400" y="4657725"/>
            <a:ext cx="3535363" cy="1219200"/>
          </a:xfrm>
          <a:prstGeom prst="ellipse">
            <a:avLst/>
          </a:prstGeom>
          <a:solidFill>
            <a:srgbClr val="E9AB8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9" name="AutoShape 21"/>
          <p:cNvSpPr>
            <a:spLocks noChangeArrowheads="1"/>
          </p:cNvSpPr>
          <p:nvPr/>
        </p:nvSpPr>
        <p:spPr bwMode="auto">
          <a:xfrm>
            <a:off x="768350" y="1628775"/>
            <a:ext cx="617538" cy="4324350"/>
          </a:xfrm>
          <a:prstGeom prst="roundRect">
            <a:avLst>
              <a:gd name="adj" fmla="val 12468"/>
            </a:avLst>
          </a:prstGeom>
          <a:solidFill>
            <a:srgbClr val="FFFF99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30" name="Rectangle 22"/>
          <p:cNvSpPr>
            <a:spLocks noChangeArrowheads="1"/>
          </p:cNvSpPr>
          <p:nvPr/>
        </p:nvSpPr>
        <p:spPr bwMode="auto">
          <a:xfrm>
            <a:off x="762000" y="1685925"/>
            <a:ext cx="646113" cy="20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117000"/>
              </a:lnSpc>
            </a:pPr>
            <a:r>
              <a:rPr lang="en-GB" sz="1600">
                <a:latin typeface="Arial" pitchFamily="34" charset="0"/>
              </a:rPr>
              <a:t>Fct</a:t>
            </a:r>
            <a:r>
              <a:rPr lang="en-GB" sz="1800" baseline="-10000">
                <a:latin typeface="Arial" pitchFamily="34" charset="0"/>
              </a:rPr>
              <a:t>1</a:t>
            </a: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de-DE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Spec</a:t>
            </a: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&amp;</a:t>
            </a: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Sim.</a:t>
            </a: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en-GB" sz="1800" baseline="-10000">
              <a:latin typeface="Arial" pitchFamily="34" charset="0"/>
            </a:endParaRPr>
          </a:p>
        </p:txBody>
      </p:sp>
      <p:sp>
        <p:nvSpPr>
          <p:cNvPr id="43031" name="AutoShape 23"/>
          <p:cNvSpPr>
            <a:spLocks noChangeArrowheads="1"/>
          </p:cNvSpPr>
          <p:nvPr/>
        </p:nvSpPr>
        <p:spPr bwMode="auto">
          <a:xfrm>
            <a:off x="3048000" y="1609725"/>
            <a:ext cx="615950" cy="4343400"/>
          </a:xfrm>
          <a:prstGeom prst="roundRect">
            <a:avLst>
              <a:gd name="adj" fmla="val 12468"/>
            </a:avLst>
          </a:prstGeom>
          <a:solidFill>
            <a:srgbClr val="FFFF99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32" name="Rectangle 24"/>
          <p:cNvSpPr>
            <a:spLocks noChangeArrowheads="1"/>
          </p:cNvSpPr>
          <p:nvPr/>
        </p:nvSpPr>
        <p:spPr bwMode="auto">
          <a:xfrm>
            <a:off x="3048000" y="1685925"/>
            <a:ext cx="646113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Fct</a:t>
            </a:r>
            <a:r>
              <a:rPr lang="en-GB" baseline="-10000">
                <a:latin typeface="Arial" pitchFamily="34" charset="0"/>
              </a:rPr>
              <a:t>n</a:t>
            </a:r>
            <a:endParaRPr lang="en-GB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de-DE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Spec</a:t>
            </a: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&amp;</a:t>
            </a:r>
          </a:p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Sim.</a:t>
            </a:r>
          </a:p>
          <a:p>
            <a:pPr algn="ctr" defTabSz="762000">
              <a:lnSpc>
                <a:spcPct val="87000"/>
              </a:lnSpc>
            </a:pPr>
            <a:endParaRPr lang="en-GB" sz="1600">
              <a:latin typeface="Arial" pitchFamily="34" charset="0"/>
            </a:endParaRPr>
          </a:p>
        </p:txBody>
      </p:sp>
      <p:sp>
        <p:nvSpPr>
          <p:cNvPr id="255001" name="Rectangle 25"/>
          <p:cNvSpPr>
            <a:spLocks noChangeArrowheads="1"/>
          </p:cNvSpPr>
          <p:nvPr/>
        </p:nvSpPr>
        <p:spPr bwMode="auto">
          <a:xfrm>
            <a:off x="1600200" y="5038725"/>
            <a:ext cx="1365250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>
              <a:lnSpc>
                <a:spcPct val="87000"/>
              </a:lnSpc>
              <a:defRPr/>
            </a:pPr>
            <a:r>
              <a:rPr lang="en-GB" sz="1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Integration</a:t>
            </a:r>
          </a:p>
        </p:txBody>
      </p:sp>
      <p:sp>
        <p:nvSpPr>
          <p:cNvPr id="43034" name="Rectangle 26"/>
          <p:cNvSpPr>
            <a:spLocks noChangeArrowheads="1"/>
          </p:cNvSpPr>
          <p:nvPr/>
        </p:nvSpPr>
        <p:spPr bwMode="auto">
          <a:xfrm>
            <a:off x="754063" y="5254625"/>
            <a:ext cx="695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87000"/>
              </a:lnSpc>
            </a:pPr>
            <a:r>
              <a:rPr lang="en-GB" sz="1600">
                <a:latin typeface="Arial" pitchFamily="34" charset="0"/>
              </a:rPr>
              <a:t>ECU</a:t>
            </a:r>
            <a:r>
              <a:rPr lang="en-GB" sz="1800" baseline="-10000">
                <a:latin typeface="Arial" pitchFamily="34" charset="0"/>
              </a:rPr>
              <a:t>1</a:t>
            </a:r>
          </a:p>
        </p:txBody>
      </p:sp>
      <p:sp>
        <p:nvSpPr>
          <p:cNvPr id="43035" name="Rectangle 27"/>
          <p:cNvSpPr>
            <a:spLocks noChangeArrowheads="1"/>
          </p:cNvSpPr>
          <p:nvPr/>
        </p:nvSpPr>
        <p:spPr bwMode="auto">
          <a:xfrm>
            <a:off x="3014663" y="5267325"/>
            <a:ext cx="7350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defTabSz="762000">
              <a:lnSpc>
                <a:spcPct val="87000"/>
              </a:lnSpc>
            </a:pPr>
            <a:r>
              <a:rPr lang="de-DE" sz="1600">
                <a:latin typeface="Arial" pitchFamily="34" charset="0"/>
              </a:rPr>
              <a:t>E</a:t>
            </a:r>
            <a:r>
              <a:rPr lang="en-GB" sz="1600">
                <a:latin typeface="Arial" pitchFamily="34" charset="0"/>
              </a:rPr>
              <a:t>CU</a:t>
            </a:r>
            <a:r>
              <a:rPr lang="en-GB" baseline="-10000">
                <a:latin typeface="Arial" pitchFamily="34" charset="0"/>
              </a:rPr>
              <a:t>n</a:t>
            </a:r>
          </a:p>
        </p:txBody>
      </p:sp>
      <p:sp>
        <p:nvSpPr>
          <p:cNvPr id="43036" name="Rectangle 28"/>
          <p:cNvSpPr>
            <a:spLocks noChangeArrowheads="1"/>
          </p:cNvSpPr>
          <p:nvPr/>
        </p:nvSpPr>
        <p:spPr bwMode="auto">
          <a:xfrm>
            <a:off x="4578350" y="1563688"/>
            <a:ext cx="40100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37" name="Rectangle 29"/>
          <p:cNvSpPr>
            <a:spLocks noChangeArrowheads="1"/>
          </p:cNvSpPr>
          <p:nvPr/>
        </p:nvSpPr>
        <p:spPr bwMode="auto">
          <a:xfrm>
            <a:off x="6934200" y="6562725"/>
            <a:ext cx="1535113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>
              <a:lnSpc>
                <a:spcPct val="87000"/>
              </a:lnSpc>
            </a:pPr>
            <a:r>
              <a:rPr lang="en-GB" sz="2000" i="1">
                <a:latin typeface="Arial" pitchFamily="34" charset="0"/>
              </a:rPr>
              <a:t>tomorrow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5029200" y="1609725"/>
            <a:ext cx="3548063" cy="4343400"/>
            <a:chOff x="3432" y="927"/>
            <a:chExt cx="2421" cy="2736"/>
          </a:xfrm>
        </p:grpSpPr>
        <p:sp>
          <p:nvSpPr>
            <p:cNvPr id="43072" name="Rectangle 31"/>
            <p:cNvSpPr>
              <a:spLocks noChangeArrowheads="1"/>
            </p:cNvSpPr>
            <p:nvPr/>
          </p:nvSpPr>
          <p:spPr bwMode="auto">
            <a:xfrm>
              <a:off x="4202" y="2653"/>
              <a:ext cx="125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3" name="Oval 32"/>
            <p:cNvSpPr>
              <a:spLocks noChangeArrowheads="1"/>
            </p:cNvSpPr>
            <p:nvPr/>
          </p:nvSpPr>
          <p:spPr bwMode="auto">
            <a:xfrm>
              <a:off x="3440" y="2843"/>
              <a:ext cx="2413" cy="768"/>
            </a:xfrm>
            <a:prstGeom prst="ellipse">
              <a:avLst/>
            </a:prstGeom>
            <a:solidFill>
              <a:srgbClr val="E9AB8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009" name="Rectangle 33"/>
            <p:cNvSpPr>
              <a:spLocks noChangeArrowheads="1"/>
            </p:cNvSpPr>
            <p:nvPr/>
          </p:nvSpPr>
          <p:spPr bwMode="auto">
            <a:xfrm>
              <a:off x="4224" y="3091"/>
              <a:ext cx="933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>
                <a:lnSpc>
                  <a:spcPct val="87000"/>
                </a:lnSpc>
                <a:defRPr/>
              </a:pPr>
              <a:r>
                <a:rPr lang="en-GB" sz="180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Integration</a:t>
              </a:r>
            </a:p>
          </p:txBody>
        </p:sp>
        <p:sp>
          <p:nvSpPr>
            <p:cNvPr id="43075" name="Oval 34"/>
            <p:cNvSpPr>
              <a:spLocks noChangeArrowheads="1"/>
            </p:cNvSpPr>
            <p:nvPr/>
          </p:nvSpPr>
          <p:spPr bwMode="auto">
            <a:xfrm>
              <a:off x="3432" y="1132"/>
              <a:ext cx="2413" cy="2207"/>
            </a:xfrm>
            <a:prstGeom prst="ellipse">
              <a:avLst/>
            </a:prstGeom>
            <a:gradFill rotWithShape="0">
              <a:gsLst>
                <a:gs pos="0">
                  <a:srgbClr val="762F76"/>
                </a:gs>
                <a:gs pos="50000">
                  <a:srgbClr val="FF66FF"/>
                </a:gs>
                <a:gs pos="100000">
                  <a:srgbClr val="762F76"/>
                </a:gs>
              </a:gsLst>
              <a:lin ang="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011" name="Rectangle 35"/>
            <p:cNvSpPr>
              <a:spLocks noChangeArrowheads="1"/>
            </p:cNvSpPr>
            <p:nvPr/>
          </p:nvSpPr>
          <p:spPr bwMode="auto">
            <a:xfrm>
              <a:off x="4212" y="1875"/>
              <a:ext cx="860" cy="6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defTabSz="762000">
                <a:lnSpc>
                  <a:spcPct val="87000"/>
                </a:lnSpc>
                <a:defRPr/>
              </a:pPr>
              <a:r>
                <a:rPr lang="de-DE" sz="160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Virtual</a:t>
              </a:r>
            </a:p>
            <a:p>
              <a:pPr algn="ctr" defTabSz="762000">
                <a:lnSpc>
                  <a:spcPct val="87000"/>
                </a:lnSpc>
                <a:defRPr/>
              </a:pPr>
              <a:endParaRPr lang="de-DE" sz="1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endParaRPr>
            </a:p>
            <a:p>
              <a:pPr algn="ctr" defTabSz="762000">
                <a:lnSpc>
                  <a:spcPct val="147000"/>
                </a:lnSpc>
                <a:defRPr/>
              </a:pPr>
              <a:endParaRPr lang="de-DE" sz="1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endParaRPr>
            </a:p>
            <a:p>
              <a:pPr algn="ctr" defTabSz="762000">
                <a:lnSpc>
                  <a:spcPct val="77000"/>
                </a:lnSpc>
                <a:defRPr/>
              </a:pPr>
              <a:r>
                <a:rPr lang="en-GB" sz="1600"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Integration</a:t>
              </a:r>
            </a:p>
          </p:txBody>
        </p:sp>
        <p:sp>
          <p:nvSpPr>
            <p:cNvPr id="43077" name="AutoShape 36"/>
            <p:cNvSpPr>
              <a:spLocks noChangeArrowheads="1"/>
            </p:cNvSpPr>
            <p:nvPr/>
          </p:nvSpPr>
          <p:spPr bwMode="auto">
            <a:xfrm>
              <a:off x="3670" y="927"/>
              <a:ext cx="422" cy="1763"/>
            </a:xfrm>
            <a:prstGeom prst="roundRect">
              <a:avLst>
                <a:gd name="adj" fmla="val 12468"/>
              </a:avLst>
            </a:prstGeom>
            <a:solidFill>
              <a:srgbClr val="FFFF9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8" name="AutoShape 37"/>
            <p:cNvSpPr>
              <a:spLocks noChangeArrowheads="1"/>
            </p:cNvSpPr>
            <p:nvPr/>
          </p:nvSpPr>
          <p:spPr bwMode="auto">
            <a:xfrm>
              <a:off x="5200" y="927"/>
              <a:ext cx="421" cy="1751"/>
            </a:xfrm>
            <a:prstGeom prst="roundRect">
              <a:avLst>
                <a:gd name="adj" fmla="val 12468"/>
              </a:avLst>
            </a:prstGeom>
            <a:solidFill>
              <a:srgbClr val="FFFF9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9" name="Rectangle 38"/>
            <p:cNvSpPr>
              <a:spLocks noChangeArrowheads="1"/>
            </p:cNvSpPr>
            <p:nvPr/>
          </p:nvSpPr>
          <p:spPr bwMode="auto">
            <a:xfrm>
              <a:off x="3640" y="975"/>
              <a:ext cx="441" cy="1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defTabSz="762000">
                <a:lnSpc>
                  <a:spcPct val="117000"/>
                </a:lnSpc>
              </a:pPr>
              <a:r>
                <a:rPr lang="en-GB" sz="1600">
                  <a:latin typeface="Arial" pitchFamily="34" charset="0"/>
                </a:rPr>
                <a:t>Fct</a:t>
              </a:r>
              <a:r>
                <a:rPr lang="en-GB" sz="1800" baseline="-10000">
                  <a:latin typeface="Arial" pitchFamily="34" charset="0"/>
                </a:rPr>
                <a:t>1</a:t>
              </a: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de-DE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Spec</a:t>
              </a: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&amp;</a:t>
              </a: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Sim.</a:t>
              </a: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en-GB" sz="1800" baseline="-10000">
                <a:latin typeface="Arial" pitchFamily="34" charset="0"/>
              </a:endParaRPr>
            </a:p>
          </p:txBody>
        </p:sp>
        <p:sp>
          <p:nvSpPr>
            <p:cNvPr id="43080" name="Rectangle 39"/>
            <p:cNvSpPr>
              <a:spLocks noChangeArrowheads="1"/>
            </p:cNvSpPr>
            <p:nvPr/>
          </p:nvSpPr>
          <p:spPr bwMode="auto">
            <a:xfrm>
              <a:off x="5201" y="975"/>
              <a:ext cx="441" cy="1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Fct</a:t>
              </a:r>
              <a:r>
                <a:rPr lang="en-GB" baseline="-10000">
                  <a:latin typeface="Arial" pitchFamily="34" charset="0"/>
                </a:rPr>
                <a:t>n</a:t>
              </a:r>
              <a:endParaRPr lang="en-GB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de-DE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Spec</a:t>
              </a: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&amp;</a:t>
              </a: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Sim.</a:t>
              </a: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</p:txBody>
        </p:sp>
        <p:sp>
          <p:nvSpPr>
            <p:cNvPr id="43081" name="AutoShape 40"/>
            <p:cNvSpPr>
              <a:spLocks noChangeArrowheads="1"/>
            </p:cNvSpPr>
            <p:nvPr/>
          </p:nvSpPr>
          <p:spPr bwMode="auto">
            <a:xfrm>
              <a:off x="3664" y="2858"/>
              <a:ext cx="417" cy="805"/>
            </a:xfrm>
            <a:prstGeom prst="roundRect">
              <a:avLst>
                <a:gd name="adj" fmla="val 12468"/>
              </a:avLst>
            </a:prstGeom>
            <a:solidFill>
              <a:srgbClr val="FFFF9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2" name="AutoShape 41"/>
            <p:cNvSpPr>
              <a:spLocks noChangeArrowheads="1"/>
            </p:cNvSpPr>
            <p:nvPr/>
          </p:nvSpPr>
          <p:spPr bwMode="auto">
            <a:xfrm>
              <a:off x="5210" y="2861"/>
              <a:ext cx="417" cy="802"/>
            </a:xfrm>
            <a:prstGeom prst="roundRect">
              <a:avLst>
                <a:gd name="adj" fmla="val 12468"/>
              </a:avLst>
            </a:prstGeom>
            <a:solidFill>
              <a:srgbClr val="FFFF9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3" name="Rectangle 42"/>
            <p:cNvSpPr>
              <a:spLocks noChangeArrowheads="1"/>
            </p:cNvSpPr>
            <p:nvPr/>
          </p:nvSpPr>
          <p:spPr bwMode="auto">
            <a:xfrm>
              <a:off x="3608" y="3010"/>
              <a:ext cx="5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ECU</a:t>
              </a:r>
              <a:r>
                <a:rPr lang="en-GB" sz="1800" baseline="-10000">
                  <a:latin typeface="Arial" pitchFamily="34" charset="0"/>
                </a:rPr>
                <a:t>1</a:t>
              </a:r>
            </a:p>
          </p:txBody>
        </p:sp>
        <p:sp>
          <p:nvSpPr>
            <p:cNvPr id="43084" name="Rectangle 43"/>
            <p:cNvSpPr>
              <a:spLocks noChangeArrowheads="1"/>
            </p:cNvSpPr>
            <p:nvPr/>
          </p:nvSpPr>
          <p:spPr bwMode="auto">
            <a:xfrm>
              <a:off x="5186" y="3010"/>
              <a:ext cx="5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ECU</a:t>
              </a:r>
              <a:r>
                <a:rPr lang="en-GB" baseline="-10000">
                  <a:latin typeface="Arial" pitchFamily="34" charset="0"/>
                </a:rPr>
                <a:t>k</a:t>
              </a:r>
            </a:p>
          </p:txBody>
        </p:sp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5286375" y="1609725"/>
            <a:ext cx="3141663" cy="4887913"/>
            <a:chOff x="3608" y="927"/>
            <a:chExt cx="2143" cy="3079"/>
          </a:xfrm>
        </p:grpSpPr>
        <p:sp>
          <p:nvSpPr>
            <p:cNvPr id="43048" name="Rectangle 45"/>
            <p:cNvSpPr>
              <a:spLocks noChangeArrowheads="1"/>
            </p:cNvSpPr>
            <p:nvPr/>
          </p:nvSpPr>
          <p:spPr bwMode="auto">
            <a:xfrm>
              <a:off x="4202" y="2653"/>
              <a:ext cx="125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9" name="Rectangle 46"/>
            <p:cNvSpPr>
              <a:spLocks noChangeArrowheads="1"/>
            </p:cNvSpPr>
            <p:nvPr/>
          </p:nvSpPr>
          <p:spPr bwMode="auto">
            <a:xfrm>
              <a:off x="4202" y="2653"/>
              <a:ext cx="125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0" name="Rectangle 47"/>
            <p:cNvSpPr>
              <a:spLocks noChangeArrowheads="1"/>
            </p:cNvSpPr>
            <p:nvPr/>
          </p:nvSpPr>
          <p:spPr bwMode="auto">
            <a:xfrm>
              <a:off x="4202" y="2653"/>
              <a:ext cx="125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024" name="Oval 48"/>
            <p:cNvSpPr>
              <a:spLocks noChangeArrowheads="1"/>
            </p:cNvSpPr>
            <p:nvPr/>
          </p:nvSpPr>
          <p:spPr bwMode="auto">
            <a:xfrm>
              <a:off x="3739" y="954"/>
              <a:ext cx="1786" cy="38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78824"/>
                    <a:invGamma/>
                  </a:schemeClr>
                </a:gs>
              </a:gsLst>
              <a:lin ang="18900000" scaled="1"/>
            </a:gra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5025" name="Rectangle 49"/>
            <p:cNvSpPr>
              <a:spLocks noChangeArrowheads="1"/>
            </p:cNvSpPr>
            <p:nvPr/>
          </p:nvSpPr>
          <p:spPr bwMode="auto">
            <a:xfrm>
              <a:off x="4243" y="951"/>
              <a:ext cx="744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>
                <a:lnSpc>
                  <a:spcPct val="87000"/>
                </a:lnSpc>
                <a:defRPr/>
              </a:pPr>
              <a:r>
                <a:rPr lang="en-GB" sz="180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itchFamily="34" charset="0"/>
                </a:rPr>
                <a:t>analysis</a:t>
              </a:r>
            </a:p>
          </p:txBody>
        </p:sp>
        <p:sp>
          <p:nvSpPr>
            <p:cNvPr id="43053" name="Oval 50"/>
            <p:cNvSpPr>
              <a:spLocks noChangeArrowheads="1"/>
            </p:cNvSpPr>
            <p:nvPr/>
          </p:nvSpPr>
          <p:spPr bwMode="auto">
            <a:xfrm>
              <a:off x="3742" y="2053"/>
              <a:ext cx="1787" cy="385"/>
            </a:xfrm>
            <a:prstGeom prst="ellipse">
              <a:avLst/>
            </a:prstGeom>
            <a:gradFill rotWithShape="0">
              <a:gsLst>
                <a:gs pos="0">
                  <a:srgbClr val="FFCC66"/>
                </a:gs>
                <a:gs pos="100000">
                  <a:srgbClr val="C9A150"/>
                </a:gs>
              </a:gsLst>
              <a:lin ang="189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027" name="Rectangle 51"/>
            <p:cNvSpPr>
              <a:spLocks noChangeArrowheads="1"/>
            </p:cNvSpPr>
            <p:nvPr/>
          </p:nvSpPr>
          <p:spPr bwMode="auto">
            <a:xfrm>
              <a:off x="4030" y="2079"/>
              <a:ext cx="1204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>
                <a:lnSpc>
                  <a:spcPct val="87000"/>
                </a:lnSpc>
                <a:defRPr/>
              </a:pPr>
              <a:r>
                <a:rPr lang="en-GB" sz="180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itchFamily="34" charset="0"/>
                </a:rPr>
                <a:t>system design</a:t>
              </a:r>
            </a:p>
          </p:txBody>
        </p:sp>
        <p:sp>
          <p:nvSpPr>
            <p:cNvPr id="255028" name="Oval 52"/>
            <p:cNvSpPr>
              <a:spLocks noChangeArrowheads="1"/>
            </p:cNvSpPr>
            <p:nvPr/>
          </p:nvSpPr>
          <p:spPr bwMode="auto">
            <a:xfrm>
              <a:off x="3754" y="2613"/>
              <a:ext cx="1786" cy="385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8824"/>
                    <a:invGamma/>
                  </a:schemeClr>
                </a:gs>
              </a:gsLst>
              <a:lin ang="189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5029" name="Rectangle 53"/>
            <p:cNvSpPr>
              <a:spLocks noChangeArrowheads="1"/>
            </p:cNvSpPr>
            <p:nvPr/>
          </p:nvSpPr>
          <p:spPr bwMode="auto">
            <a:xfrm>
              <a:off x="3974" y="2639"/>
              <a:ext cx="1321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>
                <a:lnSpc>
                  <a:spcPct val="87000"/>
                </a:lnSpc>
                <a:defRPr/>
              </a:pPr>
              <a:r>
                <a:rPr lang="en-GB" sz="1800">
                  <a:latin typeface="Arial" pitchFamily="34" charset="0"/>
                </a:rPr>
                <a:t> </a:t>
              </a:r>
              <a:r>
                <a:rPr lang="en-GB" sz="180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itchFamily="34" charset="0"/>
                </a:rPr>
                <a:t>implementation</a:t>
              </a:r>
            </a:p>
          </p:txBody>
        </p:sp>
        <p:sp>
          <p:nvSpPr>
            <p:cNvPr id="43057" name="Rectangle 54"/>
            <p:cNvSpPr>
              <a:spLocks noChangeArrowheads="1"/>
            </p:cNvSpPr>
            <p:nvPr/>
          </p:nvSpPr>
          <p:spPr bwMode="auto">
            <a:xfrm>
              <a:off x="4202" y="2669"/>
              <a:ext cx="125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031" name="Oval 55"/>
            <p:cNvSpPr>
              <a:spLocks noChangeArrowheads="1"/>
            </p:cNvSpPr>
            <p:nvPr/>
          </p:nvSpPr>
          <p:spPr bwMode="auto">
            <a:xfrm>
              <a:off x="3734" y="3621"/>
              <a:ext cx="1789" cy="385"/>
            </a:xfrm>
            <a:prstGeom prst="ellipse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78824"/>
                    <a:invGamma/>
                  </a:schemeClr>
                </a:gs>
              </a:gsLst>
              <a:lin ang="189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059" name="Rectangle 56"/>
            <p:cNvSpPr>
              <a:spLocks noChangeArrowheads="1"/>
            </p:cNvSpPr>
            <p:nvPr/>
          </p:nvSpPr>
          <p:spPr bwMode="auto">
            <a:xfrm>
              <a:off x="3777" y="3678"/>
              <a:ext cx="171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>
                <a:lnSpc>
                  <a:spcPct val="87000"/>
                </a:lnSpc>
              </a:pPr>
              <a:r>
                <a:rPr lang="en-GB" sz="1600">
                  <a:solidFill>
                    <a:schemeClr val="bg1"/>
                  </a:solidFill>
                  <a:latin typeface="Arial" pitchFamily="34" charset="0"/>
                </a:rPr>
                <a:t>production &amp; after sales</a:t>
              </a:r>
            </a:p>
          </p:txBody>
        </p:sp>
        <p:sp>
          <p:nvSpPr>
            <p:cNvPr id="43060" name="Oval 57"/>
            <p:cNvSpPr>
              <a:spLocks noChangeArrowheads="1"/>
            </p:cNvSpPr>
            <p:nvPr/>
          </p:nvSpPr>
          <p:spPr bwMode="auto">
            <a:xfrm>
              <a:off x="3752" y="1516"/>
              <a:ext cx="1786" cy="385"/>
            </a:xfrm>
            <a:prstGeom prst="ellipse">
              <a:avLst/>
            </a:prstGeom>
            <a:solidFill>
              <a:srgbClr val="969696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762000"/>
              <a:endParaRPr lang="en-US" sz="1800">
                <a:latin typeface="Arial" pitchFamily="34" charset="0"/>
              </a:endParaRPr>
            </a:p>
          </p:txBody>
        </p:sp>
        <p:sp>
          <p:nvSpPr>
            <p:cNvPr id="255034" name="Rectangle 58"/>
            <p:cNvSpPr>
              <a:spLocks noChangeArrowheads="1"/>
            </p:cNvSpPr>
            <p:nvPr/>
          </p:nvSpPr>
          <p:spPr bwMode="auto">
            <a:xfrm>
              <a:off x="4096" y="1522"/>
              <a:ext cx="1079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>
                <a:lnSpc>
                  <a:spcPct val="87000"/>
                </a:lnSpc>
                <a:defRPr/>
              </a:pPr>
              <a:r>
                <a:rPr lang="en-GB" sz="180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itchFamily="34" charset="0"/>
                </a:rPr>
                <a:t>specification</a:t>
              </a:r>
            </a:p>
          </p:txBody>
        </p:sp>
        <p:sp>
          <p:nvSpPr>
            <p:cNvPr id="43062" name="Oval 59"/>
            <p:cNvSpPr>
              <a:spLocks noChangeArrowheads="1"/>
            </p:cNvSpPr>
            <p:nvPr/>
          </p:nvSpPr>
          <p:spPr bwMode="auto">
            <a:xfrm>
              <a:off x="3726" y="3133"/>
              <a:ext cx="1786" cy="385"/>
            </a:xfrm>
            <a:prstGeom prst="ellipse">
              <a:avLst/>
            </a:prstGeom>
            <a:gradFill rotWithShape="0">
              <a:gsLst>
                <a:gs pos="0">
                  <a:srgbClr val="CC0099"/>
                </a:gs>
                <a:gs pos="100000">
                  <a:srgbClr val="A10079"/>
                </a:gs>
              </a:gsLst>
              <a:lin ang="189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036" name="Rectangle 60"/>
            <p:cNvSpPr>
              <a:spLocks noChangeArrowheads="1"/>
            </p:cNvSpPr>
            <p:nvPr/>
          </p:nvSpPr>
          <p:spPr bwMode="auto">
            <a:xfrm>
              <a:off x="4160" y="3151"/>
              <a:ext cx="914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>
                <a:lnSpc>
                  <a:spcPct val="87000"/>
                </a:lnSpc>
                <a:defRPr/>
              </a:pPr>
              <a:r>
                <a:rPr lang="en-GB" sz="180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itchFamily="34" charset="0"/>
                </a:rPr>
                <a:t>calibration</a:t>
              </a:r>
            </a:p>
          </p:txBody>
        </p:sp>
        <p:sp>
          <p:nvSpPr>
            <p:cNvPr id="43064" name="AutoShape 61"/>
            <p:cNvSpPr>
              <a:spLocks noChangeArrowheads="1"/>
            </p:cNvSpPr>
            <p:nvPr/>
          </p:nvSpPr>
          <p:spPr bwMode="auto">
            <a:xfrm>
              <a:off x="3664" y="2858"/>
              <a:ext cx="417" cy="805"/>
            </a:xfrm>
            <a:prstGeom prst="roundRect">
              <a:avLst>
                <a:gd name="adj" fmla="val 12468"/>
              </a:avLst>
            </a:prstGeom>
            <a:solidFill>
              <a:srgbClr val="FFFF9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5" name="Rectangle 62"/>
            <p:cNvSpPr>
              <a:spLocks noChangeArrowheads="1"/>
            </p:cNvSpPr>
            <p:nvPr/>
          </p:nvSpPr>
          <p:spPr bwMode="auto">
            <a:xfrm>
              <a:off x="3608" y="3010"/>
              <a:ext cx="5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ECU</a:t>
              </a:r>
              <a:r>
                <a:rPr lang="en-GB" sz="1800" baseline="-10000">
                  <a:latin typeface="Arial" pitchFamily="34" charset="0"/>
                </a:rPr>
                <a:t>1</a:t>
              </a:r>
            </a:p>
          </p:txBody>
        </p:sp>
        <p:sp>
          <p:nvSpPr>
            <p:cNvPr id="43066" name="AutoShape 63"/>
            <p:cNvSpPr>
              <a:spLocks noChangeArrowheads="1"/>
            </p:cNvSpPr>
            <p:nvPr/>
          </p:nvSpPr>
          <p:spPr bwMode="auto">
            <a:xfrm>
              <a:off x="5210" y="2861"/>
              <a:ext cx="417" cy="802"/>
            </a:xfrm>
            <a:prstGeom prst="roundRect">
              <a:avLst>
                <a:gd name="adj" fmla="val 12468"/>
              </a:avLst>
            </a:prstGeom>
            <a:solidFill>
              <a:srgbClr val="FFFF9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7" name="Rectangle 64"/>
            <p:cNvSpPr>
              <a:spLocks noChangeArrowheads="1"/>
            </p:cNvSpPr>
            <p:nvPr/>
          </p:nvSpPr>
          <p:spPr bwMode="auto">
            <a:xfrm>
              <a:off x="5186" y="3010"/>
              <a:ext cx="5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ECU</a:t>
              </a:r>
              <a:r>
                <a:rPr lang="en-GB" baseline="-10000">
                  <a:latin typeface="Arial" pitchFamily="34" charset="0"/>
                </a:rPr>
                <a:t>k</a:t>
              </a:r>
            </a:p>
          </p:txBody>
        </p:sp>
        <p:sp>
          <p:nvSpPr>
            <p:cNvPr id="43068" name="AutoShape 65"/>
            <p:cNvSpPr>
              <a:spLocks noChangeArrowheads="1"/>
            </p:cNvSpPr>
            <p:nvPr/>
          </p:nvSpPr>
          <p:spPr bwMode="auto">
            <a:xfrm>
              <a:off x="3670" y="927"/>
              <a:ext cx="422" cy="1763"/>
            </a:xfrm>
            <a:prstGeom prst="roundRect">
              <a:avLst>
                <a:gd name="adj" fmla="val 12468"/>
              </a:avLst>
            </a:prstGeom>
            <a:solidFill>
              <a:srgbClr val="FFFF9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9" name="AutoShape 66"/>
            <p:cNvSpPr>
              <a:spLocks noChangeArrowheads="1"/>
            </p:cNvSpPr>
            <p:nvPr/>
          </p:nvSpPr>
          <p:spPr bwMode="auto">
            <a:xfrm>
              <a:off x="5200" y="927"/>
              <a:ext cx="421" cy="1751"/>
            </a:xfrm>
            <a:prstGeom prst="roundRect">
              <a:avLst>
                <a:gd name="adj" fmla="val 12468"/>
              </a:avLst>
            </a:prstGeom>
            <a:solidFill>
              <a:srgbClr val="FFFF9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0" name="Rectangle 67"/>
            <p:cNvSpPr>
              <a:spLocks noChangeArrowheads="1"/>
            </p:cNvSpPr>
            <p:nvPr/>
          </p:nvSpPr>
          <p:spPr bwMode="auto">
            <a:xfrm>
              <a:off x="3640" y="975"/>
              <a:ext cx="441" cy="1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defTabSz="762000">
                <a:lnSpc>
                  <a:spcPct val="117000"/>
                </a:lnSpc>
              </a:pPr>
              <a:r>
                <a:rPr lang="en-GB" sz="1600">
                  <a:latin typeface="Arial" pitchFamily="34" charset="0"/>
                </a:rPr>
                <a:t>Fct</a:t>
              </a:r>
              <a:r>
                <a:rPr lang="en-GB" sz="1800" baseline="-10000">
                  <a:latin typeface="Arial" pitchFamily="34" charset="0"/>
                </a:rPr>
                <a:t>1</a:t>
              </a: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de-DE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Spec</a:t>
              </a: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&amp;</a:t>
              </a: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Sim.</a:t>
              </a: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en-GB" sz="1800" baseline="-10000">
                <a:latin typeface="Arial" pitchFamily="34" charset="0"/>
              </a:endParaRPr>
            </a:p>
          </p:txBody>
        </p:sp>
        <p:sp>
          <p:nvSpPr>
            <p:cNvPr id="43071" name="Rectangle 68"/>
            <p:cNvSpPr>
              <a:spLocks noChangeArrowheads="1"/>
            </p:cNvSpPr>
            <p:nvPr/>
          </p:nvSpPr>
          <p:spPr bwMode="auto">
            <a:xfrm>
              <a:off x="5201" y="975"/>
              <a:ext cx="441" cy="1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Fct</a:t>
              </a:r>
              <a:r>
                <a:rPr lang="en-GB" baseline="-10000">
                  <a:latin typeface="Arial" pitchFamily="34" charset="0"/>
                </a:rPr>
                <a:t>n</a:t>
              </a:r>
              <a:endParaRPr lang="en-GB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de-DE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Spec</a:t>
              </a: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&amp;</a:t>
              </a:r>
            </a:p>
            <a:p>
              <a:pPr algn="ctr" defTabSz="762000">
                <a:lnSpc>
                  <a:spcPct val="87000"/>
                </a:lnSpc>
              </a:pPr>
              <a:r>
                <a:rPr lang="en-GB" sz="1600">
                  <a:latin typeface="Arial" pitchFamily="34" charset="0"/>
                </a:rPr>
                <a:t>Sim.</a:t>
              </a:r>
            </a:p>
            <a:p>
              <a:pPr algn="ctr" defTabSz="762000">
                <a:lnSpc>
                  <a:spcPct val="87000"/>
                </a:lnSpc>
              </a:pPr>
              <a:endParaRPr lang="en-GB" sz="1600">
                <a:latin typeface="Arial" pitchFamily="34" charset="0"/>
              </a:endParaRPr>
            </a:p>
          </p:txBody>
        </p:sp>
      </p:grpSp>
      <p:sp>
        <p:nvSpPr>
          <p:cNvPr id="43040" name="Text Box 70"/>
          <p:cNvSpPr txBox="1">
            <a:spLocks noChangeArrowheads="1"/>
          </p:cNvSpPr>
          <p:nvPr/>
        </p:nvSpPr>
        <p:spPr bwMode="auto">
          <a:xfrm>
            <a:off x="6172200" y="7072313"/>
            <a:ext cx="212883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>
                <a:latin typeface="Tahoma" pitchFamily="34" charset="0"/>
              </a:rPr>
              <a:t>Source BMW</a:t>
            </a:r>
          </a:p>
        </p:txBody>
      </p:sp>
      <p:sp>
        <p:nvSpPr>
          <p:cNvPr id="255047" name="AutoShape 71"/>
          <p:cNvSpPr>
            <a:spLocks noChangeAspect="1" noChangeArrowheads="1"/>
          </p:cNvSpPr>
          <p:nvPr/>
        </p:nvSpPr>
        <p:spPr bwMode="auto">
          <a:xfrm>
            <a:off x="2217738" y="3397250"/>
            <a:ext cx="3417887" cy="515938"/>
          </a:xfrm>
          <a:prstGeom prst="wedgeRectCallout">
            <a:avLst>
              <a:gd name="adj1" fmla="val 76755"/>
              <a:gd name="adj2" fmla="val 569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  <a:latin typeface="Arial" pitchFamily="34" charset="0"/>
              </a:rPr>
              <a:t>Communication Protocol Adoption and Validation</a:t>
            </a:r>
          </a:p>
        </p:txBody>
      </p:sp>
      <p:sp>
        <p:nvSpPr>
          <p:cNvPr id="255048" name="AutoShape 72"/>
          <p:cNvSpPr>
            <a:spLocks noChangeAspect="1" noChangeArrowheads="1"/>
          </p:cNvSpPr>
          <p:nvPr/>
        </p:nvSpPr>
        <p:spPr bwMode="auto">
          <a:xfrm>
            <a:off x="2359025" y="4349750"/>
            <a:ext cx="3417888" cy="515938"/>
          </a:xfrm>
          <a:prstGeom prst="wedgeRectCallout">
            <a:avLst>
              <a:gd name="adj1" fmla="val 75361"/>
              <a:gd name="adj2" fmla="val -13892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  <a:latin typeface="Arial" pitchFamily="34" charset="0"/>
              </a:rPr>
              <a:t>Safety Concept Proof via Fault Injection</a:t>
            </a:r>
          </a:p>
        </p:txBody>
      </p:sp>
      <p:sp>
        <p:nvSpPr>
          <p:cNvPr id="255049" name="AutoShape 73"/>
          <p:cNvSpPr>
            <a:spLocks noChangeAspect="1" noChangeArrowheads="1"/>
          </p:cNvSpPr>
          <p:nvPr/>
        </p:nvSpPr>
        <p:spPr bwMode="auto">
          <a:xfrm>
            <a:off x="3790950" y="4956175"/>
            <a:ext cx="3417888" cy="515938"/>
          </a:xfrm>
          <a:prstGeom prst="wedgeRectCallout">
            <a:avLst>
              <a:gd name="adj1" fmla="val 39644"/>
              <a:gd name="adj2" fmla="val -254306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1600">
                <a:solidFill>
                  <a:srgbClr val="000000"/>
                </a:solidFill>
                <a:latin typeface="Arial" pitchFamily="34" charset="0"/>
              </a:rPr>
              <a:t>ECU Optimization/Derivative Design</a:t>
            </a:r>
          </a:p>
        </p:txBody>
      </p:sp>
      <p:sp>
        <p:nvSpPr>
          <p:cNvPr id="255050" name="AutoShape 74"/>
          <p:cNvSpPr>
            <a:spLocks noChangeAspect="1" noChangeArrowheads="1"/>
          </p:cNvSpPr>
          <p:nvPr/>
        </p:nvSpPr>
        <p:spPr bwMode="auto">
          <a:xfrm flipH="1">
            <a:off x="2508250" y="2295525"/>
            <a:ext cx="3121025" cy="515938"/>
          </a:xfrm>
          <a:prstGeom prst="wedgeRectCallout">
            <a:avLst>
              <a:gd name="adj1" fmla="val -79810"/>
              <a:gd name="adj2" fmla="val 1992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spcBef>
                <a:spcPct val="10000"/>
              </a:spcBef>
              <a:spcAft>
                <a:spcPct val="30000"/>
              </a:spcAft>
              <a:buClr>
                <a:srgbClr val="FC0128"/>
              </a:buClr>
              <a:buSzPct val="130000"/>
            </a:pPr>
            <a:r>
              <a:rPr lang="en-US" sz="1600">
                <a:solidFill>
                  <a:schemeClr val="bg1"/>
                </a:solidFill>
                <a:latin typeface="Arial" pitchFamily="34" charset="0"/>
              </a:rPr>
              <a:t>ECU SW Scheduling Adoption and Validation</a:t>
            </a:r>
          </a:p>
        </p:txBody>
      </p:sp>
      <p:sp>
        <p:nvSpPr>
          <p:cNvPr id="255051" name="AutoShape 75"/>
          <p:cNvSpPr>
            <a:spLocks noChangeAspect="1" noChangeArrowheads="1"/>
          </p:cNvSpPr>
          <p:nvPr/>
        </p:nvSpPr>
        <p:spPr bwMode="auto">
          <a:xfrm>
            <a:off x="5118100" y="1609725"/>
            <a:ext cx="3700463" cy="600075"/>
          </a:xfrm>
          <a:prstGeom prst="wedgeRectCallout">
            <a:avLst>
              <a:gd name="adj1" fmla="val -6241"/>
              <a:gd name="adj2" fmla="val 26084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1600">
                <a:solidFill>
                  <a:schemeClr val="bg1"/>
                </a:solidFill>
                <a:latin typeface="Arial" pitchFamily="34" charset="0"/>
              </a:rPr>
              <a:t>Functional Network Definition and Validation (Timed and un-Timed)</a:t>
            </a:r>
          </a:p>
        </p:txBody>
      </p:sp>
      <p:sp>
        <p:nvSpPr>
          <p:cNvPr id="43046" name="Title 7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Virtual Integration for Distributed System Design (by BMW)</a:t>
            </a:r>
          </a:p>
        </p:txBody>
      </p:sp>
      <p:sp>
        <p:nvSpPr>
          <p:cNvPr id="43047" name="Content Placeholder 76"/>
          <p:cNvSpPr>
            <a:spLocks noGrp="1"/>
          </p:cNvSpPr>
          <p:nvPr>
            <p:ph idx="1"/>
          </p:nvPr>
        </p:nvSpPr>
        <p:spPr>
          <a:xfrm>
            <a:off x="419100" y="2203450"/>
            <a:ext cx="8318500" cy="5067300"/>
          </a:xfrm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  <p:transition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047" grpId="0" animBg="1" autoUpdateAnimBg="0"/>
      <p:bldP spid="255048" grpId="0" animBg="1" autoUpdateAnimBg="0"/>
      <p:bldP spid="255049" grpId="0" animBg="1" autoUpdateAnimBg="0"/>
      <p:bldP spid="255050" grpId="0" animBg="1" autoUpdateAnimBg="0"/>
      <p:bldP spid="255051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6705600" cy="685800"/>
          </a:xfrm>
        </p:spPr>
        <p:txBody>
          <a:bodyPr/>
          <a:lstStyle/>
          <a:p>
            <a:r>
              <a:rPr lang="en-US" smtClean="0"/>
              <a:t>Design Flow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6580188" y="5213350"/>
            <a:ext cx="1946275" cy="284163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>
                <a:latin typeface="Arial" pitchFamily="34" charset="0"/>
              </a:rPr>
              <a:t>Physical Prototyping</a:t>
            </a: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3314700" y="350838"/>
            <a:ext cx="2436813" cy="303212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Requirement Specification</a:t>
            </a:r>
          </a:p>
        </p:txBody>
      </p:sp>
      <p:sp>
        <p:nvSpPr>
          <p:cNvPr id="191493" name="Text Box 5"/>
          <p:cNvSpPr txBox="1">
            <a:spLocks noChangeArrowheads="1"/>
          </p:cNvSpPr>
          <p:nvPr/>
        </p:nvSpPr>
        <p:spPr bwMode="auto">
          <a:xfrm>
            <a:off x="3063875" y="3938588"/>
            <a:ext cx="1068388" cy="303212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Mapping</a:t>
            </a:r>
          </a:p>
        </p:txBody>
      </p:sp>
      <p:sp>
        <p:nvSpPr>
          <p:cNvPr id="191494" name="Text Box 6"/>
          <p:cNvSpPr txBox="1">
            <a:spLocks noChangeArrowheads="1"/>
          </p:cNvSpPr>
          <p:nvPr/>
        </p:nvSpPr>
        <p:spPr bwMode="auto">
          <a:xfrm>
            <a:off x="4408488" y="4841875"/>
            <a:ext cx="1139825" cy="4953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Synthesis Export</a:t>
            </a:r>
          </a:p>
        </p:txBody>
      </p:sp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2814638" y="1209675"/>
            <a:ext cx="1566862" cy="303213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Algorithm Design</a:t>
            </a:r>
          </a:p>
        </p:txBody>
      </p:sp>
      <p:sp>
        <p:nvSpPr>
          <p:cNvPr id="191496" name="Text Box 8"/>
          <p:cNvSpPr txBox="1">
            <a:spLocks noChangeArrowheads="1"/>
          </p:cNvSpPr>
          <p:nvPr/>
        </p:nvSpPr>
        <p:spPr bwMode="auto">
          <a:xfrm>
            <a:off x="912813" y="6194425"/>
            <a:ext cx="1884362" cy="303213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Performance Simulation</a:t>
            </a:r>
          </a:p>
        </p:txBody>
      </p:sp>
      <p:sp>
        <p:nvSpPr>
          <p:cNvPr id="44041" name="AutoShape 9"/>
          <p:cNvSpPr>
            <a:spLocks noChangeArrowheads="1"/>
          </p:cNvSpPr>
          <p:nvPr/>
        </p:nvSpPr>
        <p:spPr bwMode="auto">
          <a:xfrm>
            <a:off x="2062163" y="1666875"/>
            <a:ext cx="757237" cy="398463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 sz="1000">
                <a:solidFill>
                  <a:schemeClr val="bg1"/>
                </a:solidFill>
                <a:latin typeface="Arial Narrow" pitchFamily="34" charset="0"/>
              </a:rPr>
              <a:t>Algorithms</a:t>
            </a:r>
          </a:p>
        </p:txBody>
      </p:sp>
      <p:sp>
        <p:nvSpPr>
          <p:cNvPr id="44042" name="AutoShape 10"/>
          <p:cNvSpPr>
            <a:spLocks noChangeArrowheads="1"/>
          </p:cNvSpPr>
          <p:nvPr/>
        </p:nvSpPr>
        <p:spPr bwMode="auto">
          <a:xfrm>
            <a:off x="4418013" y="3132138"/>
            <a:ext cx="784225" cy="455612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33CCCC"/>
              </a:gs>
              <a:gs pos="100000">
                <a:srgbClr val="185E5E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 sz="1000">
                <a:solidFill>
                  <a:schemeClr val="bg1"/>
                </a:solidFill>
                <a:latin typeface="Arial Narrow" pitchFamily="34" charset="0"/>
              </a:rPr>
              <a:t>Architectural IPs</a:t>
            </a:r>
          </a:p>
        </p:txBody>
      </p:sp>
      <p:sp>
        <p:nvSpPr>
          <p:cNvPr id="44043" name="Text Box 11"/>
          <p:cNvSpPr txBox="1">
            <a:spLocks noChangeArrowheads="1"/>
          </p:cNvSpPr>
          <p:nvPr/>
        </p:nvSpPr>
        <p:spPr bwMode="auto">
          <a:xfrm>
            <a:off x="1462088" y="741363"/>
            <a:ext cx="1906587" cy="284162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>
                <a:latin typeface="Arial Narrow" pitchFamily="34" charset="0"/>
              </a:rPr>
              <a:t>Algorithm Specifications</a:t>
            </a:r>
          </a:p>
        </p:txBody>
      </p:sp>
      <p:sp>
        <p:nvSpPr>
          <p:cNvPr id="44044" name="Text Box 12"/>
          <p:cNvSpPr txBox="1">
            <a:spLocks noChangeArrowheads="1"/>
          </p:cNvSpPr>
          <p:nvPr/>
        </p:nvSpPr>
        <p:spPr bwMode="auto">
          <a:xfrm>
            <a:off x="1638300" y="2268538"/>
            <a:ext cx="1603375" cy="4953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>
                <a:latin typeface="Arial Narrow" pitchFamily="34" charset="0"/>
              </a:rPr>
              <a:t>Behavioral Modeling</a:t>
            </a:r>
          </a:p>
        </p:txBody>
      </p:sp>
      <p:sp>
        <p:nvSpPr>
          <p:cNvPr id="191501" name="Text Box 13"/>
          <p:cNvSpPr txBox="1">
            <a:spLocks noChangeArrowheads="1"/>
          </p:cNvSpPr>
          <p:nvPr/>
        </p:nvSpPr>
        <p:spPr bwMode="auto">
          <a:xfrm>
            <a:off x="6475413" y="3014663"/>
            <a:ext cx="1068387" cy="687387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Architecture IP Authoring</a:t>
            </a:r>
          </a:p>
        </p:txBody>
      </p:sp>
      <p:sp>
        <p:nvSpPr>
          <p:cNvPr id="191502" name="Text Box 14"/>
          <p:cNvSpPr txBox="1">
            <a:spLocks noChangeArrowheads="1"/>
          </p:cNvSpPr>
          <p:nvPr/>
        </p:nvSpPr>
        <p:spPr bwMode="auto">
          <a:xfrm>
            <a:off x="990600" y="4365625"/>
            <a:ext cx="1719263" cy="4953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 dirty="0">
                <a:latin typeface="Arial Narrow" pitchFamily="34" charset="0"/>
              </a:rPr>
              <a:t>Distributed Architecture Analysis</a:t>
            </a:r>
          </a:p>
        </p:txBody>
      </p:sp>
      <p:sp>
        <p:nvSpPr>
          <p:cNvPr id="191503" name="Text Box 15"/>
          <p:cNvSpPr txBox="1">
            <a:spLocks noChangeArrowheads="1"/>
          </p:cNvSpPr>
          <p:nvPr/>
        </p:nvSpPr>
        <p:spPr bwMode="auto">
          <a:xfrm>
            <a:off x="515938" y="1208088"/>
            <a:ext cx="1568450" cy="303212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Algorithm Analysis</a:t>
            </a:r>
          </a:p>
        </p:txBody>
      </p:sp>
      <p:sp>
        <p:nvSpPr>
          <p:cNvPr id="191504" name="Text Box 16"/>
          <p:cNvSpPr txBox="1">
            <a:spLocks noChangeArrowheads="1"/>
          </p:cNvSpPr>
          <p:nvPr/>
        </p:nvSpPr>
        <p:spPr bwMode="auto">
          <a:xfrm>
            <a:off x="1000125" y="4860925"/>
            <a:ext cx="1709738" cy="4953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 dirty="0">
                <a:latin typeface="Arial Narrow" pitchFamily="34" charset="0"/>
              </a:rPr>
              <a:t>ECU Scheduling Analysis</a:t>
            </a:r>
          </a:p>
        </p:txBody>
      </p:sp>
      <p:sp>
        <p:nvSpPr>
          <p:cNvPr id="44049" name="AutoShape 17"/>
          <p:cNvSpPr>
            <a:spLocks noChangeArrowheads="1"/>
          </p:cNvSpPr>
          <p:nvPr/>
        </p:nvSpPr>
        <p:spPr bwMode="auto">
          <a:xfrm>
            <a:off x="3598863" y="5527675"/>
            <a:ext cx="819150" cy="4572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CCFFFF"/>
              </a:gs>
              <a:gs pos="100000">
                <a:srgbClr val="5E7676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 sz="1000">
                <a:latin typeface="Arial Narrow" pitchFamily="34" charset="0"/>
              </a:rPr>
              <a:t>SW platform</a:t>
            </a:r>
          </a:p>
        </p:txBody>
      </p:sp>
      <p:sp>
        <p:nvSpPr>
          <p:cNvPr id="44050" name="AutoShape 18"/>
          <p:cNvSpPr>
            <a:spLocks noChangeArrowheads="1"/>
          </p:cNvSpPr>
          <p:nvPr/>
        </p:nvSpPr>
        <p:spPr bwMode="auto">
          <a:xfrm>
            <a:off x="4595813" y="5545138"/>
            <a:ext cx="766762" cy="439737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CCFFFF"/>
              </a:gs>
              <a:gs pos="100000">
                <a:srgbClr val="5E7676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 sz="1000">
                <a:latin typeface="Arial Narrow" pitchFamily="34" charset="0"/>
              </a:rPr>
              <a:t>SW  tasks</a:t>
            </a:r>
          </a:p>
        </p:txBody>
      </p:sp>
      <p:sp>
        <p:nvSpPr>
          <p:cNvPr id="44051" name="AutoShape 19"/>
          <p:cNvSpPr>
            <a:spLocks noChangeArrowheads="1"/>
          </p:cNvSpPr>
          <p:nvPr/>
        </p:nvSpPr>
        <p:spPr bwMode="auto">
          <a:xfrm>
            <a:off x="5548313" y="5537200"/>
            <a:ext cx="895350" cy="649288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00FF00"/>
              </a:gs>
              <a:gs pos="100000">
                <a:srgbClr val="0076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 sz="1000">
                <a:latin typeface="Arial Narrow" pitchFamily="34" charset="0"/>
              </a:rPr>
              <a:t>Communication</a:t>
            </a:r>
          </a:p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 sz="1000">
                <a:latin typeface="Arial Narrow" pitchFamily="34" charset="0"/>
              </a:rPr>
              <a:t> Protocol </a:t>
            </a:r>
          </a:p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 sz="1000">
                <a:latin typeface="Arial Narrow" pitchFamily="34" charset="0"/>
              </a:rPr>
              <a:t>Configuration</a:t>
            </a:r>
          </a:p>
        </p:txBody>
      </p:sp>
      <p:sp>
        <p:nvSpPr>
          <p:cNvPr id="44052" name="AutoShape 20"/>
          <p:cNvSpPr>
            <a:spLocks noChangeArrowheads="1"/>
          </p:cNvSpPr>
          <p:nvPr/>
        </p:nvSpPr>
        <p:spPr bwMode="auto">
          <a:xfrm>
            <a:off x="2084388" y="3122613"/>
            <a:ext cx="712787" cy="493712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 sz="1000">
                <a:solidFill>
                  <a:schemeClr val="bg1"/>
                </a:solidFill>
                <a:latin typeface="Arial Narrow" pitchFamily="34" charset="0"/>
              </a:rPr>
              <a:t>Behavior IPs</a:t>
            </a:r>
          </a:p>
        </p:txBody>
      </p:sp>
      <p:sp>
        <p:nvSpPr>
          <p:cNvPr id="44053" name="AutoShape 21"/>
          <p:cNvSpPr>
            <a:spLocks noChangeArrowheads="1"/>
          </p:cNvSpPr>
          <p:nvPr/>
        </p:nvSpPr>
        <p:spPr bwMode="auto">
          <a:xfrm>
            <a:off x="3181350" y="4862513"/>
            <a:ext cx="814388" cy="457200"/>
          </a:xfrm>
          <a:prstGeom prst="can">
            <a:avLst>
              <a:gd name="adj" fmla="val 25000"/>
            </a:avLst>
          </a:prstGeom>
          <a:gradFill rotWithShape="0">
            <a:gsLst>
              <a:gs pos="0">
                <a:srgbClr val="FF0000"/>
              </a:gs>
              <a:gs pos="100000">
                <a:srgbClr val="760000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  <a:buFont typeface="Wingdings" pitchFamily="2" charset="2"/>
              <a:buNone/>
            </a:pPr>
            <a:r>
              <a:rPr lang="en-US" sz="1000">
                <a:solidFill>
                  <a:schemeClr val="bg1"/>
                </a:solidFill>
                <a:latin typeface="Arial Narrow" pitchFamily="34" charset="0"/>
              </a:rPr>
              <a:t>System Model</a:t>
            </a:r>
          </a:p>
        </p:txBody>
      </p:sp>
      <p:cxnSp>
        <p:nvCxnSpPr>
          <p:cNvPr id="44054" name="AutoShape 22"/>
          <p:cNvCxnSpPr>
            <a:cxnSpLocks noChangeShapeType="1"/>
            <a:stCxn id="44041" idx="1"/>
            <a:endCxn id="191503" idx="3"/>
          </p:cNvCxnSpPr>
          <p:nvPr/>
        </p:nvCxnSpPr>
        <p:spPr bwMode="auto">
          <a:xfrm rot="5400000" flipH="1">
            <a:off x="2120107" y="1337469"/>
            <a:ext cx="293687" cy="346075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55" name="AutoShape 23"/>
          <p:cNvCxnSpPr>
            <a:cxnSpLocks noChangeShapeType="1"/>
            <a:stCxn id="191503" idx="2"/>
            <a:endCxn id="44041" idx="2"/>
          </p:cNvCxnSpPr>
          <p:nvPr/>
        </p:nvCxnSpPr>
        <p:spPr bwMode="auto">
          <a:xfrm rot="16200000" flipH="1">
            <a:off x="1504951" y="1319212"/>
            <a:ext cx="342900" cy="752475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56" name="AutoShape 24"/>
          <p:cNvCxnSpPr>
            <a:cxnSpLocks noChangeShapeType="1"/>
            <a:stCxn id="44041" idx="1"/>
            <a:endCxn id="191495" idx="1"/>
          </p:cNvCxnSpPr>
          <p:nvPr/>
        </p:nvCxnSpPr>
        <p:spPr bwMode="auto">
          <a:xfrm rot="-5400000">
            <a:off x="2475707" y="1327944"/>
            <a:ext cx="293687" cy="365125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57" name="AutoShape 25"/>
          <p:cNvCxnSpPr>
            <a:cxnSpLocks noChangeShapeType="1"/>
            <a:stCxn id="191495" idx="2"/>
            <a:endCxn id="44041" idx="4"/>
          </p:cNvCxnSpPr>
          <p:nvPr/>
        </p:nvCxnSpPr>
        <p:spPr bwMode="auto">
          <a:xfrm rot="5400000">
            <a:off x="3041651" y="1309687"/>
            <a:ext cx="342900" cy="771525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58" name="AutoShape 26"/>
          <p:cNvCxnSpPr>
            <a:cxnSpLocks noChangeShapeType="1"/>
            <a:stCxn id="44041" idx="3"/>
            <a:endCxn id="44044" idx="0"/>
          </p:cNvCxnSpPr>
          <p:nvPr/>
        </p:nvCxnSpPr>
        <p:spPr bwMode="auto">
          <a:xfrm rot="5400000">
            <a:off x="2299494" y="2215357"/>
            <a:ext cx="2809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059" name="AutoShape 27"/>
          <p:cNvCxnSpPr>
            <a:cxnSpLocks noChangeShapeType="1"/>
            <a:stCxn id="44044" idx="2"/>
            <a:endCxn id="44052" idx="1"/>
          </p:cNvCxnSpPr>
          <p:nvPr/>
        </p:nvCxnSpPr>
        <p:spPr bwMode="auto">
          <a:xfrm rot="5400000">
            <a:off x="2222500" y="2895601"/>
            <a:ext cx="4349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060" name="AutoShape 28"/>
          <p:cNvCxnSpPr>
            <a:cxnSpLocks noChangeShapeType="1"/>
            <a:stCxn id="44052" idx="4"/>
            <a:endCxn id="191493" idx="0"/>
          </p:cNvCxnSpPr>
          <p:nvPr/>
        </p:nvCxnSpPr>
        <p:spPr bwMode="auto">
          <a:xfrm>
            <a:off x="2805113" y="3368675"/>
            <a:ext cx="793750" cy="561975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61" name="AutoShape 29"/>
          <p:cNvCxnSpPr>
            <a:cxnSpLocks noChangeShapeType="1"/>
            <a:stCxn id="44042" idx="2"/>
            <a:endCxn id="191493" idx="0"/>
          </p:cNvCxnSpPr>
          <p:nvPr/>
        </p:nvCxnSpPr>
        <p:spPr bwMode="auto">
          <a:xfrm rot="10800000" flipV="1">
            <a:off x="3598863" y="3359150"/>
            <a:ext cx="809625" cy="571500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62" name="AutoShape 30"/>
          <p:cNvCxnSpPr>
            <a:cxnSpLocks noChangeShapeType="1"/>
            <a:stCxn id="191493" idx="2"/>
            <a:endCxn id="44053" idx="1"/>
          </p:cNvCxnSpPr>
          <p:nvPr/>
        </p:nvCxnSpPr>
        <p:spPr bwMode="auto">
          <a:xfrm rot="5400000">
            <a:off x="3294063" y="4548188"/>
            <a:ext cx="600075" cy="9525"/>
          </a:xfrm>
          <a:prstGeom prst="bentConnector3">
            <a:avLst>
              <a:gd name="adj1" fmla="val 4987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91519" name="Text Box 31"/>
          <p:cNvSpPr txBox="1">
            <a:spLocks noChangeArrowheads="1"/>
          </p:cNvSpPr>
          <p:nvPr/>
        </p:nvSpPr>
        <p:spPr bwMode="auto">
          <a:xfrm>
            <a:off x="3852863" y="2354263"/>
            <a:ext cx="1914525" cy="303212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Architectural Modeling</a:t>
            </a:r>
          </a:p>
        </p:txBody>
      </p:sp>
      <p:cxnSp>
        <p:nvCxnSpPr>
          <p:cNvPr id="44064" name="AutoShape 32"/>
          <p:cNvCxnSpPr>
            <a:cxnSpLocks noChangeShapeType="1"/>
            <a:stCxn id="191519" idx="2"/>
            <a:endCxn id="44042" idx="1"/>
          </p:cNvCxnSpPr>
          <p:nvPr/>
        </p:nvCxnSpPr>
        <p:spPr bwMode="auto">
          <a:xfrm rot="5400000">
            <a:off x="4583112" y="2895601"/>
            <a:ext cx="4540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065" name="AutoShape 33"/>
          <p:cNvCxnSpPr>
            <a:cxnSpLocks noChangeShapeType="1"/>
            <a:stCxn id="191501" idx="1"/>
            <a:endCxn id="44042" idx="4"/>
          </p:cNvCxnSpPr>
          <p:nvPr/>
        </p:nvCxnSpPr>
        <p:spPr bwMode="auto">
          <a:xfrm rot="10800000">
            <a:off x="5210175" y="3359150"/>
            <a:ext cx="12557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066" name="AutoShape 34"/>
          <p:cNvCxnSpPr>
            <a:cxnSpLocks noChangeShapeType="1"/>
            <a:stCxn id="191492" idx="2"/>
            <a:endCxn id="191519" idx="0"/>
          </p:cNvCxnSpPr>
          <p:nvPr/>
        </p:nvCxnSpPr>
        <p:spPr bwMode="auto">
          <a:xfrm rot="16200000" flipH="1">
            <a:off x="3831432" y="1367631"/>
            <a:ext cx="1681162" cy="276225"/>
          </a:xfrm>
          <a:prstGeom prst="bentConnector3">
            <a:avLst>
              <a:gd name="adj1" fmla="val 16019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67" name="AutoShape 35"/>
          <p:cNvCxnSpPr>
            <a:cxnSpLocks noChangeShapeType="1"/>
            <a:stCxn id="191492" idx="2"/>
            <a:endCxn id="191495" idx="0"/>
          </p:cNvCxnSpPr>
          <p:nvPr/>
        </p:nvCxnSpPr>
        <p:spPr bwMode="auto">
          <a:xfrm rot="5400000">
            <a:off x="3798094" y="465932"/>
            <a:ext cx="536575" cy="935037"/>
          </a:xfrm>
          <a:prstGeom prst="bentConnector3">
            <a:avLst>
              <a:gd name="adj1" fmla="val 49852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68" name="AutoShape 36"/>
          <p:cNvCxnSpPr>
            <a:cxnSpLocks noChangeShapeType="1"/>
            <a:stCxn id="191496" idx="3"/>
            <a:endCxn id="44053" idx="2"/>
          </p:cNvCxnSpPr>
          <p:nvPr/>
        </p:nvCxnSpPr>
        <p:spPr bwMode="auto">
          <a:xfrm flipV="1">
            <a:off x="2805113" y="5091113"/>
            <a:ext cx="366712" cy="1257300"/>
          </a:xfrm>
          <a:prstGeom prst="bentConnector3">
            <a:avLst>
              <a:gd name="adj1" fmla="val 49796"/>
            </a:avLst>
          </a:prstGeom>
          <a:noFill/>
          <a:ln w="19050">
            <a:solidFill>
              <a:schemeClr val="tx1"/>
            </a:solidFill>
            <a:miter lim="800000"/>
            <a:headEnd type="triangle" w="med" len="med"/>
            <a:tailEnd/>
          </a:ln>
        </p:spPr>
      </p:cxnSp>
      <p:cxnSp>
        <p:nvCxnSpPr>
          <p:cNvPr id="44069" name="AutoShape 37"/>
          <p:cNvCxnSpPr>
            <a:cxnSpLocks noChangeShapeType="1"/>
            <a:stCxn id="44053" idx="4"/>
            <a:endCxn id="191494" idx="1"/>
          </p:cNvCxnSpPr>
          <p:nvPr/>
        </p:nvCxnSpPr>
        <p:spPr bwMode="auto">
          <a:xfrm>
            <a:off x="4005263" y="5091113"/>
            <a:ext cx="3952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070" name="AutoShape 38"/>
          <p:cNvCxnSpPr>
            <a:cxnSpLocks noChangeShapeType="1"/>
            <a:stCxn id="191530" idx="1"/>
            <a:endCxn id="191503" idx="1"/>
          </p:cNvCxnSpPr>
          <p:nvPr/>
        </p:nvCxnSpPr>
        <p:spPr bwMode="auto">
          <a:xfrm rot="10800000">
            <a:off x="508000" y="1363663"/>
            <a:ext cx="484188" cy="4144962"/>
          </a:xfrm>
          <a:prstGeom prst="bentConnector3">
            <a:avLst>
              <a:gd name="adj1" fmla="val 142333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71" name="AutoShape 39"/>
          <p:cNvCxnSpPr>
            <a:cxnSpLocks noChangeShapeType="1"/>
            <a:stCxn id="191502" idx="1"/>
            <a:endCxn id="44044" idx="1"/>
          </p:cNvCxnSpPr>
          <p:nvPr/>
        </p:nvCxnSpPr>
        <p:spPr bwMode="auto">
          <a:xfrm rot="10800000" flipH="1">
            <a:off x="982663" y="2517775"/>
            <a:ext cx="647700" cy="2097088"/>
          </a:xfrm>
          <a:prstGeom prst="bentConnector3">
            <a:avLst>
              <a:gd name="adj1" fmla="val -106194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91528" name="Text Box 40"/>
          <p:cNvSpPr txBox="1">
            <a:spLocks noChangeArrowheads="1"/>
          </p:cNvSpPr>
          <p:nvPr/>
        </p:nvSpPr>
        <p:spPr bwMode="auto">
          <a:xfrm>
            <a:off x="3963988" y="6329363"/>
            <a:ext cx="1139825" cy="4953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Compile/Link/Load</a:t>
            </a:r>
          </a:p>
        </p:txBody>
      </p:sp>
      <p:cxnSp>
        <p:nvCxnSpPr>
          <p:cNvPr id="44073" name="AutoShape 41"/>
          <p:cNvCxnSpPr>
            <a:cxnSpLocks noChangeShapeType="1"/>
            <a:stCxn id="191496" idx="0"/>
            <a:endCxn id="191530" idx="2"/>
          </p:cNvCxnSpPr>
          <p:nvPr/>
        </p:nvCxnSpPr>
        <p:spPr bwMode="auto">
          <a:xfrm rot="-5400000">
            <a:off x="1597025" y="5927726"/>
            <a:ext cx="5175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1530" name="Text Box 42"/>
          <p:cNvSpPr txBox="1">
            <a:spLocks noChangeArrowheads="1"/>
          </p:cNvSpPr>
          <p:nvPr/>
        </p:nvSpPr>
        <p:spPr bwMode="auto">
          <a:xfrm>
            <a:off x="1000125" y="5260975"/>
            <a:ext cx="1709738" cy="4953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Algorithm Performance</a:t>
            </a:r>
          </a:p>
        </p:txBody>
      </p:sp>
      <p:cxnSp>
        <p:nvCxnSpPr>
          <p:cNvPr id="44075" name="AutoShape 43"/>
          <p:cNvCxnSpPr>
            <a:cxnSpLocks noChangeShapeType="1"/>
            <a:stCxn id="191502" idx="3"/>
            <a:endCxn id="191519" idx="3"/>
          </p:cNvCxnSpPr>
          <p:nvPr/>
        </p:nvCxnSpPr>
        <p:spPr bwMode="auto">
          <a:xfrm flipV="1">
            <a:off x="2717800" y="2508250"/>
            <a:ext cx="3057525" cy="2106613"/>
          </a:xfrm>
          <a:prstGeom prst="bentConnector3">
            <a:avLst>
              <a:gd name="adj1" fmla="val 106699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76" name="AutoShape 44"/>
          <p:cNvCxnSpPr>
            <a:cxnSpLocks noChangeShapeType="1"/>
            <a:stCxn id="191494" idx="2"/>
            <a:endCxn id="44050" idx="1"/>
          </p:cNvCxnSpPr>
          <p:nvPr/>
        </p:nvCxnSpPr>
        <p:spPr bwMode="auto">
          <a:xfrm rot="5400000">
            <a:off x="4884737" y="5441951"/>
            <a:ext cx="1873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077" name="AutoShape 45"/>
          <p:cNvCxnSpPr>
            <a:cxnSpLocks noChangeShapeType="1"/>
            <a:stCxn id="44050" idx="3"/>
            <a:endCxn id="191528" idx="0"/>
          </p:cNvCxnSpPr>
          <p:nvPr/>
        </p:nvCxnSpPr>
        <p:spPr bwMode="auto">
          <a:xfrm rot="5400000">
            <a:off x="4593431" y="5934869"/>
            <a:ext cx="325438" cy="444500"/>
          </a:xfrm>
          <a:prstGeom prst="bentConnector3">
            <a:avLst>
              <a:gd name="adj1" fmla="val 49755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78" name="AutoShape 46"/>
          <p:cNvCxnSpPr>
            <a:cxnSpLocks noChangeShapeType="1"/>
            <a:stCxn id="44049" idx="3"/>
            <a:endCxn id="191528" idx="0"/>
          </p:cNvCxnSpPr>
          <p:nvPr/>
        </p:nvCxnSpPr>
        <p:spPr bwMode="auto">
          <a:xfrm rot="16200000" flipH="1">
            <a:off x="4108450" y="5894388"/>
            <a:ext cx="325438" cy="525462"/>
          </a:xfrm>
          <a:prstGeom prst="bentConnector3">
            <a:avLst>
              <a:gd name="adj1" fmla="val 49755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79" name="AutoShape 47"/>
          <p:cNvCxnSpPr>
            <a:cxnSpLocks noChangeShapeType="1"/>
            <a:stCxn id="191504" idx="1"/>
            <a:endCxn id="191493" idx="1"/>
          </p:cNvCxnSpPr>
          <p:nvPr/>
        </p:nvCxnSpPr>
        <p:spPr bwMode="auto">
          <a:xfrm rot="10800000" flipH="1">
            <a:off x="992188" y="4092575"/>
            <a:ext cx="2063750" cy="1017588"/>
          </a:xfrm>
          <a:prstGeom prst="bentConnector3">
            <a:avLst>
              <a:gd name="adj1" fmla="val -34176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pic>
        <p:nvPicPr>
          <p:cNvPr id="44080" name="Picture 48"/>
          <p:cNvPicPr>
            <a:picLocks noChangeArrowheads="1"/>
          </p:cNvPicPr>
          <p:nvPr/>
        </p:nvPicPr>
        <p:blipFill>
          <a:blip r:embed="rId3"/>
          <a:srcRect l="1700" t="18140" r="900" b="19099"/>
          <a:stretch>
            <a:fillRect/>
          </a:stretch>
        </p:blipFill>
        <p:spPr bwMode="auto">
          <a:xfrm>
            <a:off x="5956300" y="6196013"/>
            <a:ext cx="1354138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81" name="Picture 49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13488" y="6418263"/>
            <a:ext cx="7842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4082" name="AutoShape 50"/>
          <p:cNvCxnSpPr>
            <a:cxnSpLocks noChangeShapeType="1"/>
            <a:stCxn id="191528" idx="3"/>
          </p:cNvCxnSpPr>
          <p:nvPr/>
        </p:nvCxnSpPr>
        <p:spPr bwMode="auto">
          <a:xfrm>
            <a:off x="5111750" y="6577013"/>
            <a:ext cx="1201738" cy="9525"/>
          </a:xfrm>
          <a:prstGeom prst="bentConnector3">
            <a:avLst>
              <a:gd name="adj1" fmla="val 49569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91539" name="Text Box 51"/>
          <p:cNvSpPr txBox="1">
            <a:spLocks noChangeArrowheads="1"/>
          </p:cNvSpPr>
          <p:nvPr/>
        </p:nvSpPr>
        <p:spPr bwMode="auto">
          <a:xfrm>
            <a:off x="7099300" y="5710238"/>
            <a:ext cx="908050" cy="303212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Load</a:t>
            </a:r>
          </a:p>
        </p:txBody>
      </p:sp>
      <p:cxnSp>
        <p:nvCxnSpPr>
          <p:cNvPr id="44084" name="AutoShape 52"/>
          <p:cNvCxnSpPr>
            <a:cxnSpLocks noChangeShapeType="1"/>
            <a:stCxn id="44051" idx="4"/>
            <a:endCxn id="191539" idx="1"/>
          </p:cNvCxnSpPr>
          <p:nvPr/>
        </p:nvCxnSpPr>
        <p:spPr bwMode="auto">
          <a:xfrm>
            <a:off x="6453188" y="5862638"/>
            <a:ext cx="635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085" name="AutoShape 53"/>
          <p:cNvCxnSpPr>
            <a:cxnSpLocks noChangeShapeType="1"/>
            <a:stCxn id="191539" idx="2"/>
          </p:cNvCxnSpPr>
          <p:nvPr/>
        </p:nvCxnSpPr>
        <p:spPr bwMode="auto">
          <a:xfrm rot="5400000">
            <a:off x="7043737" y="6076951"/>
            <a:ext cx="563563" cy="455612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86" name="AutoShape 54"/>
          <p:cNvCxnSpPr>
            <a:cxnSpLocks noChangeShapeType="1"/>
            <a:stCxn id="191494" idx="2"/>
            <a:endCxn id="44051" idx="1"/>
          </p:cNvCxnSpPr>
          <p:nvPr/>
        </p:nvCxnSpPr>
        <p:spPr bwMode="auto">
          <a:xfrm>
            <a:off x="4978400" y="5348288"/>
            <a:ext cx="1019175" cy="1793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087" name="AutoShape 55"/>
          <p:cNvCxnSpPr>
            <a:cxnSpLocks noChangeShapeType="1"/>
            <a:stCxn id="191494" idx="2"/>
            <a:endCxn id="44049" idx="1"/>
          </p:cNvCxnSpPr>
          <p:nvPr/>
        </p:nvCxnSpPr>
        <p:spPr bwMode="auto">
          <a:xfrm flipH="1">
            <a:off x="4008438" y="5348288"/>
            <a:ext cx="969962" cy="1698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4088" name="Text Box 56"/>
          <p:cNvSpPr txBox="1">
            <a:spLocks noChangeArrowheads="1"/>
          </p:cNvSpPr>
          <p:nvPr/>
        </p:nvSpPr>
        <p:spPr bwMode="auto">
          <a:xfrm>
            <a:off x="6583363" y="2232025"/>
            <a:ext cx="1779587" cy="284163"/>
          </a:xfrm>
          <a:prstGeom prst="rect">
            <a:avLst/>
          </a:prstGeom>
          <a:solidFill>
            <a:schemeClr val="accent1"/>
          </a:solidFill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1400">
                <a:latin typeface="Arial" pitchFamily="34" charset="0"/>
              </a:rPr>
              <a:t>Virtual Prototyping</a:t>
            </a:r>
          </a:p>
        </p:txBody>
      </p:sp>
      <p:cxnSp>
        <p:nvCxnSpPr>
          <p:cNvPr id="44089" name="AutoShape 57"/>
          <p:cNvCxnSpPr>
            <a:cxnSpLocks noChangeShapeType="1"/>
            <a:stCxn id="191502" idx="3"/>
            <a:endCxn id="191501" idx="3"/>
          </p:cNvCxnSpPr>
          <p:nvPr/>
        </p:nvCxnSpPr>
        <p:spPr bwMode="auto">
          <a:xfrm flipV="1">
            <a:off x="2717800" y="3359150"/>
            <a:ext cx="4835525" cy="1255713"/>
          </a:xfrm>
          <a:prstGeom prst="bentConnector3">
            <a:avLst>
              <a:gd name="adj1" fmla="val 104236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91546" name="Text Box 58"/>
          <p:cNvSpPr txBox="1">
            <a:spLocks noChangeArrowheads="1"/>
          </p:cNvSpPr>
          <p:nvPr/>
        </p:nvSpPr>
        <p:spPr bwMode="auto">
          <a:xfrm>
            <a:off x="5519738" y="1123950"/>
            <a:ext cx="1568450" cy="4953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1400">
                <a:latin typeface="Arial Narrow" pitchFamily="34" charset="0"/>
              </a:rPr>
              <a:t>Environment-Test Bench Modeling</a:t>
            </a:r>
          </a:p>
        </p:txBody>
      </p:sp>
      <p:cxnSp>
        <p:nvCxnSpPr>
          <p:cNvPr id="44091" name="AutoShape 59"/>
          <p:cNvCxnSpPr>
            <a:cxnSpLocks noChangeShapeType="1"/>
          </p:cNvCxnSpPr>
          <p:nvPr/>
        </p:nvCxnSpPr>
        <p:spPr bwMode="auto">
          <a:xfrm>
            <a:off x="4529138" y="914400"/>
            <a:ext cx="1774825" cy="220663"/>
          </a:xfrm>
          <a:prstGeom prst="bentConnector2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4092" name="AutoShape 60"/>
          <p:cNvCxnSpPr>
            <a:cxnSpLocks noChangeShapeType="1"/>
            <a:endCxn id="191546" idx="3"/>
          </p:cNvCxnSpPr>
          <p:nvPr/>
        </p:nvCxnSpPr>
        <p:spPr bwMode="auto">
          <a:xfrm rot="5400000" flipH="1">
            <a:off x="6438900" y="2030413"/>
            <a:ext cx="1985963" cy="668337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44093" name="Line 61"/>
          <p:cNvSpPr>
            <a:spLocks noChangeShapeType="1"/>
          </p:cNvSpPr>
          <p:nvPr/>
        </p:nvSpPr>
        <p:spPr bwMode="auto">
          <a:xfrm>
            <a:off x="6303963" y="1620838"/>
            <a:ext cx="1587" cy="274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94" name="Line 62"/>
          <p:cNvSpPr>
            <a:spLocks noChangeShapeType="1"/>
          </p:cNvSpPr>
          <p:nvPr/>
        </p:nvSpPr>
        <p:spPr bwMode="auto">
          <a:xfrm flipH="1">
            <a:off x="3852863" y="4367213"/>
            <a:ext cx="245110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95" name="Line 63"/>
          <p:cNvSpPr>
            <a:spLocks noChangeShapeType="1"/>
          </p:cNvSpPr>
          <p:nvPr/>
        </p:nvSpPr>
        <p:spPr bwMode="auto">
          <a:xfrm>
            <a:off x="3852863" y="4367213"/>
            <a:ext cx="1587" cy="495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State of Automotive Computer Control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smtClean="0"/>
              <a:t>Control systems</a:t>
            </a:r>
          </a:p>
          <a:p>
            <a:r>
              <a:rPr lang="en-US" sz="2000" smtClean="0"/>
              <a:t>ABS, ESC/ASC, traction control system (“Elk test”)</a:t>
            </a:r>
          </a:p>
          <a:p>
            <a:r>
              <a:rPr lang="en-US" sz="2000" smtClean="0"/>
              <a:t>Air bag</a:t>
            </a:r>
          </a:p>
          <a:p>
            <a:r>
              <a:rPr lang="en-US" sz="2000" smtClean="0"/>
              <a:t>Engine control (injection)</a:t>
            </a:r>
          </a:p>
          <a:p>
            <a:r>
              <a:rPr lang="en-US" sz="2000" smtClean="0"/>
              <a:t>Hill start assist</a:t>
            </a:r>
          </a:p>
          <a:p>
            <a:r>
              <a:rPr lang="en-US" sz="2000" smtClean="0"/>
              <a:t>Drive (steer) by wire</a:t>
            </a:r>
          </a:p>
          <a:p>
            <a:pPr lvl="1"/>
            <a:endParaRPr lang="en-US" sz="2000" smtClean="0"/>
          </a:p>
          <a:p>
            <a:endParaRPr lang="en-US" sz="2000" smtClean="0"/>
          </a:p>
        </p:txBody>
      </p:sp>
      <p:sp>
        <p:nvSpPr>
          <p:cNvPr id="45060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smtClean="0"/>
              <a:t>Assist systems</a:t>
            </a:r>
          </a:p>
          <a:p>
            <a:r>
              <a:rPr lang="en-US" sz="2000" smtClean="0"/>
              <a:t>Tire pressure monitoring</a:t>
            </a:r>
          </a:p>
          <a:p>
            <a:r>
              <a:rPr lang="en-US" sz="2000" smtClean="0"/>
              <a:t>Backup camera</a:t>
            </a:r>
          </a:p>
          <a:p>
            <a:r>
              <a:rPr lang="en-US" sz="2000" smtClean="0"/>
              <a:t>automatic cruise control (follow speed of leading car)</a:t>
            </a:r>
          </a:p>
          <a:p>
            <a:r>
              <a:rPr lang="en-US" sz="2000" smtClean="0"/>
              <a:t>Blind spot information system</a:t>
            </a:r>
          </a:p>
          <a:p>
            <a:r>
              <a:rPr lang="en-US" sz="2000" smtClean="0"/>
              <a:t>Lane departure warning</a:t>
            </a:r>
          </a:p>
          <a:p>
            <a:r>
              <a:rPr lang="en-US" sz="2000" smtClean="0"/>
              <a:t>Collision avoidance system</a:t>
            </a:r>
          </a:p>
          <a:p>
            <a:r>
              <a:rPr lang="en-US" sz="2000" smtClean="0"/>
              <a:t>Drive drowsiness detection</a:t>
            </a:r>
          </a:p>
          <a:p>
            <a:r>
              <a:rPr lang="en-US" sz="2000" smtClean="0"/>
              <a:t>Automatic parking system</a:t>
            </a:r>
          </a:p>
          <a:p>
            <a:endParaRPr lang="en-US" sz="2000" smtClean="0"/>
          </a:p>
        </p:txBody>
      </p:sp>
      <p:pic>
        <p:nvPicPr>
          <p:cNvPr id="45061" name="Picture 5" descr="tmp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3213" y="4405313"/>
            <a:ext cx="2851150" cy="187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62" name="Picture 7" descr="tmp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5163" y="4605338"/>
            <a:ext cx="1423987" cy="14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Integration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Too many subsystems, wires (4km!!), controls</a:t>
            </a:r>
          </a:p>
          <a:p>
            <a:pPr lvl="1">
              <a:defRPr/>
            </a:pPr>
            <a:r>
              <a:rPr lang="en-US" dirty="0" smtClean="0">
                <a:solidFill>
                  <a:srgbClr val="FF0000"/>
                </a:solidFill>
              </a:rPr>
              <a:t>Consolidate into electronic control units (ECUs)</a:t>
            </a:r>
          </a:p>
          <a:p>
            <a:pPr lvl="2">
              <a:defRPr/>
            </a:pPr>
            <a:r>
              <a:rPr lang="en-US" dirty="0" smtClean="0"/>
              <a:t>Higher-end embedded systems (multi-cores, GPUs, …)</a:t>
            </a:r>
          </a:p>
          <a:p>
            <a:pPr lvl="2">
              <a:buFontTx/>
              <a:buChar char="-"/>
              <a:defRPr/>
            </a:pPr>
            <a:r>
              <a:rPr lang="en-US" dirty="0" smtClean="0"/>
              <a:t>Multiple vendors needs to share ECU for their subsystems</a:t>
            </a:r>
          </a:p>
          <a:p>
            <a:pPr lvl="3">
              <a:buFontTx/>
              <a:buChar char="-"/>
              <a:defRPr/>
            </a:pPr>
            <a:r>
              <a:rPr lang="en-US" sz="1800" dirty="0" smtClean="0">
                <a:latin typeface="+mn-lt"/>
              </a:rPr>
              <a:t>Inter-operability challenges!</a:t>
            </a:r>
          </a:p>
          <a:p>
            <a:pPr lvl="1">
              <a:defRPr/>
            </a:pPr>
            <a:r>
              <a:rPr lang="en-US" dirty="0" smtClean="0"/>
              <a:t>Objective: reduce 70-200 micro-processors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3-4 ECUs</a:t>
            </a:r>
          </a:p>
          <a:p>
            <a:pPr lvl="2">
              <a:defRPr/>
            </a:pPr>
            <a:r>
              <a:rPr lang="en-US" dirty="0" smtClean="0">
                <a:ea typeface="+mn-ea"/>
                <a:cs typeface="+mn-cs"/>
              </a:rPr>
              <a:t> Propulsion: ICE, EV, hybrid (ASIL D)</a:t>
            </a:r>
          </a:p>
          <a:p>
            <a:pPr lvl="2">
              <a:defRPr/>
            </a:pPr>
            <a:r>
              <a:rPr lang="en-US" dirty="0" smtClean="0">
                <a:ea typeface="+mn-ea"/>
                <a:cs typeface="+mn-cs"/>
              </a:rPr>
              <a:t> Safety: airbag braking, steering, ADAS (ASIL D)</a:t>
            </a:r>
          </a:p>
          <a:p>
            <a:pPr lvl="2">
              <a:defRPr/>
            </a:pPr>
            <a:r>
              <a:rPr lang="en-US" dirty="0" smtClean="0">
                <a:ea typeface="+mn-ea"/>
                <a:cs typeface="+mn-cs"/>
              </a:rPr>
              <a:t> Body: AC/heat, door modules, seat electronics, parking</a:t>
            </a:r>
          </a:p>
          <a:p>
            <a:pPr lvl="2">
              <a:defRPr/>
            </a:pPr>
            <a:r>
              <a:rPr lang="en-US" dirty="0" smtClean="0">
                <a:ea typeface="+mn-ea"/>
                <a:cs typeface="+mn-cs"/>
              </a:rPr>
              <a:t> brake, lighting, security (ASIL B) (also infotainment)</a:t>
            </a:r>
          </a:p>
          <a:p>
            <a:pPr lvl="1">
              <a:defRPr/>
            </a:pPr>
            <a:r>
              <a:rPr lang="en-US" dirty="0" smtClean="0">
                <a:ea typeface="+mn-ea"/>
                <a:cs typeface="+mn-cs"/>
              </a:rPr>
              <a:t>Partitioned hypervisors for mixed criticality</a:t>
            </a:r>
          </a:p>
          <a:p>
            <a:pPr lvl="1">
              <a:defRPr/>
            </a:pPr>
            <a:r>
              <a:rPr lang="en-US" dirty="0" smtClean="0"/>
              <a:t> Use shared-bus networks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automotive Ethernet</a:t>
            </a:r>
          </a:p>
          <a:p>
            <a:pPr lvl="2">
              <a:defRPr/>
            </a:pPr>
            <a:r>
              <a:rPr lang="en-US" dirty="0" smtClean="0"/>
              <a:t> less weight/cost for wires</a:t>
            </a:r>
          </a:p>
          <a:p>
            <a:pPr lvl="2">
              <a:defRPr/>
            </a:pPr>
            <a:endParaRPr lang="en-US" dirty="0"/>
          </a:p>
        </p:txBody>
      </p:sp>
      <p:pic>
        <p:nvPicPr>
          <p:cNvPr id="46084" name="Picture 6" descr="tmp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6375" y="0"/>
            <a:ext cx="2387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m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12757" y="2421924"/>
            <a:ext cx="2097199" cy="2199501"/>
          </a:xfrm>
          <a:prstGeom prst="rect">
            <a:avLst/>
          </a:prstGeom>
        </p:spPr>
      </p:pic>
      <p:pic>
        <p:nvPicPr>
          <p:cNvPr id="6" name="Picture 5" descr="tm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52519" y="4145693"/>
            <a:ext cx="2168611" cy="21686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Bringing it all together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698711"/>
            <a:ext cx="4083050" cy="1069203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en-US" sz="2000" dirty="0" smtClean="0"/>
              <a:t>Embedded systems</a:t>
            </a:r>
            <a:endParaRPr lang="en-US" sz="2000" dirty="0" smtClean="0">
              <a:sym typeface="Wingdings" pitchFamily="2" charset="2"/>
            </a:endParaRPr>
          </a:p>
          <a:p>
            <a:pPr lvl="1"/>
            <a:r>
              <a:rPr lang="en-US" sz="2000" dirty="0" smtClean="0">
                <a:sym typeface="Wingdings" pitchFamily="2" charset="2"/>
              </a:rPr>
              <a:t>Conventional control: </a:t>
            </a:r>
            <a:br>
              <a:rPr lang="en-US" sz="2000" dirty="0" smtClean="0">
                <a:sym typeface="Wingdings" pitchFamily="2" charset="2"/>
              </a:rPr>
            </a:br>
            <a:r>
              <a:rPr lang="en-US" sz="2000" dirty="0" smtClean="0">
                <a:sym typeface="Wingdings" pitchFamily="2" charset="2"/>
              </a:rPr>
              <a:t>use formal methods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5188" y="2081771"/>
            <a:ext cx="4083050" cy="1736468"/>
          </a:xfrm>
          <a:ln>
            <a:solidFill>
              <a:srgbClr val="0070C0"/>
            </a:solidFill>
          </a:ln>
        </p:spPr>
        <p:txBody>
          <a:bodyPr/>
          <a:lstStyle/>
          <a:p>
            <a:r>
              <a:rPr lang="en-US" sz="2000" dirty="0" smtClean="0">
                <a:sym typeface="Wingdings" pitchFamily="2" charset="2"/>
              </a:rPr>
              <a:t>Machine learning</a:t>
            </a:r>
          </a:p>
          <a:p>
            <a:pPr lvl="1"/>
            <a:r>
              <a:rPr lang="en-US" sz="2000" dirty="0" smtClean="0">
                <a:sym typeface="Wingdings" pitchFamily="2" charset="2"/>
              </a:rPr>
              <a:t>Object recognition, tracking etc.</a:t>
            </a:r>
          </a:p>
          <a:p>
            <a:pPr lvl="1"/>
            <a:r>
              <a:rPr lang="en-US" sz="2000" dirty="0" smtClean="0">
                <a:sym typeface="Wingdings" pitchFamily="2" charset="2"/>
              </a:rPr>
              <a:t>High-level decision trees / reinforcement learning?</a:t>
            </a:r>
          </a:p>
          <a:p>
            <a:endParaRPr lang="en-US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437375" y="4680823"/>
            <a:ext cx="4083050" cy="1769417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marL="292100" marR="0" lvl="0" indent="-292100" algn="l" defTabSz="914400" rtl="0" eaLnBrk="0" fontAlgn="base" latinLnBrk="0" hangingPunct="0">
              <a:lnSpc>
                <a:spcPts val="2400"/>
              </a:lnSpc>
              <a:spcBef>
                <a:spcPts val="6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Wingdings" pitchFamily="2" charset="2"/>
              <a:buChar char="l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Real-time systems</a:t>
            </a:r>
          </a:p>
          <a:p>
            <a:pPr marL="800100" marR="0" lvl="1" indent="-342900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itchFamily="34" charset="0"/>
              <a:buChar char="—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Verified scheduling  at low level</a:t>
            </a:r>
          </a:p>
          <a:p>
            <a:pPr marL="800100" marR="0" lvl="1" indent="-342900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itchFamily="34" charset="0"/>
              <a:buChar char="—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Timing analysis of code</a:t>
            </a:r>
          </a:p>
          <a:p>
            <a:pPr marL="914400" marR="0" lvl="2" indent="0" algn="l" defTabSz="914400" rtl="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ts val="400"/>
              </a:spcAft>
              <a:buClr>
                <a:srgbClr val="0C7B9C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Wingdings" pitchFamily="2" charset="2"/>
              </a:rPr>
              <a:t>Dynamic vs. static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ain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plain">
      <a:majorFont>
        <a:latin typeface="Arial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lai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i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Settings\mueller\My Documents\tex\ncsu\classes\rt\readings\plain.pot</Template>
  <TotalTime>44810</TotalTime>
  <Words>2301</Words>
  <Application>Microsoft PowerPoint</Application>
  <PresentationFormat>On-screen Show (4:3)</PresentationFormat>
  <Paragraphs>623</Paragraphs>
  <Slides>45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plain</vt:lpstr>
      <vt:lpstr>CSC 549/ECE 591:  Embedded/Real-Time Systems for Autonomous Driving with Machine Learning </vt:lpstr>
      <vt:lpstr>Questions?</vt:lpstr>
      <vt:lpstr>Logistics</vt:lpstr>
      <vt:lpstr>Course Overview</vt:lpstr>
      <vt:lpstr>Textbooks – background reading</vt:lpstr>
      <vt:lpstr>Textbooks - optional</vt:lpstr>
      <vt:lpstr>Topics </vt:lpstr>
      <vt:lpstr>Programming Assignments</vt:lpstr>
      <vt:lpstr>ARM+GPU Platforms</vt:lpstr>
      <vt:lpstr>ARC Cluster</vt:lpstr>
      <vt:lpstr>Course Requirements</vt:lpstr>
      <vt:lpstr>Grading</vt:lpstr>
      <vt:lpstr>Today</vt:lpstr>
      <vt:lpstr>(1) Embedded System</vt:lpstr>
      <vt:lpstr>Networked Control System (NCS)</vt:lpstr>
      <vt:lpstr>Cyber Physical System (CPS)</vt:lpstr>
      <vt:lpstr>(2) Real-time System </vt:lpstr>
      <vt:lpstr>Sample Real-Time Applications</vt:lpstr>
      <vt:lpstr>Simple Control System (Continued)</vt:lpstr>
      <vt:lpstr>Multi-rate Control Systems</vt:lpstr>
      <vt:lpstr> </vt:lpstr>
      <vt:lpstr>Real Time Terminology</vt:lpstr>
      <vt:lpstr>Example</vt:lpstr>
      <vt:lpstr>Example</vt:lpstr>
      <vt:lpstr>Example</vt:lpstr>
      <vt:lpstr>Example</vt:lpstr>
      <vt:lpstr>Example</vt:lpstr>
      <vt:lpstr>Types Real-Time Systems</vt:lpstr>
      <vt:lpstr>Notation</vt:lpstr>
      <vt:lpstr>Examples</vt:lpstr>
      <vt:lpstr>Definitions for Periodic Task Systems</vt:lpstr>
      <vt:lpstr>Algorithms</vt:lpstr>
      <vt:lpstr>Optimality and Feasibility</vt:lpstr>
      <vt:lpstr>Feasibility versus Schedulability</vt:lpstr>
      <vt:lpstr>Automotive Control Systems</vt:lpstr>
      <vt:lpstr>Automotive Sensor, Actuators, Networks</vt:lpstr>
      <vt:lpstr>The Automotive Electronic Design Chain</vt:lpstr>
      <vt:lpstr>Automotive Control: Distributed Systems</vt:lpstr>
      <vt:lpstr>Automotive Supply Chain: Tier 1 Subsystem Providers</vt:lpstr>
      <vt:lpstr>Automotive Supply Chain: Tier 2 Platform &amp; IP Providers</vt:lpstr>
      <vt:lpstr>Virtual Integration for Distributed System Design (by BMW)</vt:lpstr>
      <vt:lpstr>Design Flow</vt:lpstr>
      <vt:lpstr>State of Automotive Computer Control</vt:lpstr>
      <vt:lpstr>Integration</vt:lpstr>
      <vt:lpstr>Bringing it all together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real-time systems</dc:title>
  <dc:subject>Comp 232</dc:subject>
  <dc:creator>James H. Anderson</dc:creator>
  <cp:lastModifiedBy>mueller</cp:lastModifiedBy>
  <cp:revision>794</cp:revision>
  <cp:lastPrinted>2000-01-12T18:43:42Z</cp:lastPrinted>
  <dcterms:created xsi:type="dcterms:W3CDTF">1995-06-17T23:31:02Z</dcterms:created>
  <dcterms:modified xsi:type="dcterms:W3CDTF">2026-01-15T15:05:33Z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3</vt:i4>
  </property>
  <property fmtid="{D5CDD505-2E9C-101B-9397-08002B2CF9AE}" pid="7" name="MailAddress">
    <vt:lpwstr>moir@cs.pitt.edu</vt:lpwstr>
  </property>
  <property fmtid="{D5CDD505-2E9C-101B-9397-08002B2CF9AE}" pid="8" name="HomePage">
    <vt:lpwstr>http://www.cs.pitt.edu/~moir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8454143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D:\My Documents</vt:lpwstr>
  </property>
</Properties>
</file>