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29"/>
  </p:notesMasterIdLst>
  <p:handoutMasterIdLst>
    <p:handoutMasterId r:id="rId30"/>
  </p:handoutMasterIdLst>
  <p:sldIdLst>
    <p:sldId id="374" r:id="rId2"/>
    <p:sldId id="344" r:id="rId3"/>
    <p:sldId id="343" r:id="rId4"/>
    <p:sldId id="345" r:id="rId5"/>
    <p:sldId id="346" r:id="rId6"/>
    <p:sldId id="347" r:id="rId7"/>
    <p:sldId id="348" r:id="rId8"/>
    <p:sldId id="349" r:id="rId9"/>
    <p:sldId id="350" r:id="rId10"/>
    <p:sldId id="351" r:id="rId11"/>
    <p:sldId id="352" r:id="rId12"/>
    <p:sldId id="358" r:id="rId13"/>
    <p:sldId id="359" r:id="rId14"/>
    <p:sldId id="360" r:id="rId15"/>
    <p:sldId id="361" r:id="rId16"/>
    <p:sldId id="362" r:id="rId17"/>
    <p:sldId id="363" r:id="rId18"/>
    <p:sldId id="364" r:id="rId19"/>
    <p:sldId id="365" r:id="rId20"/>
    <p:sldId id="366" r:id="rId21"/>
    <p:sldId id="367" r:id="rId22"/>
    <p:sldId id="368" r:id="rId23"/>
    <p:sldId id="369" r:id="rId24"/>
    <p:sldId id="370" r:id="rId25"/>
    <p:sldId id="371" r:id="rId26"/>
    <p:sldId id="372" r:id="rId27"/>
    <p:sldId id="373" r:id="rId28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u="sng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u="sng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u="sng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u="sng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u="sng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u="sng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u="sng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u="sng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u="sng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CCECFF"/>
    <a:srgbClr val="99CCFF"/>
    <a:srgbClr val="CCFF99"/>
    <a:srgbClr val="CC0000"/>
    <a:srgbClr val="33CC33"/>
    <a:srgbClr val="DDDDDD"/>
    <a:srgbClr val="008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2787"/>
    <p:restoredTop sz="90929"/>
  </p:normalViewPr>
  <p:slideViewPr>
    <p:cSldViewPr snapToGrid="0">
      <p:cViewPr varScale="1">
        <p:scale>
          <a:sx n="95" d="100"/>
          <a:sy n="95" d="100"/>
        </p:scale>
        <p:origin x="-360" y="-102"/>
      </p:cViewPr>
      <p:guideLst>
        <p:guide orient="horz" pos="869"/>
        <p:guide pos="49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02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3175"/>
            <a:ext cx="2971800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l" defTabSz="931863">
              <a:defRPr sz="1000" i="1" u="none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-3175"/>
            <a:ext cx="2971800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931863">
              <a:defRPr sz="1000" i="1" u="none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5700" y="698500"/>
            <a:ext cx="4546600" cy="3409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343400"/>
            <a:ext cx="5032375" cy="411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662" tIns="46038" rIns="93662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8388"/>
            <a:ext cx="2971800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l" defTabSz="931863">
              <a:defRPr sz="1000" i="1" u="none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8388"/>
            <a:ext cx="2971800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931863">
              <a:defRPr sz="1000" i="1" u="none" smtClean="0"/>
            </a:lvl1pPr>
          </a:lstStyle>
          <a:p>
            <a:pPr>
              <a:defRPr/>
            </a:pPr>
            <a:fld id="{FE351561-1FF1-4693-8871-DCD38290CD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3186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61963" algn="l" defTabSz="93186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23925" algn="l" defTabSz="93186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87475" algn="l" defTabSz="93186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49438" algn="l" defTabSz="93186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351561-1FF1-4693-8871-DCD38290CD0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351561-1FF1-4693-8871-DCD38290CD0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C15A3C-F89D-44F6-8A13-AF052BCA9AE8}" type="slidenum">
              <a:rPr lang="en-US"/>
              <a:pPr/>
              <a:t>8</a:t>
            </a:fld>
            <a:endParaRPr 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E37B82-92C2-4C58-AC6E-396AE9250ADF}" type="slidenum">
              <a:rPr lang="en-US"/>
              <a:pPr/>
              <a:t>9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/>
              <a:t>Optimal: always produces feasible schedule if one exists</a:t>
            </a:r>
          </a:p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3C2984-E65D-47F1-AE27-72D49CE31139}" type="slidenum">
              <a:rPr lang="en-US"/>
              <a:pPr/>
              <a:t>15</a:t>
            </a:fld>
            <a:endParaRPr lang="en-US"/>
          </a:p>
        </p:txBody>
      </p:sp>
      <p:sp>
        <p:nvSpPr>
          <p:cNvPr id="3072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solidFill>
                  <a:schemeClr val="tx2"/>
                </a:solidFill>
                <a:sym typeface="Symbol" pitchFamily="82" charset="2"/>
              </a:rPr>
              <a:t> delta,  Delta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9100" y="1587500"/>
            <a:ext cx="4083050" cy="5067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550" y="1587500"/>
            <a:ext cx="4083050" cy="5067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7975" y="298450"/>
            <a:ext cx="2079625" cy="63563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9100" y="298450"/>
            <a:ext cx="6086475" cy="63563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074"/>
          <p:cNvSpPr>
            <a:spLocks noGrp="1" noChangeArrowheads="1"/>
          </p:cNvSpPr>
          <p:nvPr>
            <p:ph type="title"/>
          </p:nvPr>
        </p:nvSpPr>
        <p:spPr bwMode="auto">
          <a:xfrm>
            <a:off x="419100" y="298450"/>
            <a:ext cx="8280400" cy="908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487" tIns="44450" rIns="90487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07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9100" y="1587500"/>
            <a:ext cx="8318500" cy="5067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435204" name="Rectangle 3076"/>
          <p:cNvSpPr>
            <a:spLocks noChangeArrowheads="1"/>
          </p:cNvSpPr>
          <p:nvPr/>
        </p:nvSpPr>
        <p:spPr bwMode="auto">
          <a:xfrm>
            <a:off x="8007350" y="6650038"/>
            <a:ext cx="666750" cy="136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algn="r">
              <a:defRPr/>
            </a:pPr>
            <a:r>
              <a:rPr lang="en-US" sz="900" u="none">
                <a:latin typeface="Arial" charset="0"/>
              </a:rPr>
              <a:t> </a:t>
            </a:r>
            <a:fld id="{86B5D8E6-AA19-45A8-8C6A-AFF0F6AD7832}" type="slidenum">
              <a:rPr lang="en-US" sz="900" u="none">
                <a:latin typeface="Arial" charset="0"/>
              </a:rPr>
              <a:pPr algn="r">
                <a:defRPr/>
              </a:pPr>
              <a:t>‹#›</a:t>
            </a:fld>
            <a:endParaRPr lang="en-US" sz="900" u="none">
              <a:latin typeface="Arial" charset="0"/>
            </a:endParaRPr>
          </a:p>
        </p:txBody>
      </p:sp>
      <p:grpSp>
        <p:nvGrpSpPr>
          <p:cNvPr id="1030" name="Group 3078"/>
          <p:cNvGrpSpPr>
            <a:grpSpLocks/>
          </p:cNvGrpSpPr>
          <p:nvPr/>
        </p:nvGrpSpPr>
        <p:grpSpPr bwMode="auto">
          <a:xfrm>
            <a:off x="419100" y="1250950"/>
            <a:ext cx="8305800" cy="196850"/>
            <a:chOff x="264" y="788"/>
            <a:chExt cx="5232" cy="124"/>
          </a:xfrm>
        </p:grpSpPr>
        <p:sp>
          <p:nvSpPr>
            <p:cNvPr id="435207" name="Rectangle 3079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12C2E9">
                    <a:gamma/>
                    <a:shade val="80000"/>
                    <a:invGamma/>
                  </a:srgbClr>
                </a:gs>
                <a:gs pos="50000">
                  <a:srgbClr val="12C2E9"/>
                </a:gs>
                <a:gs pos="100000">
                  <a:srgbClr val="12C2E9">
                    <a:gamma/>
                    <a:shade val="80000"/>
                    <a:invGamma/>
                  </a:srgbClr>
                </a:gs>
              </a:gsLst>
              <a:lin ang="5400000" scaled="1"/>
            </a:gra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35208" name="Rectangle 3080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FF00FF">
                    <a:gamma/>
                    <a:shade val="69804"/>
                    <a:invGamma/>
                  </a:srgbClr>
                </a:gs>
                <a:gs pos="50000">
                  <a:srgbClr val="FF00FF"/>
                </a:gs>
                <a:gs pos="100000">
                  <a:srgbClr val="FF00FF">
                    <a:gamma/>
                    <a:shade val="69804"/>
                    <a:invGamma/>
                  </a:srgbClr>
                </a:gs>
              </a:gsLst>
              <a:lin ang="0" scaled="1"/>
            </a:gra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9pPr>
    </p:titleStyle>
    <p:bodyStyle>
      <a:lvl1pPr marL="292100" indent="-292100" algn="l" rtl="0" eaLnBrk="0" fontAlgn="base" hangingPunct="0">
        <a:lnSpc>
          <a:spcPts val="2400"/>
        </a:lnSpc>
        <a:spcBef>
          <a:spcPts val="600"/>
        </a:spcBef>
        <a:spcAft>
          <a:spcPts val="400"/>
        </a:spcAft>
        <a:buClr>
          <a:srgbClr val="0C7B9C"/>
        </a:buClr>
        <a:buSzPct val="75000"/>
        <a:buFont typeface="Wingdings" pitchFamily="82" charset="2"/>
        <a:buChar char="l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lnSpc>
          <a:spcPts val="2400"/>
        </a:lnSpc>
        <a:spcBef>
          <a:spcPct val="0"/>
        </a:spcBef>
        <a:spcAft>
          <a:spcPts val="400"/>
        </a:spcAft>
        <a:buClr>
          <a:srgbClr val="0C7B9C"/>
        </a:buClr>
        <a:buSzPct val="100000"/>
        <a:buFont typeface="Arial" charset="0"/>
        <a:buChar char="—"/>
        <a:defRPr sz="2000">
          <a:solidFill>
            <a:schemeClr val="tx1"/>
          </a:solidFill>
          <a:latin typeface="+mn-lt"/>
        </a:defRPr>
      </a:lvl2pPr>
      <a:lvl3pPr marL="914400" algn="l" rtl="0" eaLnBrk="0" fontAlgn="base" hangingPunct="0">
        <a:lnSpc>
          <a:spcPts val="2400"/>
        </a:lnSpc>
        <a:spcBef>
          <a:spcPct val="0"/>
        </a:spcBef>
        <a:spcAft>
          <a:spcPts val="400"/>
        </a:spcAft>
        <a:buClr>
          <a:srgbClr val="0C7B9C"/>
        </a:buClr>
        <a:buSzPct val="100000"/>
        <a:buChar char="–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327025"/>
            <a:ext cx="8280400" cy="908050"/>
          </a:xfrm>
        </p:spPr>
        <p:txBody>
          <a:bodyPr/>
          <a:lstStyle/>
          <a:p>
            <a:r>
              <a:rPr lang="en-US" smtClean="0"/>
              <a:t>Dynamic-priority Scheduling </a:t>
            </a:r>
            <a:r>
              <a:rPr lang="en-US" sz="1400" smtClean="0"/>
              <a:t>(Jaffay et al.+Chapter 6)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6400" y="1379538"/>
            <a:ext cx="8345488" cy="4876800"/>
          </a:xfrm>
        </p:spPr>
        <p:txBody>
          <a:bodyPr/>
          <a:lstStyle/>
          <a:p>
            <a:r>
              <a:rPr lang="en-US" dirty="0" smtClean="0"/>
              <a:t>Remaining scheduling disciplines we consider are </a:t>
            </a:r>
            <a:r>
              <a:rPr lang="en-US" b="1" dirty="0" smtClean="0">
                <a:solidFill>
                  <a:srgbClr val="CC0000"/>
                </a:solidFill>
              </a:rPr>
              <a:t>priority-based</a:t>
            </a:r>
            <a:endParaRPr lang="en-US" dirty="0" smtClean="0"/>
          </a:p>
          <a:p>
            <a:pPr lvl="1"/>
            <a:r>
              <a:rPr lang="en-US" dirty="0" smtClean="0"/>
              <a:t>Jobs have priorities</a:t>
            </a:r>
          </a:p>
          <a:p>
            <a:pPr lvl="1"/>
            <a:r>
              <a:rPr lang="en-US" dirty="0" smtClean="0"/>
              <a:t>Scheduler always selects highest-priority ready job to run</a:t>
            </a:r>
          </a:p>
          <a:p>
            <a:r>
              <a:rPr lang="en-US" dirty="0" smtClean="0"/>
              <a:t>First, </a:t>
            </a:r>
            <a:r>
              <a:rPr lang="en-US" b="1" dirty="0" smtClean="0">
                <a:solidFill>
                  <a:srgbClr val="CC0000"/>
                </a:solidFill>
              </a:rPr>
              <a:t>dynamic-priority scheduling</a:t>
            </a:r>
            <a:r>
              <a:rPr lang="en-US" dirty="0" smtClean="0"/>
              <a:t>. </a:t>
            </a:r>
          </a:p>
          <a:p>
            <a:pPr lvl="1"/>
            <a:r>
              <a:rPr lang="en-US" dirty="0" smtClean="0">
                <a:solidFill>
                  <a:schemeClr val="tx2"/>
                </a:solidFill>
              </a:rPr>
              <a:t>different jobs of a task may be assigned different priorities</a:t>
            </a:r>
          </a:p>
          <a:p>
            <a:pPr lvl="1"/>
            <a:r>
              <a:rPr lang="en-US" dirty="0" smtClean="0"/>
              <a:t>Example:</a:t>
            </a:r>
          </a:p>
          <a:p>
            <a:pPr lvl="2"/>
            <a:r>
              <a:rPr lang="en-US" dirty="0" smtClean="0"/>
              <a:t>job </a:t>
            </a:r>
            <a:r>
              <a:rPr lang="en-US" dirty="0" err="1" smtClean="0"/>
              <a:t>J</a:t>
            </a:r>
            <a:r>
              <a:rPr lang="en-US" baseline="-25000" dirty="0" err="1" smtClean="0"/>
              <a:t>i,k</a:t>
            </a:r>
            <a:r>
              <a:rPr lang="en-US" dirty="0" smtClean="0"/>
              <a:t> of task T</a:t>
            </a:r>
            <a:r>
              <a:rPr lang="en-US" baseline="-25000" dirty="0" smtClean="0"/>
              <a:t>i</a:t>
            </a:r>
            <a:r>
              <a:rPr lang="en-US" dirty="0" smtClean="0"/>
              <a:t> has higher priority than job </a:t>
            </a:r>
            <a:r>
              <a:rPr lang="en-US" dirty="0" err="1" smtClean="0"/>
              <a:t>J</a:t>
            </a:r>
            <a:r>
              <a:rPr lang="en-US" baseline="-25000" dirty="0" err="1" smtClean="0"/>
              <a:t>j,m</a:t>
            </a:r>
            <a:r>
              <a:rPr lang="en-US" dirty="0" smtClean="0"/>
              <a:t> of </a:t>
            </a:r>
            <a:r>
              <a:rPr lang="en-US" dirty="0" err="1" smtClean="0"/>
              <a:t>T</a:t>
            </a:r>
            <a:r>
              <a:rPr lang="en-US" baseline="-25000" dirty="0" err="1" smtClean="0"/>
              <a:t>j</a:t>
            </a:r>
            <a:endParaRPr lang="en-US" baseline="-25000" dirty="0" smtClean="0"/>
          </a:p>
          <a:p>
            <a:pPr lvl="2"/>
            <a:r>
              <a:rPr lang="en-US" dirty="0" smtClean="0"/>
              <a:t>but job </a:t>
            </a:r>
            <a:r>
              <a:rPr lang="en-US" dirty="0" err="1" smtClean="0"/>
              <a:t>J</a:t>
            </a:r>
            <a:r>
              <a:rPr lang="en-US" baseline="-25000" dirty="0" err="1" smtClean="0"/>
              <a:t>i,</a:t>
            </a:r>
            <a:r>
              <a:rPr lang="en-US" baseline="-25000" dirty="0" err="1" smtClean="0">
                <a:sym typeface="MT Extra" pitchFamily="82" charset="0"/>
              </a:rPr>
              <a:t>l</a:t>
            </a:r>
            <a:r>
              <a:rPr lang="en-US" dirty="0" smtClean="0"/>
              <a:t> of T</a:t>
            </a:r>
            <a:r>
              <a:rPr lang="en-US" baseline="-25000" dirty="0" smtClean="0"/>
              <a:t>i</a:t>
            </a:r>
            <a:r>
              <a:rPr lang="en-US" dirty="0" smtClean="0"/>
              <a:t> has lower priority than job </a:t>
            </a:r>
            <a:r>
              <a:rPr lang="en-US" dirty="0" err="1" smtClean="0"/>
              <a:t>J</a:t>
            </a:r>
            <a:r>
              <a:rPr lang="en-US" baseline="-25000" dirty="0" err="1" smtClean="0"/>
              <a:t>j,n</a:t>
            </a:r>
            <a:r>
              <a:rPr lang="en-US" dirty="0" smtClean="0"/>
              <a:t> of </a:t>
            </a:r>
            <a:r>
              <a:rPr lang="en-US" dirty="0" err="1" smtClean="0"/>
              <a:t>T</a:t>
            </a:r>
            <a:r>
              <a:rPr lang="en-US" baseline="-25000" dirty="0" err="1" smtClean="0"/>
              <a:t>j</a:t>
            </a:r>
            <a:endParaRPr lang="en-US" dirty="0" smtClean="0"/>
          </a:p>
          <a:p>
            <a:r>
              <a:rPr lang="en-US" dirty="0" smtClean="0"/>
              <a:t>Later: static-priority scheduling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327025"/>
            <a:ext cx="8280400" cy="908050"/>
          </a:xfrm>
        </p:spPr>
        <p:txBody>
          <a:bodyPr/>
          <a:lstStyle/>
          <a:p>
            <a:r>
              <a:rPr lang="en-US" smtClean="0"/>
              <a:t>Outline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8150" y="1479550"/>
            <a:ext cx="8255000" cy="4876800"/>
          </a:xfrm>
        </p:spPr>
        <p:txBody>
          <a:bodyPr/>
          <a:lstStyle/>
          <a:p>
            <a:r>
              <a:rPr lang="en-US" b="1" smtClean="0">
                <a:solidFill>
                  <a:srgbClr val="CC0000"/>
                </a:solidFill>
              </a:rPr>
              <a:t>earliest-deadline-first (EDF) and</a:t>
            </a:r>
          </a:p>
          <a:p>
            <a:r>
              <a:rPr lang="en-US" b="1" smtClean="0">
                <a:solidFill>
                  <a:srgbClr val="CC0000"/>
                </a:solidFill>
              </a:rPr>
              <a:t>least-laxity-first (LLF)</a:t>
            </a:r>
            <a:r>
              <a:rPr lang="en-US" smtClean="0"/>
              <a:t> (called least-slack-time-first by Liu)</a:t>
            </a:r>
            <a:endParaRPr lang="en-US" sz="800" smtClean="0"/>
          </a:p>
          <a:p>
            <a:r>
              <a:rPr lang="en-US" b="1" smtClean="0">
                <a:solidFill>
                  <a:srgbClr val="CC0000"/>
                </a:solidFill>
              </a:rPr>
              <a:t>Outline:</a:t>
            </a:r>
          </a:p>
          <a:p>
            <a:pPr lvl="1">
              <a:lnSpc>
                <a:spcPct val="110000"/>
              </a:lnSpc>
            </a:pPr>
            <a:r>
              <a:rPr lang="en-US" smtClean="0">
                <a:solidFill>
                  <a:schemeClr val="tx2"/>
                </a:solidFill>
              </a:rPr>
              <a:t>Optimality of EDF and LLF</a:t>
            </a:r>
            <a:r>
              <a:rPr lang="en-US" smtClean="0"/>
              <a:t> (Section 4.6 of Liu).</a:t>
            </a:r>
          </a:p>
          <a:p>
            <a:pPr lvl="1">
              <a:lnSpc>
                <a:spcPct val="110000"/>
              </a:lnSpc>
            </a:pPr>
            <a:r>
              <a:rPr lang="en-US" smtClean="0">
                <a:solidFill>
                  <a:schemeClr val="tx2"/>
                </a:solidFill>
              </a:rPr>
              <a:t>Utilization-based schedulability test for EDF</a:t>
            </a:r>
            <a:r>
              <a:rPr lang="en-US" smtClean="0"/>
              <a:t> (Section 6.3).</a:t>
            </a:r>
          </a:p>
          <a:p>
            <a:pPr lvl="1">
              <a:lnSpc>
                <a:spcPct val="110000"/>
              </a:lnSpc>
            </a:pPr>
            <a:r>
              <a:rPr lang="en-US" smtClean="0">
                <a:solidFill>
                  <a:schemeClr val="tx2"/>
                </a:solidFill>
              </a:rPr>
              <a:t>Non-preemptive EDF</a:t>
            </a:r>
            <a:r>
              <a:rPr lang="en-US" smtClean="0"/>
              <a:t> from: </a:t>
            </a:r>
            <a:r>
              <a:rPr lang="en-US" sz="1800" smtClean="0"/>
              <a:t>Jeffay, Stanat, and Martel, “On Non-preemptive Scheduling of Periodic and Sporadic Tasks,” 18th IEEE RTSS, 1991, pp. 129-139.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327025"/>
            <a:ext cx="8280400" cy="908050"/>
          </a:xfrm>
        </p:spPr>
        <p:txBody>
          <a:bodyPr/>
          <a:lstStyle/>
          <a:p>
            <a:r>
              <a:rPr lang="en-US" smtClean="0"/>
              <a:t>Notation of Real-Time Tasks</a:t>
            </a:r>
            <a:endParaRPr lang="en-US" sz="1400" dirty="0" smtClean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6400" y="1379538"/>
            <a:ext cx="8345488" cy="4876800"/>
          </a:xfrm>
        </p:spPr>
        <p:txBody>
          <a:bodyPr/>
          <a:lstStyle/>
          <a:p>
            <a:r>
              <a:rPr lang="en-US" dirty="0" smtClean="0"/>
              <a:t>Model assumed in this chapter:</a:t>
            </a:r>
          </a:p>
          <a:p>
            <a:pPr lvl="1"/>
            <a:r>
              <a:rPr lang="en-US" dirty="0" smtClean="0"/>
              <a:t>n periodic tasks T</a:t>
            </a:r>
            <a:r>
              <a:rPr lang="en-US" baseline="-25000" dirty="0" smtClean="0"/>
              <a:t>1</a:t>
            </a:r>
            <a:r>
              <a:rPr lang="en-US" dirty="0" smtClean="0"/>
              <a:t>,…,T</a:t>
            </a:r>
            <a:r>
              <a:rPr lang="en-US" baseline="-25000" dirty="0" smtClean="0"/>
              <a:t>n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>
                <a:solidFill>
                  <a:srgbClr val="CC0000"/>
                </a:solidFill>
              </a:rPr>
              <a:t>The “rest of the world” periodic model is assumed.</a:t>
            </a:r>
            <a:endParaRPr lang="en-US" dirty="0" smtClean="0"/>
          </a:p>
          <a:p>
            <a:pPr lvl="1"/>
            <a:r>
              <a:rPr lang="en-US" dirty="0" smtClean="0">
                <a:solidFill>
                  <a:schemeClr val="tx2"/>
                </a:solidFill>
              </a:rPr>
              <a:t>T</a:t>
            </a:r>
            <a:r>
              <a:rPr lang="en-US" baseline="-25000" dirty="0" smtClean="0">
                <a:solidFill>
                  <a:schemeClr val="tx2"/>
                </a:solidFill>
              </a:rPr>
              <a:t>i</a:t>
            </a:r>
            <a:r>
              <a:rPr lang="en-US" dirty="0" smtClean="0">
                <a:solidFill>
                  <a:schemeClr val="tx2"/>
                </a:solidFill>
              </a:rPr>
              <a:t> is specified by (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</a:t>
            </a:r>
            <a:r>
              <a:rPr lang="en-US" baseline="-25000" dirty="0" err="1" smtClean="0">
                <a:solidFill>
                  <a:schemeClr val="tx2"/>
                </a:solidFill>
                <a:sym typeface="Symbol" pitchFamily="18" charset="2"/>
              </a:rPr>
              <a:t>i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, p</a:t>
            </a:r>
            <a:r>
              <a:rPr lang="en-US" baseline="-25000" dirty="0" smtClean="0">
                <a:solidFill>
                  <a:schemeClr val="tx2"/>
                </a:solidFill>
                <a:sym typeface="Symbol" pitchFamily="18" charset="2"/>
              </a:rPr>
              <a:t>i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, </a:t>
            </a:r>
            <a:r>
              <a:rPr lang="en-US" dirty="0" err="1" smtClean="0">
                <a:solidFill>
                  <a:schemeClr val="tx2"/>
                </a:solidFill>
                <a:sym typeface="Symbol" pitchFamily="18" charset="2"/>
              </a:rPr>
              <a:t>e</a:t>
            </a:r>
            <a:r>
              <a:rPr lang="en-US" baseline="-25000" dirty="0" err="1" smtClean="0">
                <a:solidFill>
                  <a:schemeClr val="tx2"/>
                </a:solidFill>
                <a:sym typeface="Symbol" pitchFamily="18" charset="2"/>
              </a:rPr>
              <a:t>i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, D</a:t>
            </a:r>
            <a:r>
              <a:rPr lang="en-US" baseline="-25000" dirty="0" smtClean="0">
                <a:solidFill>
                  <a:schemeClr val="tx2"/>
                </a:solidFill>
                <a:sym typeface="Symbol" pitchFamily="18" charset="2"/>
              </a:rPr>
              <a:t>i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), where</a:t>
            </a:r>
          </a:p>
          <a:p>
            <a:pPr lvl="2"/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</a:t>
            </a:r>
            <a:r>
              <a:rPr lang="en-US" baseline="-25000" dirty="0" err="1" smtClean="0">
                <a:solidFill>
                  <a:schemeClr val="tx2"/>
                </a:solidFill>
                <a:sym typeface="Symbol" pitchFamily="18" charset="2"/>
              </a:rPr>
              <a:t>i</a:t>
            </a:r>
            <a:r>
              <a:rPr lang="en-US" baseline="-25000" dirty="0" smtClean="0">
                <a:solidFill>
                  <a:schemeClr val="tx2"/>
                </a:solidFill>
                <a:sym typeface="Symbol" pitchFamily="18" charset="2"/>
              </a:rPr>
              <a:t> 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 is its </a:t>
            </a:r>
            <a:r>
              <a:rPr lang="en-US" dirty="0" smtClean="0">
                <a:sym typeface="Symbol" pitchFamily="18" charset="2"/>
              </a:rPr>
              <a:t>phase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 (0 unless indicated)</a:t>
            </a:r>
          </a:p>
          <a:p>
            <a:pPr lvl="2"/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p</a:t>
            </a:r>
            <a:r>
              <a:rPr lang="en-US" baseline="-25000" dirty="0" smtClean="0">
                <a:solidFill>
                  <a:schemeClr val="tx2"/>
                </a:solidFill>
                <a:sym typeface="Symbol" pitchFamily="18" charset="2"/>
              </a:rPr>
              <a:t>i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 is its </a:t>
            </a:r>
            <a:r>
              <a:rPr lang="en-US" dirty="0" smtClean="0">
                <a:sym typeface="Symbol" pitchFamily="18" charset="2"/>
              </a:rPr>
              <a:t>period (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an integer or, at least, rational)</a:t>
            </a:r>
          </a:p>
          <a:p>
            <a:pPr lvl="2"/>
            <a:r>
              <a:rPr lang="en-US" dirty="0" err="1" smtClean="0">
                <a:solidFill>
                  <a:schemeClr val="tx2"/>
                </a:solidFill>
                <a:sym typeface="Symbol" pitchFamily="18" charset="2"/>
              </a:rPr>
              <a:t>e</a:t>
            </a:r>
            <a:r>
              <a:rPr lang="en-US" baseline="-25000" dirty="0" err="1" smtClean="0">
                <a:solidFill>
                  <a:schemeClr val="tx2"/>
                </a:solidFill>
                <a:sym typeface="Symbol" pitchFamily="18" charset="2"/>
              </a:rPr>
              <a:t>i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 is its </a:t>
            </a:r>
            <a:r>
              <a:rPr lang="en-US" dirty="0" smtClean="0">
                <a:sym typeface="Symbol" pitchFamily="18" charset="2"/>
              </a:rPr>
              <a:t>execution cost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 per job, and</a:t>
            </a:r>
          </a:p>
          <a:p>
            <a:pPr lvl="2"/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D</a:t>
            </a:r>
            <a:r>
              <a:rPr lang="en-US" baseline="-25000" dirty="0" smtClean="0">
                <a:solidFill>
                  <a:schemeClr val="tx2"/>
                </a:solidFill>
                <a:sym typeface="Symbol" pitchFamily="18" charset="2"/>
              </a:rPr>
              <a:t>i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 is its relative </a:t>
            </a:r>
            <a:r>
              <a:rPr lang="en-US" dirty="0" smtClean="0">
                <a:sym typeface="Symbol" pitchFamily="18" charset="2"/>
              </a:rPr>
              <a:t>deadline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.</a:t>
            </a:r>
          </a:p>
          <a:p>
            <a:pPr lvl="2"/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Will abbreviate as (</a:t>
            </a:r>
            <a:r>
              <a:rPr lang="en-US" dirty="0" err="1" smtClean="0">
                <a:solidFill>
                  <a:schemeClr val="tx2"/>
                </a:solidFill>
                <a:sym typeface="Symbol" pitchFamily="18" charset="2"/>
              </a:rPr>
              <a:t>p</a:t>
            </a:r>
            <a:r>
              <a:rPr lang="en-US" baseline="-25000" dirty="0" err="1" smtClean="0">
                <a:solidFill>
                  <a:schemeClr val="tx2"/>
                </a:solidFill>
                <a:sym typeface="Symbol" pitchFamily="18" charset="2"/>
              </a:rPr>
              <a:t>i</a:t>
            </a:r>
            <a:r>
              <a:rPr lang="en-US" dirty="0" err="1" smtClean="0">
                <a:solidFill>
                  <a:schemeClr val="tx2"/>
                </a:solidFill>
                <a:sym typeface="Symbol" pitchFamily="18" charset="2"/>
              </a:rPr>
              <a:t>,e</a:t>
            </a:r>
            <a:r>
              <a:rPr lang="en-US" baseline="-25000" dirty="0" err="1" smtClean="0">
                <a:solidFill>
                  <a:schemeClr val="tx2"/>
                </a:solidFill>
                <a:sym typeface="Symbol" pitchFamily="18" charset="2"/>
              </a:rPr>
              <a:t>i</a:t>
            </a:r>
            <a:r>
              <a:rPr lang="en-US" dirty="0" err="1" smtClean="0">
                <a:solidFill>
                  <a:schemeClr val="tx2"/>
                </a:solidFill>
                <a:sym typeface="Symbol" pitchFamily="18" charset="2"/>
              </a:rPr>
              <a:t>,D</a:t>
            </a:r>
            <a:r>
              <a:rPr lang="en-US" baseline="-25000" dirty="0" err="1" smtClean="0">
                <a:solidFill>
                  <a:schemeClr val="tx2"/>
                </a:solidFill>
                <a:sym typeface="Symbol" pitchFamily="18" charset="2"/>
              </a:rPr>
              <a:t>i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) if </a:t>
            </a:r>
            <a:r>
              <a:rPr lang="en-US" baseline="-25000" dirty="0" err="1" smtClean="0">
                <a:solidFill>
                  <a:schemeClr val="tx2"/>
                </a:solidFill>
                <a:sym typeface="Symbol" pitchFamily="18" charset="2"/>
              </a:rPr>
              <a:t>i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=0, and (</a:t>
            </a:r>
            <a:r>
              <a:rPr lang="en-US" dirty="0" err="1" smtClean="0">
                <a:solidFill>
                  <a:schemeClr val="tx2"/>
                </a:solidFill>
                <a:sym typeface="Symbol" pitchFamily="18" charset="2"/>
              </a:rPr>
              <a:t>p</a:t>
            </a:r>
            <a:r>
              <a:rPr lang="en-US" baseline="-25000" dirty="0" err="1" smtClean="0">
                <a:solidFill>
                  <a:schemeClr val="tx2"/>
                </a:solidFill>
                <a:sym typeface="Symbol" pitchFamily="18" charset="2"/>
              </a:rPr>
              <a:t>i</a:t>
            </a:r>
            <a:r>
              <a:rPr lang="en-US" dirty="0" err="1" smtClean="0">
                <a:solidFill>
                  <a:schemeClr val="tx2"/>
                </a:solidFill>
                <a:sym typeface="Symbol" pitchFamily="18" charset="2"/>
              </a:rPr>
              <a:t>,e</a:t>
            </a:r>
            <a:r>
              <a:rPr lang="en-US" baseline="-25000" dirty="0" err="1" smtClean="0">
                <a:solidFill>
                  <a:schemeClr val="tx2"/>
                </a:solidFill>
                <a:sym typeface="Symbol" pitchFamily="18" charset="2"/>
              </a:rPr>
              <a:t>i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) if </a:t>
            </a:r>
            <a:r>
              <a:rPr lang="en-US" baseline="-25000" dirty="0" err="1" smtClean="0">
                <a:solidFill>
                  <a:schemeClr val="tx2"/>
                </a:solidFill>
                <a:sym typeface="Symbol" pitchFamily="18" charset="2"/>
              </a:rPr>
              <a:t>i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=0  p</a:t>
            </a:r>
            <a:r>
              <a:rPr lang="en-US" baseline="-25000" dirty="0" smtClean="0">
                <a:solidFill>
                  <a:schemeClr val="tx2"/>
                </a:solidFill>
                <a:sym typeface="Symbol" pitchFamily="18" charset="2"/>
              </a:rPr>
              <a:t>i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=D</a:t>
            </a:r>
            <a:r>
              <a:rPr lang="en-US" baseline="-25000" dirty="0" smtClean="0">
                <a:solidFill>
                  <a:schemeClr val="tx2"/>
                </a:solidFill>
                <a:sym typeface="Symbol" pitchFamily="18" charset="2"/>
              </a:rPr>
              <a:t>i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.</a:t>
            </a:r>
            <a:endParaRPr lang="en-US" dirty="0" smtClean="0">
              <a:solidFill>
                <a:schemeClr val="tx2"/>
              </a:solidFill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327025"/>
            <a:ext cx="8280400" cy="908050"/>
          </a:xfrm>
        </p:spPr>
        <p:txBody>
          <a:bodyPr/>
          <a:lstStyle/>
          <a:p>
            <a:r>
              <a:rPr lang="en-US" smtClean="0"/>
              <a:t>Optimality of EDF</a:t>
            </a:r>
          </a:p>
        </p:txBody>
      </p:sp>
      <p:sp>
        <p:nvSpPr>
          <p:cNvPr id="404483" name="Text Box 3"/>
          <p:cNvSpPr txBox="1">
            <a:spLocks noChangeArrowheads="1"/>
          </p:cNvSpPr>
          <p:nvPr/>
        </p:nvSpPr>
        <p:spPr bwMode="auto">
          <a:xfrm>
            <a:off x="282575" y="1462088"/>
            <a:ext cx="8451850" cy="1565275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b="1" u="none"/>
              <a:t>Theorem 4-1:</a:t>
            </a:r>
            <a:r>
              <a:rPr lang="en-US" u="none"/>
              <a:t>  [Liu and Layland] When preemption is allowed and</a:t>
            </a:r>
          </a:p>
          <a:p>
            <a:pPr algn="l">
              <a:defRPr/>
            </a:pPr>
            <a:r>
              <a:rPr lang="en-US" u="none"/>
              <a:t>jobs do not contend for resources, the EDF algorithm can produce a</a:t>
            </a:r>
          </a:p>
          <a:p>
            <a:pPr algn="l">
              <a:defRPr/>
            </a:pPr>
            <a:r>
              <a:rPr lang="en-US" u="none"/>
              <a:t>feasible schedule of a set </a:t>
            </a:r>
            <a:r>
              <a:rPr lang="en-US" b="1" u="none"/>
              <a:t>J</a:t>
            </a:r>
            <a:r>
              <a:rPr lang="en-US" u="none"/>
              <a:t> of jobs with arbitrary release times and</a:t>
            </a:r>
          </a:p>
          <a:p>
            <a:pPr algn="l">
              <a:defRPr/>
            </a:pPr>
            <a:r>
              <a:rPr lang="en-US" u="none"/>
              <a:t>deadlines on a processor if and only if </a:t>
            </a:r>
            <a:r>
              <a:rPr lang="en-US" b="1" u="none"/>
              <a:t>J</a:t>
            </a:r>
            <a:r>
              <a:rPr lang="en-US" u="none"/>
              <a:t> has feasible schedules.</a:t>
            </a:r>
          </a:p>
        </p:txBody>
      </p:sp>
      <p:sp>
        <p:nvSpPr>
          <p:cNvPr id="404484" name="Text Box 4"/>
          <p:cNvSpPr txBox="1">
            <a:spLocks noChangeArrowheads="1"/>
          </p:cNvSpPr>
          <p:nvPr/>
        </p:nvSpPr>
        <p:spPr bwMode="auto">
          <a:xfrm>
            <a:off x="415925" y="3294063"/>
            <a:ext cx="7897813" cy="2530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en-US" sz="2000" b="1" u="none">
                <a:solidFill>
                  <a:srgbClr val="CC0000"/>
                </a:solidFill>
                <a:latin typeface="Comic Sans MS" pitchFamily="66" charset="0"/>
              </a:rPr>
              <a:t>Notes:</a:t>
            </a:r>
            <a:endParaRPr lang="en-US" sz="2000" u="none">
              <a:latin typeface="Comic Sans MS" pitchFamily="66" charset="0"/>
            </a:endParaRPr>
          </a:p>
          <a:p>
            <a:pPr lvl="1" algn="l">
              <a:buFontTx/>
              <a:buChar char="•"/>
            </a:pPr>
            <a:r>
              <a:rPr lang="en-US" sz="2000" u="none">
                <a:latin typeface="Comic Sans MS" pitchFamily="66" charset="0"/>
              </a:rPr>
              <a:t> Applies even if tasks are not periodic.</a:t>
            </a:r>
          </a:p>
          <a:p>
            <a:pPr lvl="1" algn="l"/>
            <a:endParaRPr lang="en-US" sz="2000" u="none">
              <a:latin typeface="Comic Sans MS" pitchFamily="66" charset="0"/>
            </a:endParaRPr>
          </a:p>
          <a:p>
            <a:pPr lvl="1" algn="l">
              <a:buFontTx/>
              <a:buChar char="•"/>
            </a:pPr>
            <a:r>
              <a:rPr lang="en-US" sz="2000" u="none">
                <a:latin typeface="Comic Sans MS" pitchFamily="66" charset="0"/>
              </a:rPr>
              <a:t> If periodic, a task’s relative deadline can be less than its</a:t>
            </a:r>
          </a:p>
          <a:p>
            <a:pPr lvl="1" algn="l"/>
            <a:r>
              <a:rPr lang="en-US" sz="2000" u="none">
                <a:latin typeface="Comic Sans MS" pitchFamily="66" charset="0"/>
              </a:rPr>
              <a:t>  period, equal to its period, or greater than its period.</a:t>
            </a:r>
          </a:p>
          <a:p>
            <a:pPr lvl="1" algn="l"/>
            <a:endParaRPr lang="en-US" sz="2000" u="none">
              <a:latin typeface="Comic Sans MS" pitchFamily="66" charset="0"/>
            </a:endParaRPr>
          </a:p>
          <a:p>
            <a:pPr lvl="1" algn="l">
              <a:buFontTx/>
              <a:buChar char="•"/>
            </a:pPr>
            <a:r>
              <a:rPr lang="en-US" sz="2000" u="none">
                <a:latin typeface="Comic Sans MS" pitchFamily="66" charset="0"/>
              </a:rPr>
              <a:t> Precedence constraints are allowed (in which case deadlines</a:t>
            </a:r>
          </a:p>
          <a:p>
            <a:pPr lvl="1" algn="l"/>
            <a:r>
              <a:rPr lang="en-US" sz="2000" u="none">
                <a:latin typeface="Comic Sans MS" pitchFamily="66" charset="0"/>
              </a:rPr>
              <a:t>  must be consistent with them — see Sec. 4.5).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483" grpId="0" animBg="1" autoUpdateAnimBg="0"/>
      <p:bldP spid="40448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327025"/>
            <a:ext cx="8280400" cy="908050"/>
          </a:xfrm>
        </p:spPr>
        <p:txBody>
          <a:bodyPr/>
          <a:lstStyle/>
          <a:p>
            <a:r>
              <a:rPr lang="en-US" smtClean="0"/>
              <a:t>Proof of Theorem 4-1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369888" y="1514475"/>
            <a:ext cx="8242300" cy="13112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en-US" sz="2000" u="none">
                <a:latin typeface="Comic Sans MS" pitchFamily="66" charset="0"/>
              </a:rPr>
              <a:t>To show: any feasible schedule of </a:t>
            </a:r>
            <a:r>
              <a:rPr lang="en-US" sz="2000" b="1" u="none">
                <a:latin typeface="Comic Sans MS" pitchFamily="66" charset="0"/>
              </a:rPr>
              <a:t>J</a:t>
            </a:r>
            <a:r>
              <a:rPr lang="en-US" sz="2000" u="none">
                <a:latin typeface="Comic Sans MS" pitchFamily="66" charset="0"/>
              </a:rPr>
              <a:t> can be systematically</a:t>
            </a:r>
          </a:p>
          <a:p>
            <a:pPr algn="l"/>
            <a:r>
              <a:rPr lang="en-US" sz="2000" u="none">
                <a:latin typeface="Comic Sans MS" pitchFamily="66" charset="0"/>
              </a:rPr>
              <a:t>transformed into an EDF schedule.</a:t>
            </a:r>
          </a:p>
          <a:p>
            <a:pPr algn="l"/>
            <a:endParaRPr lang="en-US" sz="2000" u="none">
              <a:latin typeface="Comic Sans MS" pitchFamily="66" charset="0"/>
            </a:endParaRPr>
          </a:p>
          <a:p>
            <a:pPr algn="l"/>
            <a:r>
              <a:rPr lang="en-US" sz="2000" u="none">
                <a:latin typeface="Comic Sans MS" pitchFamily="66" charset="0"/>
              </a:rPr>
              <a:t>Suppose parts of two jobs J</a:t>
            </a:r>
            <a:r>
              <a:rPr lang="en-US" sz="2000" u="none" baseline="-25000">
                <a:latin typeface="Comic Sans MS" pitchFamily="66" charset="0"/>
              </a:rPr>
              <a:t>i</a:t>
            </a:r>
            <a:r>
              <a:rPr lang="en-US" sz="2000" u="none">
                <a:latin typeface="Comic Sans MS" pitchFamily="66" charset="0"/>
              </a:rPr>
              <a:t> and J</a:t>
            </a:r>
            <a:r>
              <a:rPr lang="en-US" sz="2000" u="none" baseline="-25000">
                <a:latin typeface="Comic Sans MS" pitchFamily="66" charset="0"/>
              </a:rPr>
              <a:t>k</a:t>
            </a:r>
            <a:r>
              <a:rPr lang="en-US" sz="2000" u="none">
                <a:latin typeface="Comic Sans MS" pitchFamily="66" charset="0"/>
              </a:rPr>
              <a:t> are executed out of EDF order:</a:t>
            </a:r>
          </a:p>
        </p:txBody>
      </p:sp>
      <p:sp>
        <p:nvSpPr>
          <p:cNvPr id="5124" name="Line 4"/>
          <p:cNvSpPr>
            <a:spLocks noChangeShapeType="1"/>
          </p:cNvSpPr>
          <p:nvPr/>
        </p:nvSpPr>
        <p:spPr bwMode="auto">
          <a:xfrm>
            <a:off x="706438" y="3625850"/>
            <a:ext cx="7404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2078038" y="3178175"/>
            <a:ext cx="1298575" cy="447675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 u="none"/>
              <a:t>J</a:t>
            </a:r>
            <a:r>
              <a:rPr lang="en-US" u="none" baseline="-25000"/>
              <a:t>i</a:t>
            </a:r>
            <a:endParaRPr lang="en-US" u="none"/>
          </a:p>
        </p:txBody>
      </p:sp>
      <p:sp>
        <p:nvSpPr>
          <p:cNvPr id="5126" name="Rectangle 7"/>
          <p:cNvSpPr>
            <a:spLocks noChangeArrowheads="1"/>
          </p:cNvSpPr>
          <p:nvPr/>
        </p:nvSpPr>
        <p:spPr bwMode="auto">
          <a:xfrm>
            <a:off x="1401763" y="3173413"/>
            <a:ext cx="677862" cy="44767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 u="none"/>
          </a:p>
        </p:txBody>
      </p:sp>
      <p:sp>
        <p:nvSpPr>
          <p:cNvPr id="5127" name="Rectangle 8"/>
          <p:cNvSpPr>
            <a:spLocks noChangeArrowheads="1"/>
          </p:cNvSpPr>
          <p:nvPr/>
        </p:nvSpPr>
        <p:spPr bwMode="auto">
          <a:xfrm>
            <a:off x="3382963" y="3168650"/>
            <a:ext cx="677862" cy="44767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 u="none"/>
          </a:p>
        </p:txBody>
      </p:sp>
      <p:sp>
        <p:nvSpPr>
          <p:cNvPr id="5128" name="Rectangle 9"/>
          <p:cNvSpPr>
            <a:spLocks noChangeArrowheads="1"/>
          </p:cNvSpPr>
          <p:nvPr/>
        </p:nvSpPr>
        <p:spPr bwMode="auto">
          <a:xfrm>
            <a:off x="4635500" y="3178175"/>
            <a:ext cx="677863" cy="44767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 u="none"/>
          </a:p>
        </p:txBody>
      </p:sp>
      <p:sp>
        <p:nvSpPr>
          <p:cNvPr id="5129" name="Rectangle 10"/>
          <p:cNvSpPr>
            <a:spLocks noChangeArrowheads="1"/>
          </p:cNvSpPr>
          <p:nvPr/>
        </p:nvSpPr>
        <p:spPr bwMode="auto">
          <a:xfrm>
            <a:off x="5316538" y="3173413"/>
            <a:ext cx="1716087" cy="447675"/>
          </a:xfrm>
          <a:prstGeom prst="rect">
            <a:avLst/>
          </a:prstGeom>
          <a:solidFill>
            <a:srgbClr val="CC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 u="none"/>
              <a:t>J</a:t>
            </a:r>
            <a:r>
              <a:rPr lang="en-US" u="none" baseline="-25000"/>
              <a:t>k</a:t>
            </a:r>
            <a:endParaRPr lang="en-US" u="none"/>
          </a:p>
        </p:txBody>
      </p:sp>
      <p:sp>
        <p:nvSpPr>
          <p:cNvPr id="5130" name="Rectangle 11"/>
          <p:cNvSpPr>
            <a:spLocks noChangeArrowheads="1"/>
          </p:cNvSpPr>
          <p:nvPr/>
        </p:nvSpPr>
        <p:spPr bwMode="auto">
          <a:xfrm>
            <a:off x="7031038" y="3173413"/>
            <a:ext cx="677862" cy="44767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 u="none"/>
          </a:p>
        </p:txBody>
      </p:sp>
      <p:sp>
        <p:nvSpPr>
          <p:cNvPr id="5131" name="Line 12"/>
          <p:cNvSpPr>
            <a:spLocks noChangeShapeType="1"/>
          </p:cNvSpPr>
          <p:nvPr/>
        </p:nvSpPr>
        <p:spPr bwMode="auto">
          <a:xfrm flipV="1">
            <a:off x="1641475" y="3713163"/>
            <a:ext cx="0" cy="331787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2" name="Line 13"/>
          <p:cNvSpPr>
            <a:spLocks noChangeShapeType="1"/>
          </p:cNvSpPr>
          <p:nvPr/>
        </p:nvSpPr>
        <p:spPr bwMode="auto">
          <a:xfrm flipV="1">
            <a:off x="7223125" y="3708400"/>
            <a:ext cx="0" cy="3317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3" name="Line 14"/>
          <p:cNvSpPr>
            <a:spLocks noChangeShapeType="1"/>
          </p:cNvSpPr>
          <p:nvPr/>
        </p:nvSpPr>
        <p:spPr bwMode="auto">
          <a:xfrm flipV="1">
            <a:off x="7632700" y="3717925"/>
            <a:ext cx="0" cy="3317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4" name="Text Box 15"/>
          <p:cNvSpPr txBox="1">
            <a:spLocks noChangeArrowheads="1"/>
          </p:cNvSpPr>
          <p:nvPr/>
        </p:nvSpPr>
        <p:spPr bwMode="auto">
          <a:xfrm>
            <a:off x="1466850" y="3963988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en-US" u="none">
                <a:solidFill>
                  <a:schemeClr val="tx2"/>
                </a:solidFill>
              </a:rPr>
              <a:t>r</a:t>
            </a:r>
            <a:r>
              <a:rPr lang="en-US" u="none" baseline="-25000">
                <a:solidFill>
                  <a:schemeClr val="tx2"/>
                </a:solidFill>
              </a:rPr>
              <a:t>k</a:t>
            </a:r>
            <a:endParaRPr lang="en-US" u="none">
              <a:solidFill>
                <a:schemeClr val="tx2"/>
              </a:solidFill>
            </a:endParaRPr>
          </a:p>
        </p:txBody>
      </p:sp>
      <p:sp>
        <p:nvSpPr>
          <p:cNvPr id="5135" name="Text Box 16"/>
          <p:cNvSpPr txBox="1">
            <a:spLocks noChangeArrowheads="1"/>
          </p:cNvSpPr>
          <p:nvPr/>
        </p:nvSpPr>
        <p:spPr bwMode="auto">
          <a:xfrm>
            <a:off x="7034213" y="3973513"/>
            <a:ext cx="4381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en-US" u="none">
                <a:solidFill>
                  <a:schemeClr val="tx2"/>
                </a:solidFill>
              </a:rPr>
              <a:t>d</a:t>
            </a:r>
            <a:r>
              <a:rPr lang="en-US" u="none" baseline="-25000">
                <a:solidFill>
                  <a:schemeClr val="tx2"/>
                </a:solidFill>
              </a:rPr>
              <a:t>k</a:t>
            </a:r>
            <a:endParaRPr lang="en-US" u="none">
              <a:solidFill>
                <a:schemeClr val="tx2"/>
              </a:solidFill>
            </a:endParaRPr>
          </a:p>
        </p:txBody>
      </p:sp>
      <p:sp>
        <p:nvSpPr>
          <p:cNvPr id="5136" name="Text Box 17"/>
          <p:cNvSpPr txBox="1">
            <a:spLocks noChangeArrowheads="1"/>
          </p:cNvSpPr>
          <p:nvPr/>
        </p:nvSpPr>
        <p:spPr bwMode="auto">
          <a:xfrm>
            <a:off x="7443788" y="3997325"/>
            <a:ext cx="3937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en-US" u="none">
                <a:solidFill>
                  <a:schemeClr val="tx2"/>
                </a:solidFill>
              </a:rPr>
              <a:t>d</a:t>
            </a:r>
            <a:r>
              <a:rPr lang="en-US" u="none" baseline="-25000">
                <a:solidFill>
                  <a:schemeClr val="tx2"/>
                </a:solidFill>
              </a:rPr>
              <a:t>i</a:t>
            </a:r>
            <a:endParaRPr lang="en-US" u="none">
              <a:solidFill>
                <a:schemeClr val="tx2"/>
              </a:solidFill>
            </a:endParaRP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557213" y="4605338"/>
            <a:ext cx="7548562" cy="1244600"/>
            <a:chOff x="351" y="2901"/>
            <a:chExt cx="4755" cy="784"/>
          </a:xfrm>
        </p:grpSpPr>
        <p:sp>
          <p:nvSpPr>
            <p:cNvPr id="5138" name="Text Box 18"/>
            <p:cNvSpPr txBox="1">
              <a:spLocks noChangeArrowheads="1"/>
            </p:cNvSpPr>
            <p:nvPr/>
          </p:nvSpPr>
          <p:spPr bwMode="auto">
            <a:xfrm>
              <a:off x="351" y="2901"/>
              <a:ext cx="4273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sz="2000" u="none">
                  <a:latin typeface="Comic Sans MS" pitchFamily="66" charset="0"/>
                </a:rPr>
                <a:t>This situation can be corrected by performing a “swap”:</a:t>
              </a:r>
            </a:p>
          </p:txBody>
        </p:sp>
        <p:sp>
          <p:nvSpPr>
            <p:cNvPr id="5139" name="Line 19"/>
            <p:cNvSpPr>
              <a:spLocks noChangeShapeType="1"/>
            </p:cNvSpPr>
            <p:nvPr/>
          </p:nvSpPr>
          <p:spPr bwMode="auto">
            <a:xfrm>
              <a:off x="442" y="3685"/>
              <a:ext cx="46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0" name="Rectangle 20"/>
            <p:cNvSpPr>
              <a:spLocks noChangeArrowheads="1"/>
            </p:cNvSpPr>
            <p:nvPr/>
          </p:nvSpPr>
          <p:spPr bwMode="auto">
            <a:xfrm>
              <a:off x="3610" y="3403"/>
              <a:ext cx="818" cy="282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 sz="2000" u="none">
                  <a:latin typeface="Comic Sans MS" pitchFamily="66" charset="0"/>
                </a:rPr>
                <a:t>J</a:t>
              </a:r>
              <a:r>
                <a:rPr lang="en-US" sz="2000" u="none" baseline="-25000">
                  <a:latin typeface="Comic Sans MS" pitchFamily="66" charset="0"/>
                </a:rPr>
                <a:t>i</a:t>
              </a:r>
              <a:endParaRPr lang="en-US" sz="2000" u="none">
                <a:latin typeface="Comic Sans MS" pitchFamily="66" charset="0"/>
              </a:endParaRPr>
            </a:p>
          </p:txBody>
        </p:sp>
        <p:sp>
          <p:nvSpPr>
            <p:cNvPr id="5141" name="Rectangle 21"/>
            <p:cNvSpPr>
              <a:spLocks noChangeArrowheads="1"/>
            </p:cNvSpPr>
            <p:nvPr/>
          </p:nvSpPr>
          <p:spPr bwMode="auto">
            <a:xfrm>
              <a:off x="880" y="3400"/>
              <a:ext cx="427" cy="282"/>
            </a:xfrm>
            <a:prstGeom prst="rect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2000" u="none">
                <a:latin typeface="Comic Sans MS" pitchFamily="66" charset="0"/>
              </a:endParaRPr>
            </a:p>
          </p:txBody>
        </p:sp>
        <p:sp>
          <p:nvSpPr>
            <p:cNvPr id="5142" name="Rectangle 22"/>
            <p:cNvSpPr>
              <a:spLocks noChangeArrowheads="1"/>
            </p:cNvSpPr>
            <p:nvPr/>
          </p:nvSpPr>
          <p:spPr bwMode="auto">
            <a:xfrm>
              <a:off x="2128" y="3397"/>
              <a:ext cx="427" cy="282"/>
            </a:xfrm>
            <a:prstGeom prst="rect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2000" u="none">
                <a:latin typeface="Comic Sans MS" pitchFamily="66" charset="0"/>
              </a:endParaRPr>
            </a:p>
          </p:txBody>
        </p:sp>
        <p:sp>
          <p:nvSpPr>
            <p:cNvPr id="5143" name="Rectangle 23"/>
            <p:cNvSpPr>
              <a:spLocks noChangeArrowheads="1"/>
            </p:cNvSpPr>
            <p:nvPr/>
          </p:nvSpPr>
          <p:spPr bwMode="auto">
            <a:xfrm>
              <a:off x="2917" y="3403"/>
              <a:ext cx="427" cy="282"/>
            </a:xfrm>
            <a:prstGeom prst="rect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2000" u="none">
                <a:latin typeface="Comic Sans MS" pitchFamily="66" charset="0"/>
              </a:endParaRPr>
            </a:p>
          </p:txBody>
        </p:sp>
        <p:sp>
          <p:nvSpPr>
            <p:cNvPr id="5144" name="Rectangle 24"/>
            <p:cNvSpPr>
              <a:spLocks noChangeArrowheads="1"/>
            </p:cNvSpPr>
            <p:nvPr/>
          </p:nvSpPr>
          <p:spPr bwMode="auto">
            <a:xfrm>
              <a:off x="3344" y="3400"/>
              <a:ext cx="264" cy="28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 sz="2000" u="none">
                  <a:latin typeface="Comic Sans MS" pitchFamily="66" charset="0"/>
                </a:rPr>
                <a:t>J</a:t>
              </a:r>
              <a:r>
                <a:rPr lang="en-US" sz="2000" u="none" baseline="-25000">
                  <a:latin typeface="Comic Sans MS" pitchFamily="66" charset="0"/>
                </a:rPr>
                <a:t>k</a:t>
              </a:r>
              <a:endParaRPr lang="en-US" sz="2000" u="none">
                <a:latin typeface="Comic Sans MS" pitchFamily="66" charset="0"/>
              </a:endParaRPr>
            </a:p>
          </p:txBody>
        </p:sp>
        <p:sp>
          <p:nvSpPr>
            <p:cNvPr id="5145" name="Rectangle 25"/>
            <p:cNvSpPr>
              <a:spLocks noChangeArrowheads="1"/>
            </p:cNvSpPr>
            <p:nvPr/>
          </p:nvSpPr>
          <p:spPr bwMode="auto">
            <a:xfrm>
              <a:off x="4426" y="3400"/>
              <a:ext cx="427" cy="282"/>
            </a:xfrm>
            <a:prstGeom prst="rect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2000" u="none">
                <a:latin typeface="Comic Sans MS" pitchFamily="66" charset="0"/>
              </a:endParaRPr>
            </a:p>
          </p:txBody>
        </p:sp>
        <p:sp>
          <p:nvSpPr>
            <p:cNvPr id="5146" name="Rectangle 26"/>
            <p:cNvSpPr>
              <a:spLocks noChangeArrowheads="1"/>
            </p:cNvSpPr>
            <p:nvPr/>
          </p:nvSpPr>
          <p:spPr bwMode="auto">
            <a:xfrm>
              <a:off x="1298" y="3397"/>
              <a:ext cx="836" cy="28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 sz="2000" u="none">
                  <a:latin typeface="Comic Sans MS" pitchFamily="66" charset="0"/>
                </a:rPr>
                <a:t>J</a:t>
              </a:r>
              <a:r>
                <a:rPr lang="en-US" sz="2000" u="none" baseline="-25000">
                  <a:latin typeface="Comic Sans MS" pitchFamily="66" charset="0"/>
                </a:rPr>
                <a:t>k</a:t>
              </a:r>
              <a:endParaRPr lang="en-US" sz="2000" u="none">
                <a:latin typeface="Comic Sans MS" pitchFamily="66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327025"/>
            <a:ext cx="8280400" cy="908050"/>
          </a:xfrm>
        </p:spPr>
        <p:txBody>
          <a:bodyPr/>
          <a:lstStyle/>
          <a:p>
            <a:r>
              <a:rPr lang="en-US" smtClean="0"/>
              <a:t>Proof (Continued)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369888" y="1514475"/>
            <a:ext cx="8148637" cy="16160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en-US" sz="2000" u="none">
                <a:latin typeface="Comic Sans MS" pitchFamily="66" charset="0"/>
              </a:rPr>
              <a:t>If we inductively repeat this procedure, we can eliminate all</a:t>
            </a:r>
          </a:p>
          <a:p>
            <a:pPr algn="l"/>
            <a:r>
              <a:rPr lang="en-US" sz="2000" u="none">
                <a:latin typeface="Comic Sans MS" pitchFamily="66" charset="0"/>
              </a:rPr>
              <a:t>out-of-order violations.</a:t>
            </a:r>
          </a:p>
          <a:p>
            <a:pPr algn="l"/>
            <a:endParaRPr lang="en-US" sz="2000" u="none">
              <a:latin typeface="Comic Sans MS" pitchFamily="66" charset="0"/>
            </a:endParaRPr>
          </a:p>
          <a:p>
            <a:pPr algn="l"/>
            <a:r>
              <a:rPr lang="en-US" sz="2000" u="none">
                <a:latin typeface="Comic Sans MS" pitchFamily="66" charset="0"/>
              </a:rPr>
              <a:t>The resulting schedule may still fail to be an EDF schedule because</a:t>
            </a:r>
          </a:p>
          <a:p>
            <a:pPr algn="l"/>
            <a:r>
              <a:rPr lang="en-US" sz="2000" u="none">
                <a:latin typeface="Comic Sans MS" pitchFamily="66" charset="0"/>
              </a:rPr>
              <a:t>it has idle intervals where some job is ready:</a:t>
            </a: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701675" y="3544888"/>
            <a:ext cx="7404100" cy="457200"/>
            <a:chOff x="442" y="2233"/>
            <a:chExt cx="4664" cy="288"/>
          </a:xfrm>
        </p:grpSpPr>
        <p:sp>
          <p:nvSpPr>
            <p:cNvPr id="6159" name="Line 18"/>
            <p:cNvSpPr>
              <a:spLocks noChangeShapeType="1"/>
            </p:cNvSpPr>
            <p:nvPr/>
          </p:nvSpPr>
          <p:spPr bwMode="auto">
            <a:xfrm>
              <a:off x="442" y="2515"/>
              <a:ext cx="46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0" name="Rectangle 19"/>
            <p:cNvSpPr>
              <a:spLocks noChangeArrowheads="1"/>
            </p:cNvSpPr>
            <p:nvPr/>
          </p:nvSpPr>
          <p:spPr bwMode="auto">
            <a:xfrm>
              <a:off x="3610" y="2233"/>
              <a:ext cx="818" cy="282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 u="none"/>
                <a:t>J</a:t>
              </a:r>
              <a:r>
                <a:rPr lang="en-US" u="none" baseline="-25000"/>
                <a:t>i</a:t>
              </a:r>
              <a:endParaRPr lang="en-US" u="none"/>
            </a:p>
          </p:txBody>
        </p:sp>
        <p:sp>
          <p:nvSpPr>
            <p:cNvPr id="6161" name="Rectangle 20"/>
            <p:cNvSpPr>
              <a:spLocks noChangeArrowheads="1"/>
            </p:cNvSpPr>
            <p:nvPr/>
          </p:nvSpPr>
          <p:spPr bwMode="auto">
            <a:xfrm>
              <a:off x="880" y="2239"/>
              <a:ext cx="427" cy="282"/>
            </a:xfrm>
            <a:prstGeom prst="rect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u="none"/>
            </a:p>
          </p:txBody>
        </p:sp>
        <p:sp>
          <p:nvSpPr>
            <p:cNvPr id="6162" name="Rectangle 21"/>
            <p:cNvSpPr>
              <a:spLocks noChangeArrowheads="1"/>
            </p:cNvSpPr>
            <p:nvPr/>
          </p:nvSpPr>
          <p:spPr bwMode="auto">
            <a:xfrm>
              <a:off x="2128" y="2236"/>
              <a:ext cx="427" cy="282"/>
            </a:xfrm>
            <a:prstGeom prst="rect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u="none"/>
            </a:p>
          </p:txBody>
        </p:sp>
        <p:sp>
          <p:nvSpPr>
            <p:cNvPr id="6163" name="Rectangle 22"/>
            <p:cNvSpPr>
              <a:spLocks noChangeArrowheads="1"/>
            </p:cNvSpPr>
            <p:nvPr/>
          </p:nvSpPr>
          <p:spPr bwMode="auto">
            <a:xfrm>
              <a:off x="2917" y="2233"/>
              <a:ext cx="427" cy="282"/>
            </a:xfrm>
            <a:prstGeom prst="rect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u="none"/>
            </a:p>
          </p:txBody>
        </p:sp>
        <p:sp>
          <p:nvSpPr>
            <p:cNvPr id="6164" name="Rectangle 23"/>
            <p:cNvSpPr>
              <a:spLocks noChangeArrowheads="1"/>
            </p:cNvSpPr>
            <p:nvPr/>
          </p:nvSpPr>
          <p:spPr bwMode="auto">
            <a:xfrm>
              <a:off x="3344" y="2239"/>
              <a:ext cx="264" cy="28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 u="none"/>
                <a:t>J</a:t>
              </a:r>
              <a:r>
                <a:rPr lang="en-US" u="none" baseline="-25000"/>
                <a:t>k</a:t>
              </a:r>
              <a:endParaRPr lang="en-US" u="none"/>
            </a:p>
          </p:txBody>
        </p:sp>
        <p:sp>
          <p:nvSpPr>
            <p:cNvPr id="6165" name="Rectangle 24"/>
            <p:cNvSpPr>
              <a:spLocks noChangeArrowheads="1"/>
            </p:cNvSpPr>
            <p:nvPr/>
          </p:nvSpPr>
          <p:spPr bwMode="auto">
            <a:xfrm>
              <a:off x="4426" y="2239"/>
              <a:ext cx="427" cy="282"/>
            </a:xfrm>
            <a:prstGeom prst="rect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u="none"/>
            </a:p>
          </p:txBody>
        </p:sp>
        <p:sp>
          <p:nvSpPr>
            <p:cNvPr id="6166" name="Rectangle 25"/>
            <p:cNvSpPr>
              <a:spLocks noChangeArrowheads="1"/>
            </p:cNvSpPr>
            <p:nvPr/>
          </p:nvSpPr>
          <p:spPr bwMode="auto">
            <a:xfrm>
              <a:off x="1298" y="2236"/>
              <a:ext cx="836" cy="28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 u="none"/>
                <a:t>J</a:t>
              </a:r>
              <a:r>
                <a:rPr lang="en-US" u="none" baseline="-25000"/>
                <a:t>k</a:t>
              </a:r>
              <a:endParaRPr lang="en-US" u="none"/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557213" y="4605338"/>
            <a:ext cx="8115300" cy="1258887"/>
            <a:chOff x="351" y="2901"/>
            <a:chExt cx="5112" cy="793"/>
          </a:xfrm>
        </p:grpSpPr>
        <p:sp>
          <p:nvSpPr>
            <p:cNvPr id="6150" name="Text Box 17"/>
            <p:cNvSpPr txBox="1">
              <a:spLocks noChangeArrowheads="1"/>
            </p:cNvSpPr>
            <p:nvPr/>
          </p:nvSpPr>
          <p:spPr bwMode="auto">
            <a:xfrm>
              <a:off x="351" y="2901"/>
              <a:ext cx="5112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sz="2000" u="none">
                  <a:latin typeface="Comic Sans MS" pitchFamily="66" charset="0"/>
                </a:rPr>
                <a:t>Such idle intervals can be eliminated by moving some jobs forward:</a:t>
              </a:r>
            </a:p>
          </p:txBody>
        </p:sp>
        <p:sp>
          <p:nvSpPr>
            <p:cNvPr id="6151" name="Line 26"/>
            <p:cNvSpPr>
              <a:spLocks noChangeShapeType="1"/>
            </p:cNvSpPr>
            <p:nvPr/>
          </p:nvSpPr>
          <p:spPr bwMode="auto">
            <a:xfrm>
              <a:off x="448" y="3691"/>
              <a:ext cx="46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2" name="Rectangle 27"/>
            <p:cNvSpPr>
              <a:spLocks noChangeArrowheads="1"/>
            </p:cNvSpPr>
            <p:nvPr/>
          </p:nvSpPr>
          <p:spPr bwMode="auto">
            <a:xfrm>
              <a:off x="3256" y="3409"/>
              <a:ext cx="818" cy="282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 sz="2000" u="none">
                  <a:latin typeface="Comic Sans MS" pitchFamily="66" charset="0"/>
                </a:rPr>
                <a:t>J</a:t>
              </a:r>
              <a:r>
                <a:rPr lang="en-US" sz="2000" u="none" baseline="-25000">
                  <a:latin typeface="Comic Sans MS" pitchFamily="66" charset="0"/>
                </a:rPr>
                <a:t>i</a:t>
              </a:r>
              <a:endParaRPr lang="en-US" sz="2000" u="none">
                <a:latin typeface="Comic Sans MS" pitchFamily="66" charset="0"/>
              </a:endParaRPr>
            </a:p>
          </p:txBody>
        </p:sp>
        <p:sp>
          <p:nvSpPr>
            <p:cNvPr id="6153" name="Rectangle 28"/>
            <p:cNvSpPr>
              <a:spLocks noChangeArrowheads="1"/>
            </p:cNvSpPr>
            <p:nvPr/>
          </p:nvSpPr>
          <p:spPr bwMode="auto">
            <a:xfrm>
              <a:off x="886" y="3406"/>
              <a:ext cx="427" cy="282"/>
            </a:xfrm>
            <a:prstGeom prst="rect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2000" u="none">
                <a:latin typeface="Comic Sans MS" pitchFamily="66" charset="0"/>
              </a:endParaRPr>
            </a:p>
          </p:txBody>
        </p:sp>
        <p:sp>
          <p:nvSpPr>
            <p:cNvPr id="6154" name="Rectangle 29"/>
            <p:cNvSpPr>
              <a:spLocks noChangeArrowheads="1"/>
            </p:cNvSpPr>
            <p:nvPr/>
          </p:nvSpPr>
          <p:spPr bwMode="auto">
            <a:xfrm>
              <a:off x="2134" y="3412"/>
              <a:ext cx="427" cy="282"/>
            </a:xfrm>
            <a:prstGeom prst="rect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2000" u="none">
                <a:latin typeface="Comic Sans MS" pitchFamily="66" charset="0"/>
              </a:endParaRPr>
            </a:p>
          </p:txBody>
        </p:sp>
        <p:sp>
          <p:nvSpPr>
            <p:cNvPr id="6155" name="Rectangle 30"/>
            <p:cNvSpPr>
              <a:spLocks noChangeArrowheads="1"/>
            </p:cNvSpPr>
            <p:nvPr/>
          </p:nvSpPr>
          <p:spPr bwMode="auto">
            <a:xfrm>
              <a:off x="2563" y="3409"/>
              <a:ext cx="427" cy="282"/>
            </a:xfrm>
            <a:prstGeom prst="rect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2000" u="none">
                <a:latin typeface="Comic Sans MS" pitchFamily="66" charset="0"/>
              </a:endParaRPr>
            </a:p>
          </p:txBody>
        </p:sp>
        <p:sp>
          <p:nvSpPr>
            <p:cNvPr id="6156" name="Rectangle 31"/>
            <p:cNvSpPr>
              <a:spLocks noChangeArrowheads="1"/>
            </p:cNvSpPr>
            <p:nvPr/>
          </p:nvSpPr>
          <p:spPr bwMode="auto">
            <a:xfrm>
              <a:off x="2990" y="3406"/>
              <a:ext cx="264" cy="28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 sz="2000" u="none">
                  <a:latin typeface="Comic Sans MS" pitchFamily="66" charset="0"/>
                </a:rPr>
                <a:t>J</a:t>
              </a:r>
              <a:r>
                <a:rPr lang="en-US" sz="2000" u="none" baseline="-25000">
                  <a:latin typeface="Comic Sans MS" pitchFamily="66" charset="0"/>
                </a:rPr>
                <a:t>k</a:t>
              </a:r>
              <a:endParaRPr lang="en-US" sz="2000" u="none">
                <a:latin typeface="Comic Sans MS" pitchFamily="66" charset="0"/>
              </a:endParaRPr>
            </a:p>
          </p:txBody>
        </p:sp>
        <p:sp>
          <p:nvSpPr>
            <p:cNvPr id="6157" name="Rectangle 32"/>
            <p:cNvSpPr>
              <a:spLocks noChangeArrowheads="1"/>
            </p:cNvSpPr>
            <p:nvPr/>
          </p:nvSpPr>
          <p:spPr bwMode="auto">
            <a:xfrm>
              <a:off x="4072" y="3406"/>
              <a:ext cx="427" cy="282"/>
            </a:xfrm>
            <a:prstGeom prst="rect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2000" u="none">
                <a:latin typeface="Comic Sans MS" pitchFamily="66" charset="0"/>
              </a:endParaRPr>
            </a:p>
          </p:txBody>
        </p:sp>
        <p:sp>
          <p:nvSpPr>
            <p:cNvPr id="6158" name="Rectangle 33"/>
            <p:cNvSpPr>
              <a:spLocks noChangeArrowheads="1"/>
            </p:cNvSpPr>
            <p:nvPr/>
          </p:nvSpPr>
          <p:spPr bwMode="auto">
            <a:xfrm>
              <a:off x="1304" y="3412"/>
              <a:ext cx="836" cy="28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 sz="2000" u="none">
                  <a:latin typeface="Comic Sans MS" pitchFamily="66" charset="0"/>
                </a:rPr>
                <a:t>J</a:t>
              </a:r>
              <a:r>
                <a:rPr lang="en-US" sz="2000" u="none" baseline="-25000">
                  <a:latin typeface="Comic Sans MS" pitchFamily="66" charset="0"/>
                </a:rPr>
                <a:t>k</a:t>
              </a:r>
              <a:endParaRPr lang="en-US" sz="2000" u="none">
                <a:latin typeface="Comic Sans MS" pitchFamily="66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312738"/>
            <a:ext cx="8280400" cy="908050"/>
          </a:xfrm>
        </p:spPr>
        <p:txBody>
          <a:bodyPr/>
          <a:lstStyle/>
          <a:p>
            <a:r>
              <a:rPr lang="en-US" smtClean="0"/>
              <a:t>LLF Scheduling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62088"/>
            <a:ext cx="8458200" cy="4876800"/>
          </a:xfrm>
        </p:spPr>
        <p:txBody>
          <a:bodyPr/>
          <a:lstStyle/>
          <a:p>
            <a:r>
              <a:rPr lang="en-US" b="1" smtClean="0">
                <a:solidFill>
                  <a:srgbClr val="CC0000"/>
                </a:solidFill>
              </a:rPr>
              <a:t>Definition:</a:t>
            </a:r>
            <a:r>
              <a:rPr lang="en-US" smtClean="0"/>
              <a:t> At any time t, the </a:t>
            </a:r>
            <a:r>
              <a:rPr lang="en-US" b="1" smtClean="0">
                <a:solidFill>
                  <a:schemeClr val="tx2"/>
                </a:solidFill>
              </a:rPr>
              <a:t>slack</a:t>
            </a:r>
            <a:r>
              <a:rPr lang="en-US" smtClean="0"/>
              <a:t> (or </a:t>
            </a:r>
            <a:r>
              <a:rPr lang="en-US" b="1" smtClean="0">
                <a:solidFill>
                  <a:schemeClr val="tx2"/>
                </a:solidFill>
              </a:rPr>
              <a:t>laxity</a:t>
            </a:r>
            <a:r>
              <a:rPr lang="en-US" smtClean="0"/>
              <a:t>) of a job with deadline d is equal to d </a:t>
            </a:r>
            <a:r>
              <a:rPr lang="en-US" smtClean="0">
                <a:sym typeface="Symbol" pitchFamily="82" charset="2"/>
              </a:rPr>
              <a:t> t minus the time required to complete the remaining portion of the job.</a:t>
            </a:r>
          </a:p>
          <a:p>
            <a:endParaRPr lang="en-US" smtClean="0">
              <a:sym typeface="Symbol" pitchFamily="82" charset="2"/>
            </a:endParaRPr>
          </a:p>
          <a:p>
            <a:endParaRPr lang="en-US" smtClean="0">
              <a:sym typeface="Symbol" pitchFamily="82" charset="2"/>
            </a:endParaRPr>
          </a:p>
          <a:p>
            <a:endParaRPr lang="en-US" smtClean="0">
              <a:sym typeface="Symbol" pitchFamily="82" charset="2"/>
            </a:endParaRPr>
          </a:p>
          <a:p>
            <a:endParaRPr lang="en-US" b="1" smtClean="0">
              <a:solidFill>
                <a:srgbClr val="CC0000"/>
              </a:solidFill>
              <a:sym typeface="Symbol" pitchFamily="82" charset="2"/>
            </a:endParaRPr>
          </a:p>
          <a:p>
            <a:endParaRPr lang="en-US" b="1" smtClean="0">
              <a:solidFill>
                <a:srgbClr val="CC0000"/>
              </a:solidFill>
              <a:sym typeface="Symbol" pitchFamily="82" charset="2"/>
            </a:endParaRPr>
          </a:p>
          <a:p>
            <a:r>
              <a:rPr lang="en-US" b="1" smtClean="0">
                <a:solidFill>
                  <a:srgbClr val="CC0000"/>
                </a:solidFill>
                <a:sym typeface="Symbol" pitchFamily="82" charset="2"/>
              </a:rPr>
              <a:t>LLF Scheduling:</a:t>
            </a:r>
            <a:r>
              <a:rPr lang="en-US" smtClean="0">
                <a:sym typeface="Symbol" pitchFamily="82" charset="2"/>
              </a:rPr>
              <a:t> The job with the smallest laxity has highest priority at all times.</a:t>
            </a:r>
            <a:endParaRPr lang="en-US" smtClean="0"/>
          </a:p>
        </p:txBody>
      </p:sp>
      <p:grpSp>
        <p:nvGrpSpPr>
          <p:cNvPr id="7172" name="Group 23"/>
          <p:cNvGrpSpPr>
            <a:grpSpLocks/>
          </p:cNvGrpSpPr>
          <p:nvPr/>
        </p:nvGrpSpPr>
        <p:grpSpPr bwMode="auto">
          <a:xfrm>
            <a:off x="792163" y="2263775"/>
            <a:ext cx="7478712" cy="1719263"/>
            <a:chOff x="251" y="1865"/>
            <a:chExt cx="4711" cy="1083"/>
          </a:xfrm>
        </p:grpSpPr>
        <p:sp>
          <p:nvSpPr>
            <p:cNvPr id="7173" name="Line 4"/>
            <p:cNvSpPr>
              <a:spLocks noChangeShapeType="1"/>
            </p:cNvSpPr>
            <p:nvPr/>
          </p:nvSpPr>
          <p:spPr bwMode="auto">
            <a:xfrm>
              <a:off x="709" y="2564"/>
              <a:ext cx="41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4" name="Line 5"/>
            <p:cNvSpPr>
              <a:spLocks noChangeShapeType="1"/>
            </p:cNvSpPr>
            <p:nvPr/>
          </p:nvSpPr>
          <p:spPr bwMode="auto">
            <a:xfrm>
              <a:off x="1009" y="2564"/>
              <a:ext cx="0" cy="1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5" name="Line 6"/>
            <p:cNvSpPr>
              <a:spLocks noChangeShapeType="1"/>
            </p:cNvSpPr>
            <p:nvPr/>
          </p:nvSpPr>
          <p:spPr bwMode="auto">
            <a:xfrm>
              <a:off x="1366" y="2561"/>
              <a:ext cx="0" cy="1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6" name="Line 7"/>
            <p:cNvSpPr>
              <a:spLocks noChangeShapeType="1"/>
            </p:cNvSpPr>
            <p:nvPr/>
          </p:nvSpPr>
          <p:spPr bwMode="auto">
            <a:xfrm>
              <a:off x="1723" y="2567"/>
              <a:ext cx="0" cy="1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7" name="Line 8"/>
            <p:cNvSpPr>
              <a:spLocks noChangeShapeType="1"/>
            </p:cNvSpPr>
            <p:nvPr/>
          </p:nvSpPr>
          <p:spPr bwMode="auto">
            <a:xfrm>
              <a:off x="2080" y="2564"/>
              <a:ext cx="0" cy="1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" name="Line 9"/>
            <p:cNvSpPr>
              <a:spLocks noChangeShapeType="1"/>
            </p:cNvSpPr>
            <p:nvPr/>
          </p:nvSpPr>
          <p:spPr bwMode="auto">
            <a:xfrm>
              <a:off x="2437" y="2561"/>
              <a:ext cx="0" cy="1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9" name="Line 10"/>
            <p:cNvSpPr>
              <a:spLocks noChangeShapeType="1"/>
            </p:cNvSpPr>
            <p:nvPr/>
          </p:nvSpPr>
          <p:spPr bwMode="auto">
            <a:xfrm>
              <a:off x="2794" y="2567"/>
              <a:ext cx="0" cy="1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0" name="Line 11"/>
            <p:cNvSpPr>
              <a:spLocks noChangeShapeType="1"/>
            </p:cNvSpPr>
            <p:nvPr/>
          </p:nvSpPr>
          <p:spPr bwMode="auto">
            <a:xfrm>
              <a:off x="3151" y="2564"/>
              <a:ext cx="0" cy="1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1" name="Line 12"/>
            <p:cNvSpPr>
              <a:spLocks noChangeShapeType="1"/>
            </p:cNvSpPr>
            <p:nvPr/>
          </p:nvSpPr>
          <p:spPr bwMode="auto">
            <a:xfrm>
              <a:off x="3508" y="2561"/>
              <a:ext cx="0" cy="1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2" name="Line 13"/>
            <p:cNvSpPr>
              <a:spLocks noChangeShapeType="1"/>
            </p:cNvSpPr>
            <p:nvPr/>
          </p:nvSpPr>
          <p:spPr bwMode="auto">
            <a:xfrm>
              <a:off x="3865" y="2567"/>
              <a:ext cx="0" cy="1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3" name="Line 14"/>
            <p:cNvSpPr>
              <a:spLocks noChangeShapeType="1"/>
            </p:cNvSpPr>
            <p:nvPr/>
          </p:nvSpPr>
          <p:spPr bwMode="auto">
            <a:xfrm>
              <a:off x="4222" y="2564"/>
              <a:ext cx="0" cy="1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4" name="Line 15"/>
            <p:cNvSpPr>
              <a:spLocks noChangeShapeType="1"/>
            </p:cNvSpPr>
            <p:nvPr/>
          </p:nvSpPr>
          <p:spPr bwMode="auto">
            <a:xfrm>
              <a:off x="4579" y="2561"/>
              <a:ext cx="0" cy="1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5" name="Line 16"/>
            <p:cNvSpPr>
              <a:spLocks noChangeShapeType="1"/>
            </p:cNvSpPr>
            <p:nvPr/>
          </p:nvSpPr>
          <p:spPr bwMode="auto">
            <a:xfrm>
              <a:off x="4581" y="2135"/>
              <a:ext cx="0" cy="15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6" name="Text Box 17"/>
            <p:cNvSpPr txBox="1">
              <a:spLocks noChangeArrowheads="1"/>
            </p:cNvSpPr>
            <p:nvPr/>
          </p:nvSpPr>
          <p:spPr bwMode="auto">
            <a:xfrm>
              <a:off x="4305" y="1865"/>
              <a:ext cx="657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sz="2000" u="none">
                  <a:solidFill>
                    <a:schemeClr val="tx2"/>
                  </a:solidFill>
                </a:rPr>
                <a:t>deadline</a:t>
              </a:r>
            </a:p>
          </p:txBody>
        </p:sp>
        <p:sp>
          <p:nvSpPr>
            <p:cNvPr id="7187" name="Text Box 18"/>
            <p:cNvSpPr txBox="1">
              <a:spLocks noChangeArrowheads="1"/>
            </p:cNvSpPr>
            <p:nvPr/>
          </p:nvSpPr>
          <p:spPr bwMode="auto">
            <a:xfrm>
              <a:off x="251" y="2650"/>
              <a:ext cx="605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u="none">
                  <a:solidFill>
                    <a:srgbClr val="CC0000"/>
                  </a:solidFill>
                </a:rPr>
                <a:t>laxity:</a:t>
              </a:r>
            </a:p>
          </p:txBody>
        </p:sp>
        <p:sp>
          <p:nvSpPr>
            <p:cNvPr id="7188" name="Rectangle 19"/>
            <p:cNvSpPr>
              <a:spLocks noChangeArrowheads="1"/>
            </p:cNvSpPr>
            <p:nvPr/>
          </p:nvSpPr>
          <p:spPr bwMode="auto">
            <a:xfrm>
              <a:off x="1009" y="2292"/>
              <a:ext cx="718" cy="272"/>
            </a:xfrm>
            <a:prstGeom prst="rect">
              <a:avLst/>
            </a:prstGeom>
            <a:solidFill>
              <a:srgbClr val="FFCC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r"/>
              <a:endParaRPr lang="en-US" u="none"/>
            </a:p>
          </p:txBody>
        </p:sp>
        <p:sp>
          <p:nvSpPr>
            <p:cNvPr id="7189" name="Rectangle 20"/>
            <p:cNvSpPr>
              <a:spLocks noChangeArrowheads="1"/>
            </p:cNvSpPr>
            <p:nvPr/>
          </p:nvSpPr>
          <p:spPr bwMode="auto">
            <a:xfrm>
              <a:off x="2086" y="2289"/>
              <a:ext cx="1072" cy="272"/>
            </a:xfrm>
            <a:prstGeom prst="rect">
              <a:avLst/>
            </a:prstGeom>
            <a:solidFill>
              <a:srgbClr val="FFCC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r"/>
              <a:endParaRPr lang="en-US" u="none"/>
            </a:p>
          </p:txBody>
        </p:sp>
        <p:sp>
          <p:nvSpPr>
            <p:cNvPr id="7190" name="Rectangle 21"/>
            <p:cNvSpPr>
              <a:spLocks noChangeArrowheads="1"/>
            </p:cNvSpPr>
            <p:nvPr/>
          </p:nvSpPr>
          <p:spPr bwMode="auto">
            <a:xfrm>
              <a:off x="3505" y="2295"/>
              <a:ext cx="354" cy="272"/>
            </a:xfrm>
            <a:prstGeom prst="rect">
              <a:avLst/>
            </a:prstGeom>
            <a:solidFill>
              <a:srgbClr val="FFCC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r"/>
              <a:endParaRPr lang="en-US" u="none"/>
            </a:p>
          </p:txBody>
        </p:sp>
        <p:sp>
          <p:nvSpPr>
            <p:cNvPr id="7191" name="Text Box 22"/>
            <p:cNvSpPr txBox="1">
              <a:spLocks noChangeArrowheads="1"/>
            </p:cNvSpPr>
            <p:nvPr/>
          </p:nvSpPr>
          <p:spPr bwMode="auto">
            <a:xfrm>
              <a:off x="815" y="2660"/>
              <a:ext cx="3860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u="none"/>
                <a:t>  </a:t>
              </a:r>
              <a:r>
                <a:rPr lang="en-US" u="none">
                  <a:solidFill>
                    <a:srgbClr val="CC0000"/>
                  </a:solidFill>
                </a:rPr>
                <a:t>4     4      4     3      3     3     3      2     2      1     0</a:t>
              </a:r>
            </a:p>
          </p:txBody>
        </p:sp>
      </p:grp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327025"/>
            <a:ext cx="8280400" cy="908050"/>
          </a:xfrm>
        </p:spPr>
        <p:txBody>
          <a:bodyPr/>
          <a:lstStyle/>
          <a:p>
            <a:r>
              <a:rPr lang="en-US" smtClean="0"/>
              <a:t>Optimality of LLF</a:t>
            </a:r>
          </a:p>
        </p:txBody>
      </p:sp>
      <p:sp>
        <p:nvSpPr>
          <p:cNvPr id="409603" name="Text Box 3"/>
          <p:cNvSpPr txBox="1">
            <a:spLocks noChangeArrowheads="1"/>
          </p:cNvSpPr>
          <p:nvPr/>
        </p:nvSpPr>
        <p:spPr bwMode="auto">
          <a:xfrm>
            <a:off x="282575" y="1462088"/>
            <a:ext cx="8612188" cy="1565275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b="1" u="none"/>
              <a:t>Theorem 4-3:</a:t>
            </a:r>
            <a:r>
              <a:rPr lang="en-US" u="none"/>
              <a:t>  When preemption is allowed and jobs do not contend</a:t>
            </a:r>
          </a:p>
          <a:p>
            <a:pPr algn="l">
              <a:defRPr/>
            </a:pPr>
            <a:r>
              <a:rPr lang="en-US" u="none"/>
              <a:t>for resources, the LLF algorithm can produce a feasible schedule of</a:t>
            </a:r>
          </a:p>
          <a:p>
            <a:pPr algn="l">
              <a:defRPr/>
            </a:pPr>
            <a:r>
              <a:rPr lang="en-US" u="none"/>
              <a:t>a set </a:t>
            </a:r>
            <a:r>
              <a:rPr lang="en-US" b="1" u="none"/>
              <a:t>J</a:t>
            </a:r>
            <a:r>
              <a:rPr lang="en-US" u="none"/>
              <a:t> of jobs with arbitrary release times and deadlines on a</a:t>
            </a:r>
          </a:p>
          <a:p>
            <a:pPr algn="l">
              <a:defRPr/>
            </a:pPr>
            <a:r>
              <a:rPr lang="en-US" u="none"/>
              <a:t>processor if and only if </a:t>
            </a:r>
            <a:r>
              <a:rPr lang="en-US" b="1" u="none"/>
              <a:t>J</a:t>
            </a:r>
            <a:r>
              <a:rPr lang="en-US" u="none"/>
              <a:t> has feasible schedules.</a:t>
            </a:r>
          </a:p>
        </p:txBody>
      </p:sp>
      <p:sp>
        <p:nvSpPr>
          <p:cNvPr id="409605" name="Text Box 5"/>
          <p:cNvSpPr txBox="1">
            <a:spLocks noChangeArrowheads="1"/>
          </p:cNvSpPr>
          <p:nvPr/>
        </p:nvSpPr>
        <p:spPr bwMode="auto">
          <a:xfrm>
            <a:off x="788988" y="3757613"/>
            <a:ext cx="7961312" cy="13112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/>
            <a:r>
              <a:rPr lang="en-US" sz="2000" u="none">
                <a:latin typeface="Comic Sans MS" pitchFamily="66" charset="0"/>
              </a:rPr>
              <a:t>The proof is similar to that for EDF and is left as an exercise.</a:t>
            </a:r>
          </a:p>
          <a:p>
            <a:pPr algn="l"/>
            <a:endParaRPr lang="en-US" sz="2000" u="none">
              <a:latin typeface="Comic Sans MS" pitchFamily="66" charset="0"/>
            </a:endParaRPr>
          </a:p>
          <a:p>
            <a:pPr algn="l"/>
            <a:r>
              <a:rPr lang="en-US" sz="2000" b="1" u="none">
                <a:solidFill>
                  <a:srgbClr val="CC0000"/>
                </a:solidFill>
                <a:latin typeface="Comic Sans MS" pitchFamily="66" charset="0"/>
              </a:rPr>
              <a:t>Question:</a:t>
            </a:r>
            <a:r>
              <a:rPr lang="en-US" sz="2000" u="none">
                <a:latin typeface="Comic Sans MS" pitchFamily="66" charset="0"/>
              </a:rPr>
              <a:t> Which of EDF and LLF would be preferable in practice?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327025"/>
            <a:ext cx="8280400" cy="908050"/>
          </a:xfrm>
        </p:spPr>
        <p:txBody>
          <a:bodyPr/>
          <a:lstStyle/>
          <a:p>
            <a:r>
              <a:rPr lang="en-US" smtClean="0"/>
              <a:t>Preemptive vs. Nonpreemptive EDF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312738" y="1514475"/>
            <a:ext cx="8156575" cy="701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en-US" sz="2000" u="none">
                <a:latin typeface="Comic Sans MS" pitchFamily="66" charset="0"/>
              </a:rPr>
              <a:t>The rest of our discussion of dynamic-priority scheduling will focus</a:t>
            </a:r>
          </a:p>
          <a:p>
            <a:pPr algn="l"/>
            <a:r>
              <a:rPr lang="en-US" sz="2000" u="none">
                <a:latin typeface="Comic Sans MS" pitchFamily="66" charset="0"/>
              </a:rPr>
              <a:t>preemptive and nonpreemptive EDF.  We first show the following:</a:t>
            </a:r>
          </a:p>
        </p:txBody>
      </p:sp>
      <p:sp>
        <p:nvSpPr>
          <p:cNvPr id="410628" name="Text Box 4"/>
          <p:cNvSpPr txBox="1">
            <a:spLocks noChangeArrowheads="1"/>
          </p:cNvSpPr>
          <p:nvPr/>
        </p:nvSpPr>
        <p:spPr bwMode="auto">
          <a:xfrm>
            <a:off x="1376363" y="2430463"/>
            <a:ext cx="6032500" cy="4699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b="1" u="none"/>
              <a:t>Theorem:</a:t>
            </a:r>
            <a:r>
              <a:rPr lang="en-US" u="none"/>
              <a:t> Non-preemptive EDF is not optimal.</a:t>
            </a:r>
          </a:p>
        </p:txBody>
      </p:sp>
      <p:sp>
        <p:nvSpPr>
          <p:cNvPr id="410629" name="Text Box 5"/>
          <p:cNvSpPr txBox="1">
            <a:spLocks noChangeArrowheads="1"/>
          </p:cNvSpPr>
          <p:nvPr/>
        </p:nvSpPr>
        <p:spPr bwMode="auto">
          <a:xfrm>
            <a:off x="298450" y="3565525"/>
            <a:ext cx="8064500" cy="13112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en-US" sz="2000" b="1" u="none">
                <a:solidFill>
                  <a:srgbClr val="CC0000"/>
                </a:solidFill>
                <a:latin typeface="Comic Sans MS" pitchFamily="66" charset="0"/>
              </a:rPr>
              <a:t>Proof:</a:t>
            </a:r>
            <a:r>
              <a:rPr lang="en-US" sz="2000" u="none">
                <a:latin typeface="Comic Sans MS" pitchFamily="66" charset="0"/>
              </a:rPr>
              <a:t> Consider a system of three jobs J</a:t>
            </a:r>
            <a:r>
              <a:rPr lang="en-US" sz="2000" u="none" baseline="-25000">
                <a:latin typeface="Comic Sans MS" pitchFamily="66" charset="0"/>
              </a:rPr>
              <a:t>1</a:t>
            </a:r>
            <a:r>
              <a:rPr lang="en-US" sz="2000" u="none">
                <a:latin typeface="Comic Sans MS" pitchFamily="66" charset="0"/>
              </a:rPr>
              <a:t>, J</a:t>
            </a:r>
            <a:r>
              <a:rPr lang="en-US" sz="2000" u="none" baseline="-25000">
                <a:latin typeface="Comic Sans MS" pitchFamily="66" charset="0"/>
              </a:rPr>
              <a:t>2</a:t>
            </a:r>
            <a:r>
              <a:rPr lang="en-US" sz="2000" u="none">
                <a:latin typeface="Comic Sans MS" pitchFamily="66" charset="0"/>
              </a:rPr>
              <a:t>, and J</a:t>
            </a:r>
            <a:r>
              <a:rPr lang="en-US" sz="2000" u="none" baseline="-25000">
                <a:latin typeface="Comic Sans MS" pitchFamily="66" charset="0"/>
              </a:rPr>
              <a:t>3</a:t>
            </a:r>
            <a:r>
              <a:rPr lang="en-US" sz="2000" u="none">
                <a:latin typeface="Comic Sans MS" pitchFamily="66" charset="0"/>
              </a:rPr>
              <a:t> such that</a:t>
            </a:r>
          </a:p>
          <a:p>
            <a:pPr algn="l"/>
            <a:r>
              <a:rPr lang="en-US" sz="2000" u="none">
                <a:solidFill>
                  <a:schemeClr val="tx2"/>
                </a:solidFill>
                <a:latin typeface="Comic Sans MS" pitchFamily="66" charset="0"/>
              </a:rPr>
              <a:t>(r</a:t>
            </a:r>
            <a:r>
              <a:rPr lang="en-US" sz="2000" u="none" baseline="-25000">
                <a:solidFill>
                  <a:schemeClr val="tx2"/>
                </a:solidFill>
                <a:latin typeface="Comic Sans MS" pitchFamily="66" charset="0"/>
              </a:rPr>
              <a:t>1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</a:rPr>
              <a:t>, e</a:t>
            </a:r>
            <a:r>
              <a:rPr lang="en-US" sz="2000" u="none" baseline="-25000">
                <a:solidFill>
                  <a:schemeClr val="tx2"/>
                </a:solidFill>
                <a:latin typeface="Comic Sans MS" pitchFamily="66" charset="0"/>
              </a:rPr>
              <a:t>1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</a:rPr>
              <a:t>, d</a:t>
            </a:r>
            <a:r>
              <a:rPr lang="en-US" sz="2000" u="none" baseline="-25000">
                <a:solidFill>
                  <a:schemeClr val="tx2"/>
                </a:solidFill>
                <a:latin typeface="Comic Sans MS" pitchFamily="66" charset="0"/>
              </a:rPr>
              <a:t>1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</a:rPr>
              <a:t>) = (0, 3, 10)</a:t>
            </a:r>
            <a:r>
              <a:rPr lang="en-US" sz="2000" u="none">
                <a:latin typeface="Comic Sans MS" pitchFamily="66" charset="0"/>
              </a:rPr>
              <a:t>, </a:t>
            </a:r>
            <a:r>
              <a:rPr lang="en-US" sz="2000" u="none">
                <a:solidFill>
                  <a:srgbClr val="008000"/>
                </a:solidFill>
                <a:latin typeface="Comic Sans MS" pitchFamily="66" charset="0"/>
              </a:rPr>
              <a:t>(r</a:t>
            </a:r>
            <a:r>
              <a:rPr lang="en-US" sz="2000" u="none" baseline="-25000">
                <a:solidFill>
                  <a:srgbClr val="008000"/>
                </a:solidFill>
                <a:latin typeface="Comic Sans MS" pitchFamily="66" charset="0"/>
              </a:rPr>
              <a:t>2</a:t>
            </a:r>
            <a:r>
              <a:rPr lang="en-US" sz="2000" u="none">
                <a:solidFill>
                  <a:srgbClr val="008000"/>
                </a:solidFill>
                <a:latin typeface="Comic Sans MS" pitchFamily="66" charset="0"/>
              </a:rPr>
              <a:t>, e</a:t>
            </a:r>
            <a:r>
              <a:rPr lang="en-US" sz="2000" u="none" baseline="-25000">
                <a:solidFill>
                  <a:srgbClr val="008000"/>
                </a:solidFill>
                <a:latin typeface="Comic Sans MS" pitchFamily="66" charset="0"/>
              </a:rPr>
              <a:t>2</a:t>
            </a:r>
            <a:r>
              <a:rPr lang="en-US" sz="2000" u="none">
                <a:solidFill>
                  <a:srgbClr val="008000"/>
                </a:solidFill>
                <a:latin typeface="Comic Sans MS" pitchFamily="66" charset="0"/>
              </a:rPr>
              <a:t>, d</a:t>
            </a:r>
            <a:r>
              <a:rPr lang="en-US" sz="2000" u="none" baseline="-25000">
                <a:solidFill>
                  <a:srgbClr val="008000"/>
                </a:solidFill>
                <a:latin typeface="Comic Sans MS" pitchFamily="66" charset="0"/>
              </a:rPr>
              <a:t>2</a:t>
            </a:r>
            <a:r>
              <a:rPr lang="en-US" sz="2000" u="none">
                <a:solidFill>
                  <a:srgbClr val="008000"/>
                </a:solidFill>
                <a:latin typeface="Comic Sans MS" pitchFamily="66" charset="0"/>
              </a:rPr>
              <a:t>) = (2, 6, 14)</a:t>
            </a:r>
            <a:r>
              <a:rPr lang="en-US" sz="2000" u="none">
                <a:latin typeface="Comic Sans MS" pitchFamily="66" charset="0"/>
              </a:rPr>
              <a:t>, </a:t>
            </a:r>
            <a:r>
              <a:rPr lang="en-US" sz="2000" u="none">
                <a:solidFill>
                  <a:srgbClr val="CC0000"/>
                </a:solidFill>
                <a:latin typeface="Comic Sans MS" pitchFamily="66" charset="0"/>
              </a:rPr>
              <a:t>(r</a:t>
            </a:r>
            <a:r>
              <a:rPr lang="en-US" sz="2000" u="none" baseline="-25000">
                <a:solidFill>
                  <a:srgbClr val="CC0000"/>
                </a:solidFill>
                <a:latin typeface="Comic Sans MS" pitchFamily="66" charset="0"/>
              </a:rPr>
              <a:t>3</a:t>
            </a:r>
            <a:r>
              <a:rPr lang="en-US" sz="2000" u="none">
                <a:solidFill>
                  <a:srgbClr val="CC0000"/>
                </a:solidFill>
                <a:latin typeface="Comic Sans MS" pitchFamily="66" charset="0"/>
              </a:rPr>
              <a:t>, e</a:t>
            </a:r>
            <a:r>
              <a:rPr lang="en-US" sz="2000" u="none" baseline="-25000">
                <a:solidFill>
                  <a:srgbClr val="CC0000"/>
                </a:solidFill>
                <a:latin typeface="Comic Sans MS" pitchFamily="66" charset="0"/>
              </a:rPr>
              <a:t>3</a:t>
            </a:r>
            <a:r>
              <a:rPr lang="en-US" sz="2000" u="none">
                <a:solidFill>
                  <a:srgbClr val="CC0000"/>
                </a:solidFill>
                <a:latin typeface="Comic Sans MS" pitchFamily="66" charset="0"/>
              </a:rPr>
              <a:t>, d</a:t>
            </a:r>
            <a:r>
              <a:rPr lang="en-US" sz="2000" u="none" baseline="-25000">
                <a:solidFill>
                  <a:srgbClr val="CC0000"/>
                </a:solidFill>
                <a:latin typeface="Comic Sans MS" pitchFamily="66" charset="0"/>
              </a:rPr>
              <a:t>3</a:t>
            </a:r>
            <a:r>
              <a:rPr lang="en-US" sz="2000" u="none">
                <a:solidFill>
                  <a:srgbClr val="CC0000"/>
                </a:solidFill>
                <a:latin typeface="Comic Sans MS" pitchFamily="66" charset="0"/>
              </a:rPr>
              <a:t>) = (4, 4, 12)</a:t>
            </a:r>
            <a:r>
              <a:rPr lang="en-US" sz="2000" u="none">
                <a:latin typeface="Comic Sans MS" pitchFamily="66" charset="0"/>
              </a:rPr>
              <a:t>.</a:t>
            </a:r>
          </a:p>
          <a:p>
            <a:pPr algn="l"/>
            <a:endParaRPr lang="en-US" sz="2000" u="none">
              <a:latin typeface="Comic Sans MS" pitchFamily="66" charset="0"/>
            </a:endParaRPr>
          </a:p>
          <a:p>
            <a:pPr algn="l"/>
            <a:r>
              <a:rPr lang="en-US" sz="2000" u="none">
                <a:latin typeface="Comic Sans MS" pitchFamily="66" charset="0"/>
              </a:rPr>
              <a:t>Here’s a schedule (any schedule, does not need to be EDF):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368300" y="5289550"/>
            <a:ext cx="8658225" cy="1104900"/>
            <a:chOff x="232" y="3332"/>
            <a:chExt cx="5454" cy="696"/>
          </a:xfrm>
        </p:grpSpPr>
        <p:sp>
          <p:nvSpPr>
            <p:cNvPr id="9223" name="Line 6"/>
            <p:cNvSpPr>
              <a:spLocks noChangeShapeType="1"/>
            </p:cNvSpPr>
            <p:nvPr/>
          </p:nvSpPr>
          <p:spPr bwMode="auto">
            <a:xfrm>
              <a:off x="232" y="3635"/>
              <a:ext cx="54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4" name="Line 7"/>
            <p:cNvSpPr>
              <a:spLocks noChangeShapeType="1"/>
            </p:cNvSpPr>
            <p:nvPr/>
          </p:nvSpPr>
          <p:spPr bwMode="auto">
            <a:xfrm>
              <a:off x="532" y="3635"/>
              <a:ext cx="0" cy="1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5" name="Line 8"/>
            <p:cNvSpPr>
              <a:spLocks noChangeShapeType="1"/>
            </p:cNvSpPr>
            <p:nvPr/>
          </p:nvSpPr>
          <p:spPr bwMode="auto">
            <a:xfrm>
              <a:off x="889" y="3632"/>
              <a:ext cx="0" cy="1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6" name="Line 9"/>
            <p:cNvSpPr>
              <a:spLocks noChangeShapeType="1"/>
            </p:cNvSpPr>
            <p:nvPr/>
          </p:nvSpPr>
          <p:spPr bwMode="auto">
            <a:xfrm>
              <a:off x="1246" y="3638"/>
              <a:ext cx="0" cy="1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7" name="Line 10"/>
            <p:cNvSpPr>
              <a:spLocks noChangeShapeType="1"/>
            </p:cNvSpPr>
            <p:nvPr/>
          </p:nvSpPr>
          <p:spPr bwMode="auto">
            <a:xfrm>
              <a:off x="1603" y="3635"/>
              <a:ext cx="0" cy="1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8" name="Line 11"/>
            <p:cNvSpPr>
              <a:spLocks noChangeShapeType="1"/>
            </p:cNvSpPr>
            <p:nvPr/>
          </p:nvSpPr>
          <p:spPr bwMode="auto">
            <a:xfrm>
              <a:off x="1960" y="3632"/>
              <a:ext cx="0" cy="1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9" name="Line 12"/>
            <p:cNvSpPr>
              <a:spLocks noChangeShapeType="1"/>
            </p:cNvSpPr>
            <p:nvPr/>
          </p:nvSpPr>
          <p:spPr bwMode="auto">
            <a:xfrm>
              <a:off x="2317" y="3638"/>
              <a:ext cx="0" cy="1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0" name="Line 13"/>
            <p:cNvSpPr>
              <a:spLocks noChangeShapeType="1"/>
            </p:cNvSpPr>
            <p:nvPr/>
          </p:nvSpPr>
          <p:spPr bwMode="auto">
            <a:xfrm>
              <a:off x="2674" y="3635"/>
              <a:ext cx="0" cy="1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1" name="Line 14"/>
            <p:cNvSpPr>
              <a:spLocks noChangeShapeType="1"/>
            </p:cNvSpPr>
            <p:nvPr/>
          </p:nvSpPr>
          <p:spPr bwMode="auto">
            <a:xfrm>
              <a:off x="3031" y="3632"/>
              <a:ext cx="0" cy="1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2" name="Line 15"/>
            <p:cNvSpPr>
              <a:spLocks noChangeShapeType="1"/>
            </p:cNvSpPr>
            <p:nvPr/>
          </p:nvSpPr>
          <p:spPr bwMode="auto">
            <a:xfrm>
              <a:off x="3388" y="3638"/>
              <a:ext cx="0" cy="1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3" name="Line 16"/>
            <p:cNvSpPr>
              <a:spLocks noChangeShapeType="1"/>
            </p:cNvSpPr>
            <p:nvPr/>
          </p:nvSpPr>
          <p:spPr bwMode="auto">
            <a:xfrm>
              <a:off x="3745" y="3635"/>
              <a:ext cx="0" cy="1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4" name="Line 17"/>
            <p:cNvSpPr>
              <a:spLocks noChangeShapeType="1"/>
            </p:cNvSpPr>
            <p:nvPr/>
          </p:nvSpPr>
          <p:spPr bwMode="auto">
            <a:xfrm>
              <a:off x="4102" y="3641"/>
              <a:ext cx="0" cy="1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5" name="Rectangle 21"/>
            <p:cNvSpPr>
              <a:spLocks noChangeArrowheads="1"/>
            </p:cNvSpPr>
            <p:nvPr/>
          </p:nvSpPr>
          <p:spPr bwMode="auto">
            <a:xfrm>
              <a:off x="532" y="3363"/>
              <a:ext cx="1073" cy="272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r"/>
              <a:endParaRPr lang="en-US" u="none"/>
            </a:p>
          </p:txBody>
        </p:sp>
        <p:sp>
          <p:nvSpPr>
            <p:cNvPr id="9236" name="Rectangle 22"/>
            <p:cNvSpPr>
              <a:spLocks noChangeArrowheads="1"/>
            </p:cNvSpPr>
            <p:nvPr/>
          </p:nvSpPr>
          <p:spPr bwMode="auto">
            <a:xfrm>
              <a:off x="1960" y="3369"/>
              <a:ext cx="1427" cy="272"/>
            </a:xfrm>
            <a:prstGeom prst="rect">
              <a:avLst/>
            </a:prstGeom>
            <a:solidFill>
              <a:srgbClr val="FFCC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r"/>
              <a:endParaRPr lang="en-US" u="none"/>
            </a:p>
          </p:txBody>
        </p:sp>
        <p:sp>
          <p:nvSpPr>
            <p:cNvPr id="9237" name="Rectangle 23"/>
            <p:cNvSpPr>
              <a:spLocks noChangeArrowheads="1"/>
            </p:cNvSpPr>
            <p:nvPr/>
          </p:nvSpPr>
          <p:spPr bwMode="auto">
            <a:xfrm>
              <a:off x="3388" y="3375"/>
              <a:ext cx="2136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r"/>
              <a:endParaRPr lang="en-US" u="none"/>
            </a:p>
          </p:txBody>
        </p:sp>
        <p:sp>
          <p:nvSpPr>
            <p:cNvPr id="9238" name="Text Box 24"/>
            <p:cNvSpPr txBox="1">
              <a:spLocks noChangeArrowheads="1"/>
            </p:cNvSpPr>
            <p:nvPr/>
          </p:nvSpPr>
          <p:spPr bwMode="auto">
            <a:xfrm>
              <a:off x="338" y="3740"/>
              <a:ext cx="5348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u="none"/>
                <a:t>  </a:t>
              </a:r>
              <a:r>
                <a:rPr lang="en-US" u="none">
                  <a:solidFill>
                    <a:srgbClr val="CC0000"/>
                  </a:solidFill>
                </a:rPr>
                <a:t>0     1      2     3      4     5     6      7     8      9     10   11    12   13   14</a:t>
              </a:r>
            </a:p>
          </p:txBody>
        </p:sp>
        <p:sp>
          <p:nvSpPr>
            <p:cNvPr id="9239" name="Line 26"/>
            <p:cNvSpPr>
              <a:spLocks noChangeShapeType="1"/>
            </p:cNvSpPr>
            <p:nvPr/>
          </p:nvSpPr>
          <p:spPr bwMode="auto">
            <a:xfrm>
              <a:off x="4459" y="3638"/>
              <a:ext cx="0" cy="1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0" name="Line 27"/>
            <p:cNvSpPr>
              <a:spLocks noChangeShapeType="1"/>
            </p:cNvSpPr>
            <p:nvPr/>
          </p:nvSpPr>
          <p:spPr bwMode="auto">
            <a:xfrm>
              <a:off x="4816" y="3635"/>
              <a:ext cx="0" cy="1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1" name="Line 32"/>
            <p:cNvSpPr>
              <a:spLocks noChangeShapeType="1"/>
            </p:cNvSpPr>
            <p:nvPr/>
          </p:nvSpPr>
          <p:spPr bwMode="auto">
            <a:xfrm>
              <a:off x="5173" y="3641"/>
              <a:ext cx="0" cy="1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2" name="Line 33"/>
            <p:cNvSpPr>
              <a:spLocks noChangeShapeType="1"/>
            </p:cNvSpPr>
            <p:nvPr/>
          </p:nvSpPr>
          <p:spPr bwMode="auto">
            <a:xfrm>
              <a:off x="5530" y="3638"/>
              <a:ext cx="0" cy="1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3" name="Text Box 36"/>
            <p:cNvSpPr txBox="1">
              <a:spLocks noChangeArrowheads="1"/>
            </p:cNvSpPr>
            <p:nvPr/>
          </p:nvSpPr>
          <p:spPr bwMode="auto">
            <a:xfrm>
              <a:off x="987" y="3359"/>
              <a:ext cx="255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u="none"/>
                <a:t>J</a:t>
              </a:r>
              <a:r>
                <a:rPr lang="en-US" u="none" baseline="-25000"/>
                <a:t>1</a:t>
              </a:r>
              <a:endParaRPr lang="en-US" u="none"/>
            </a:p>
          </p:txBody>
        </p:sp>
        <p:sp>
          <p:nvSpPr>
            <p:cNvPr id="9244" name="Text Box 37"/>
            <p:cNvSpPr txBox="1">
              <a:spLocks noChangeArrowheads="1"/>
            </p:cNvSpPr>
            <p:nvPr/>
          </p:nvSpPr>
          <p:spPr bwMode="auto">
            <a:xfrm>
              <a:off x="2633" y="3341"/>
              <a:ext cx="255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u="none"/>
                <a:t>J</a:t>
              </a:r>
              <a:r>
                <a:rPr lang="en-US" u="none" baseline="-25000"/>
                <a:t>3</a:t>
              </a:r>
              <a:endParaRPr lang="en-US" u="none"/>
            </a:p>
          </p:txBody>
        </p:sp>
        <p:sp>
          <p:nvSpPr>
            <p:cNvPr id="9245" name="Text Box 38"/>
            <p:cNvSpPr txBox="1">
              <a:spLocks noChangeArrowheads="1"/>
            </p:cNvSpPr>
            <p:nvPr/>
          </p:nvSpPr>
          <p:spPr bwMode="auto">
            <a:xfrm>
              <a:off x="4405" y="3332"/>
              <a:ext cx="255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u="none"/>
                <a:t>J</a:t>
              </a:r>
              <a:r>
                <a:rPr lang="en-US" u="none" baseline="-25000"/>
                <a:t>2</a:t>
              </a:r>
              <a:endParaRPr lang="en-US" u="none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2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327025"/>
            <a:ext cx="8280400" cy="908050"/>
          </a:xfrm>
        </p:spPr>
        <p:txBody>
          <a:bodyPr/>
          <a:lstStyle/>
          <a:p>
            <a:r>
              <a:rPr lang="en-US" smtClean="0"/>
              <a:t>Proof (Continued)</a:t>
            </a:r>
          </a:p>
        </p:txBody>
      </p:sp>
      <p:sp>
        <p:nvSpPr>
          <p:cNvPr id="10243" name="Text Box 5"/>
          <p:cNvSpPr txBox="1">
            <a:spLocks noChangeArrowheads="1"/>
          </p:cNvSpPr>
          <p:nvPr/>
        </p:nvSpPr>
        <p:spPr bwMode="auto">
          <a:xfrm>
            <a:off x="469900" y="1536700"/>
            <a:ext cx="63754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en-US" sz="2000" u="none">
                <a:latin typeface="Comic Sans MS" pitchFamily="66" charset="0"/>
              </a:rPr>
              <a:t>But under non-preemptive EDF, a deadline is missed!</a:t>
            </a:r>
          </a:p>
        </p:txBody>
      </p:sp>
      <p:sp>
        <p:nvSpPr>
          <p:cNvPr id="10244" name="Line 6"/>
          <p:cNvSpPr>
            <a:spLocks noChangeShapeType="1"/>
          </p:cNvSpPr>
          <p:nvPr/>
        </p:nvSpPr>
        <p:spPr bwMode="auto">
          <a:xfrm>
            <a:off x="368300" y="2613025"/>
            <a:ext cx="85994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5" name="Line 7"/>
          <p:cNvSpPr>
            <a:spLocks noChangeShapeType="1"/>
          </p:cNvSpPr>
          <p:nvPr/>
        </p:nvSpPr>
        <p:spPr bwMode="auto">
          <a:xfrm>
            <a:off x="844550" y="2613025"/>
            <a:ext cx="0" cy="188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6" name="Line 8"/>
          <p:cNvSpPr>
            <a:spLocks noChangeShapeType="1"/>
          </p:cNvSpPr>
          <p:nvPr/>
        </p:nvSpPr>
        <p:spPr bwMode="auto">
          <a:xfrm>
            <a:off x="1411288" y="2608263"/>
            <a:ext cx="0" cy="188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7" name="Line 9"/>
          <p:cNvSpPr>
            <a:spLocks noChangeShapeType="1"/>
          </p:cNvSpPr>
          <p:nvPr/>
        </p:nvSpPr>
        <p:spPr bwMode="auto">
          <a:xfrm>
            <a:off x="1978025" y="2617788"/>
            <a:ext cx="0" cy="188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8" name="Line 10"/>
          <p:cNvSpPr>
            <a:spLocks noChangeShapeType="1"/>
          </p:cNvSpPr>
          <p:nvPr/>
        </p:nvSpPr>
        <p:spPr bwMode="auto">
          <a:xfrm>
            <a:off x="2544763" y="2613025"/>
            <a:ext cx="0" cy="188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9" name="Line 11"/>
          <p:cNvSpPr>
            <a:spLocks noChangeShapeType="1"/>
          </p:cNvSpPr>
          <p:nvPr/>
        </p:nvSpPr>
        <p:spPr bwMode="auto">
          <a:xfrm>
            <a:off x="3111500" y="2608263"/>
            <a:ext cx="0" cy="188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0" name="Line 12"/>
          <p:cNvSpPr>
            <a:spLocks noChangeShapeType="1"/>
          </p:cNvSpPr>
          <p:nvPr/>
        </p:nvSpPr>
        <p:spPr bwMode="auto">
          <a:xfrm>
            <a:off x="3678238" y="2617788"/>
            <a:ext cx="0" cy="188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1" name="Line 13"/>
          <p:cNvSpPr>
            <a:spLocks noChangeShapeType="1"/>
          </p:cNvSpPr>
          <p:nvPr/>
        </p:nvSpPr>
        <p:spPr bwMode="auto">
          <a:xfrm>
            <a:off x="4244975" y="2613025"/>
            <a:ext cx="0" cy="188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2" name="Line 14"/>
          <p:cNvSpPr>
            <a:spLocks noChangeShapeType="1"/>
          </p:cNvSpPr>
          <p:nvPr/>
        </p:nvSpPr>
        <p:spPr bwMode="auto">
          <a:xfrm>
            <a:off x="4811713" y="2608263"/>
            <a:ext cx="0" cy="188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3" name="Line 15"/>
          <p:cNvSpPr>
            <a:spLocks noChangeShapeType="1"/>
          </p:cNvSpPr>
          <p:nvPr/>
        </p:nvSpPr>
        <p:spPr bwMode="auto">
          <a:xfrm>
            <a:off x="5378450" y="2617788"/>
            <a:ext cx="0" cy="188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4" name="Line 16"/>
          <p:cNvSpPr>
            <a:spLocks noChangeShapeType="1"/>
          </p:cNvSpPr>
          <p:nvPr/>
        </p:nvSpPr>
        <p:spPr bwMode="auto">
          <a:xfrm>
            <a:off x="5945188" y="2613025"/>
            <a:ext cx="0" cy="188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5" name="Line 17"/>
          <p:cNvSpPr>
            <a:spLocks noChangeShapeType="1"/>
          </p:cNvSpPr>
          <p:nvPr/>
        </p:nvSpPr>
        <p:spPr bwMode="auto">
          <a:xfrm>
            <a:off x="6511925" y="2622550"/>
            <a:ext cx="0" cy="188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6" name="Rectangle 18"/>
          <p:cNvSpPr>
            <a:spLocks noChangeArrowheads="1"/>
          </p:cNvSpPr>
          <p:nvPr/>
        </p:nvSpPr>
        <p:spPr bwMode="auto">
          <a:xfrm>
            <a:off x="844550" y="2197100"/>
            <a:ext cx="1703388" cy="415925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r"/>
            <a:endParaRPr lang="en-US" u="none"/>
          </a:p>
        </p:txBody>
      </p:sp>
      <p:sp>
        <p:nvSpPr>
          <p:cNvPr id="10257" name="Text Box 21"/>
          <p:cNvSpPr txBox="1">
            <a:spLocks noChangeArrowheads="1"/>
          </p:cNvSpPr>
          <p:nvPr/>
        </p:nvSpPr>
        <p:spPr bwMode="auto">
          <a:xfrm>
            <a:off x="536575" y="2779713"/>
            <a:ext cx="84899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en-US" u="none"/>
              <a:t>  </a:t>
            </a:r>
            <a:r>
              <a:rPr lang="en-US" u="none">
                <a:solidFill>
                  <a:srgbClr val="CC0000"/>
                </a:solidFill>
              </a:rPr>
              <a:t>0     1      2     3      4     5     6      7     8      9     10   11    12   13   14</a:t>
            </a:r>
          </a:p>
        </p:txBody>
      </p:sp>
      <p:sp>
        <p:nvSpPr>
          <p:cNvPr id="10258" name="Line 22"/>
          <p:cNvSpPr>
            <a:spLocks noChangeShapeType="1"/>
          </p:cNvSpPr>
          <p:nvPr/>
        </p:nvSpPr>
        <p:spPr bwMode="auto">
          <a:xfrm>
            <a:off x="7078663" y="2617788"/>
            <a:ext cx="0" cy="188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9" name="Line 23"/>
          <p:cNvSpPr>
            <a:spLocks noChangeShapeType="1"/>
          </p:cNvSpPr>
          <p:nvPr/>
        </p:nvSpPr>
        <p:spPr bwMode="auto">
          <a:xfrm>
            <a:off x="7645400" y="2613025"/>
            <a:ext cx="0" cy="188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0" name="Line 24"/>
          <p:cNvSpPr>
            <a:spLocks noChangeShapeType="1"/>
          </p:cNvSpPr>
          <p:nvPr/>
        </p:nvSpPr>
        <p:spPr bwMode="auto">
          <a:xfrm>
            <a:off x="8212138" y="2622550"/>
            <a:ext cx="0" cy="188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1" name="Line 25"/>
          <p:cNvSpPr>
            <a:spLocks noChangeShapeType="1"/>
          </p:cNvSpPr>
          <p:nvPr/>
        </p:nvSpPr>
        <p:spPr bwMode="auto">
          <a:xfrm>
            <a:off x="8778875" y="2617788"/>
            <a:ext cx="0" cy="188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2" name="Text Box 26"/>
          <p:cNvSpPr txBox="1">
            <a:spLocks noChangeArrowheads="1"/>
          </p:cNvSpPr>
          <p:nvPr/>
        </p:nvSpPr>
        <p:spPr bwMode="auto">
          <a:xfrm>
            <a:off x="1566863" y="2174875"/>
            <a:ext cx="40481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en-US" u="none"/>
              <a:t>J</a:t>
            </a:r>
            <a:r>
              <a:rPr lang="en-US" u="none" baseline="-25000"/>
              <a:t>1</a:t>
            </a:r>
            <a:endParaRPr lang="en-US" u="none"/>
          </a:p>
        </p:txBody>
      </p:sp>
      <p:grpSp>
        <p:nvGrpSpPr>
          <p:cNvPr id="10263" name="Group 35"/>
          <p:cNvGrpSpPr>
            <a:grpSpLocks/>
          </p:cNvGrpSpPr>
          <p:nvPr/>
        </p:nvGrpSpPr>
        <p:grpSpPr bwMode="auto">
          <a:xfrm>
            <a:off x="5940425" y="2159000"/>
            <a:ext cx="2265363" cy="461963"/>
            <a:chOff x="1960" y="1352"/>
            <a:chExt cx="1427" cy="291"/>
          </a:xfrm>
        </p:grpSpPr>
        <p:sp>
          <p:nvSpPr>
            <p:cNvPr id="10275" name="Rectangle 19"/>
            <p:cNvSpPr>
              <a:spLocks noChangeArrowheads="1"/>
            </p:cNvSpPr>
            <p:nvPr/>
          </p:nvSpPr>
          <p:spPr bwMode="auto">
            <a:xfrm>
              <a:off x="1960" y="1380"/>
              <a:ext cx="1427" cy="263"/>
            </a:xfrm>
            <a:prstGeom prst="rect">
              <a:avLst/>
            </a:prstGeom>
            <a:solidFill>
              <a:srgbClr val="FFCC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r"/>
              <a:endParaRPr lang="en-US" u="none"/>
            </a:p>
          </p:txBody>
        </p:sp>
        <p:sp>
          <p:nvSpPr>
            <p:cNvPr id="10276" name="Text Box 27"/>
            <p:cNvSpPr txBox="1">
              <a:spLocks noChangeArrowheads="1"/>
            </p:cNvSpPr>
            <p:nvPr/>
          </p:nvSpPr>
          <p:spPr bwMode="auto">
            <a:xfrm>
              <a:off x="2633" y="1352"/>
              <a:ext cx="255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u="none"/>
                <a:t>J</a:t>
              </a:r>
              <a:r>
                <a:rPr lang="en-US" u="none" baseline="-25000"/>
                <a:t>3</a:t>
              </a:r>
              <a:endParaRPr lang="en-US" u="none"/>
            </a:p>
          </p:txBody>
        </p:sp>
      </p:grpSp>
      <p:sp>
        <p:nvSpPr>
          <p:cNvPr id="10264" name="Rectangle 20"/>
          <p:cNvSpPr>
            <a:spLocks noChangeArrowheads="1"/>
          </p:cNvSpPr>
          <p:nvPr/>
        </p:nvSpPr>
        <p:spPr bwMode="auto">
          <a:xfrm>
            <a:off x="2549525" y="2200275"/>
            <a:ext cx="3390900" cy="41751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r"/>
            <a:endParaRPr lang="en-US" u="none"/>
          </a:p>
        </p:txBody>
      </p:sp>
      <p:sp>
        <p:nvSpPr>
          <p:cNvPr id="10265" name="Text Box 28"/>
          <p:cNvSpPr txBox="1">
            <a:spLocks noChangeArrowheads="1"/>
          </p:cNvSpPr>
          <p:nvPr/>
        </p:nvSpPr>
        <p:spPr bwMode="auto">
          <a:xfrm>
            <a:off x="4164013" y="2132013"/>
            <a:ext cx="40481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en-US" u="none"/>
              <a:t>J</a:t>
            </a:r>
            <a:r>
              <a:rPr lang="en-US" u="none" baseline="-25000"/>
              <a:t>2</a:t>
            </a:r>
            <a:endParaRPr lang="en-US" u="none"/>
          </a:p>
        </p:txBody>
      </p:sp>
      <p:sp>
        <p:nvSpPr>
          <p:cNvPr id="10266" name="Line 29"/>
          <p:cNvSpPr>
            <a:spLocks noChangeShapeType="1"/>
          </p:cNvSpPr>
          <p:nvPr/>
        </p:nvSpPr>
        <p:spPr bwMode="auto">
          <a:xfrm flipV="1">
            <a:off x="3132138" y="3251200"/>
            <a:ext cx="0" cy="346075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7" name="Line 30"/>
          <p:cNvSpPr>
            <a:spLocks noChangeShapeType="1"/>
          </p:cNvSpPr>
          <p:nvPr/>
        </p:nvSpPr>
        <p:spPr bwMode="auto">
          <a:xfrm flipV="1">
            <a:off x="1984375" y="3246438"/>
            <a:ext cx="0" cy="346075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8" name="Line 31"/>
          <p:cNvSpPr>
            <a:spLocks noChangeShapeType="1"/>
          </p:cNvSpPr>
          <p:nvPr/>
        </p:nvSpPr>
        <p:spPr bwMode="auto">
          <a:xfrm flipV="1">
            <a:off x="836613" y="3241675"/>
            <a:ext cx="0" cy="346075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9" name="Text Box 32"/>
          <p:cNvSpPr txBox="1">
            <a:spLocks noChangeArrowheads="1"/>
          </p:cNvSpPr>
          <p:nvPr/>
        </p:nvSpPr>
        <p:spPr bwMode="auto">
          <a:xfrm>
            <a:off x="687388" y="3586163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en-US" u="none">
                <a:solidFill>
                  <a:schemeClr val="tx2"/>
                </a:solidFill>
              </a:rPr>
              <a:t>r</a:t>
            </a:r>
            <a:r>
              <a:rPr lang="en-US" u="none" baseline="-25000">
                <a:solidFill>
                  <a:schemeClr val="tx2"/>
                </a:solidFill>
              </a:rPr>
              <a:t>1</a:t>
            </a:r>
            <a:endParaRPr lang="en-US" u="none">
              <a:solidFill>
                <a:schemeClr val="tx2"/>
              </a:solidFill>
            </a:endParaRPr>
          </a:p>
        </p:txBody>
      </p:sp>
      <p:sp>
        <p:nvSpPr>
          <p:cNvPr id="10270" name="Text Box 33"/>
          <p:cNvSpPr txBox="1">
            <a:spLocks noChangeArrowheads="1"/>
          </p:cNvSpPr>
          <p:nvPr/>
        </p:nvSpPr>
        <p:spPr bwMode="auto">
          <a:xfrm>
            <a:off x="1825625" y="3595688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en-US" u="none">
                <a:solidFill>
                  <a:schemeClr val="tx2"/>
                </a:solidFill>
              </a:rPr>
              <a:t>r</a:t>
            </a:r>
            <a:r>
              <a:rPr lang="en-US" u="none" baseline="-25000">
                <a:solidFill>
                  <a:schemeClr val="tx2"/>
                </a:solidFill>
              </a:rPr>
              <a:t>2</a:t>
            </a:r>
            <a:endParaRPr lang="en-US" u="none">
              <a:solidFill>
                <a:schemeClr val="tx2"/>
              </a:solidFill>
            </a:endParaRPr>
          </a:p>
        </p:txBody>
      </p:sp>
      <p:sp>
        <p:nvSpPr>
          <p:cNvPr id="10271" name="Text Box 34"/>
          <p:cNvSpPr txBox="1">
            <a:spLocks noChangeArrowheads="1"/>
          </p:cNvSpPr>
          <p:nvPr/>
        </p:nvSpPr>
        <p:spPr bwMode="auto">
          <a:xfrm>
            <a:off x="2963863" y="3605213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en-US" u="none">
                <a:solidFill>
                  <a:schemeClr val="tx2"/>
                </a:solidFill>
              </a:rPr>
              <a:t>r</a:t>
            </a:r>
            <a:r>
              <a:rPr lang="en-US" u="none" baseline="-25000">
                <a:solidFill>
                  <a:schemeClr val="tx2"/>
                </a:solidFill>
              </a:rPr>
              <a:t>3</a:t>
            </a:r>
            <a:endParaRPr lang="en-US" u="none">
              <a:solidFill>
                <a:schemeClr val="tx2"/>
              </a:solidFill>
            </a:endParaRPr>
          </a:p>
        </p:txBody>
      </p:sp>
      <p:sp>
        <p:nvSpPr>
          <p:cNvPr id="10272" name="Line 37"/>
          <p:cNvSpPr>
            <a:spLocks noChangeShapeType="1"/>
          </p:cNvSpPr>
          <p:nvPr/>
        </p:nvSpPr>
        <p:spPr bwMode="auto">
          <a:xfrm flipV="1">
            <a:off x="7670800" y="3246438"/>
            <a:ext cx="0" cy="3460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73" name="Text Box 38"/>
          <p:cNvSpPr txBox="1">
            <a:spLocks noChangeArrowheads="1"/>
          </p:cNvSpPr>
          <p:nvPr/>
        </p:nvSpPr>
        <p:spPr bwMode="auto">
          <a:xfrm>
            <a:off x="6924675" y="3549650"/>
            <a:ext cx="147002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en-US" sz="2000" u="none">
                <a:solidFill>
                  <a:srgbClr val="CC0000"/>
                </a:solidFill>
              </a:rPr>
              <a:t>J</a:t>
            </a:r>
            <a:r>
              <a:rPr lang="en-US" sz="2000" u="none" baseline="-25000">
                <a:solidFill>
                  <a:srgbClr val="CC0000"/>
                </a:solidFill>
              </a:rPr>
              <a:t>3</a:t>
            </a:r>
            <a:r>
              <a:rPr lang="en-US" sz="2000" u="none">
                <a:solidFill>
                  <a:srgbClr val="CC0000"/>
                </a:solidFill>
              </a:rPr>
              <a:t>’s deadline</a:t>
            </a:r>
          </a:p>
        </p:txBody>
      </p:sp>
      <p:sp>
        <p:nvSpPr>
          <p:cNvPr id="411687" name="Text Box 39"/>
          <p:cNvSpPr txBox="1">
            <a:spLocks noChangeArrowheads="1"/>
          </p:cNvSpPr>
          <p:nvPr/>
        </p:nvSpPr>
        <p:spPr bwMode="auto">
          <a:xfrm>
            <a:off x="522288" y="4025900"/>
            <a:ext cx="8328025" cy="1920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/>
            <a:r>
              <a:rPr lang="en-US" sz="2000" b="1" u="none">
                <a:solidFill>
                  <a:srgbClr val="CC0000"/>
                </a:solidFill>
                <a:latin typeface="Comic Sans MS" pitchFamily="66" charset="0"/>
              </a:rPr>
              <a:t>Question:</a:t>
            </a:r>
            <a:r>
              <a:rPr lang="en-US" sz="2000" u="none">
                <a:latin typeface="Comic Sans MS" pitchFamily="66" charset="0"/>
              </a:rPr>
              <a:t> Should we conclude from this result that preemptive EDF is always better than non-preemptive EDF in practice?</a:t>
            </a:r>
          </a:p>
          <a:p>
            <a:pPr algn="l"/>
            <a:endParaRPr lang="en-US" sz="2000" u="none">
              <a:latin typeface="Comic Sans MS" pitchFamily="66" charset="0"/>
            </a:endParaRPr>
          </a:p>
          <a:p>
            <a:pPr marL="114300" lvl="1" algn="l">
              <a:buFontTx/>
              <a:buChar char="•"/>
            </a:pPr>
            <a:r>
              <a:rPr lang="en-US" sz="2000" u="none">
                <a:latin typeface="Comic Sans MS" pitchFamily="66" charset="0"/>
              </a:rPr>
              <a:t> </a:t>
            </a:r>
            <a:r>
              <a:rPr lang="en-US" sz="2000" b="1" u="none">
                <a:solidFill>
                  <a:schemeClr val="tx2"/>
                </a:solidFill>
                <a:latin typeface="Comic Sans MS" pitchFamily="66" charset="0"/>
              </a:rPr>
              <a:t>Note: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</a:rPr>
              <a:t> EDF optimality proof assumes no penalty due to preemption</a:t>
            </a:r>
          </a:p>
          <a:p>
            <a:pPr marL="114300" lvl="1" algn="l">
              <a:buFontTx/>
              <a:buChar char="•"/>
            </a:pPr>
            <a:endParaRPr lang="en-US" sz="2000" u="none">
              <a:latin typeface="Comic Sans MS" pitchFamily="66" charset="0"/>
            </a:endParaRPr>
          </a:p>
          <a:p>
            <a:pPr marL="114300" lvl="1" algn="l">
              <a:buFontTx/>
              <a:buChar char="•"/>
            </a:pPr>
            <a:r>
              <a:rPr lang="en-US" sz="2000" u="none">
                <a:latin typeface="Comic Sans MS" pitchFamily="66" charset="0"/>
              </a:rPr>
              <a:t> 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</a:rPr>
              <a:t>Are there other practical issues we have ignored?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6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6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87" grpId="0" build="p" bldLvl="2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34975" y="314325"/>
            <a:ext cx="8707438" cy="914400"/>
          </a:xfrm>
        </p:spPr>
        <p:txBody>
          <a:bodyPr/>
          <a:lstStyle/>
          <a:p>
            <a:r>
              <a:rPr lang="en-US" smtClean="0"/>
              <a:t>Utilization-based Schedulability Test</a:t>
            </a:r>
            <a:br>
              <a:rPr lang="en-US" smtClean="0"/>
            </a:br>
            <a:r>
              <a:rPr lang="en-US" smtClean="0"/>
              <a:t>for (Preemptive) EDF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341313" y="1790700"/>
            <a:ext cx="7853362" cy="701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en-US" sz="2000" b="1" u="none">
                <a:solidFill>
                  <a:srgbClr val="CC0000"/>
                </a:solidFill>
                <a:latin typeface="Comic Sans MS" pitchFamily="66" charset="0"/>
              </a:rPr>
              <a:t>Note:</a:t>
            </a:r>
            <a:r>
              <a:rPr lang="en-US" sz="2000" u="none">
                <a:latin typeface="Comic Sans MS" pitchFamily="66" charset="0"/>
              </a:rPr>
              <a:t> Whenever we say “EDF” from now on, we mean preemptive</a:t>
            </a:r>
          </a:p>
          <a:p>
            <a:pPr algn="l"/>
            <a:r>
              <a:rPr lang="en-US" sz="2000" u="none">
                <a:latin typeface="Comic Sans MS" pitchFamily="66" charset="0"/>
              </a:rPr>
              <a:t>EDF, unless specified otherwise.</a:t>
            </a:r>
          </a:p>
        </p:txBody>
      </p:sp>
      <p:sp>
        <p:nvSpPr>
          <p:cNvPr id="412676" name="Text Box 4"/>
          <p:cNvSpPr txBox="1">
            <a:spLocks noChangeArrowheads="1"/>
          </p:cNvSpPr>
          <p:nvPr/>
        </p:nvSpPr>
        <p:spPr bwMode="auto">
          <a:xfrm>
            <a:off x="601663" y="2924175"/>
            <a:ext cx="8056562" cy="1565275"/>
          </a:xfrm>
          <a:prstGeom prst="rect">
            <a:avLst/>
          </a:prstGeom>
          <a:solidFill>
            <a:srgbClr val="CCECFF"/>
          </a:solidFill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b="1" u="none"/>
              <a:t>Theorem 6-1:</a:t>
            </a:r>
            <a:r>
              <a:rPr lang="en-US" u="none"/>
              <a:t> [Liu and Layland] A system </a:t>
            </a:r>
            <a:r>
              <a:rPr lang="en-US" b="1" u="none"/>
              <a:t>T</a:t>
            </a:r>
            <a:r>
              <a:rPr lang="en-US" u="none"/>
              <a:t> of independent,</a:t>
            </a:r>
          </a:p>
          <a:p>
            <a:pPr algn="l">
              <a:defRPr/>
            </a:pPr>
            <a:r>
              <a:rPr lang="en-US" u="none"/>
              <a:t>preemptable, periodic tasks with relative deadlines equal to their</a:t>
            </a:r>
          </a:p>
          <a:p>
            <a:pPr algn="l">
              <a:defRPr/>
            </a:pPr>
            <a:r>
              <a:rPr lang="en-US" u="none"/>
              <a:t>periods can be feasibly scheduled (under EDF) on one processor</a:t>
            </a:r>
          </a:p>
          <a:p>
            <a:pPr algn="l">
              <a:defRPr/>
            </a:pPr>
            <a:r>
              <a:rPr lang="en-US" u="none"/>
              <a:t>if and only if its total utilization U is at most one.</a:t>
            </a:r>
          </a:p>
        </p:txBody>
      </p:sp>
      <p:sp>
        <p:nvSpPr>
          <p:cNvPr id="412677" name="Text Box 5"/>
          <p:cNvSpPr txBox="1">
            <a:spLocks noChangeArrowheads="1"/>
          </p:cNvSpPr>
          <p:nvPr/>
        </p:nvSpPr>
        <p:spPr bwMode="auto">
          <a:xfrm>
            <a:off x="500063" y="5081588"/>
            <a:ext cx="7921625" cy="701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en-US" sz="2000" b="1" u="none">
                <a:solidFill>
                  <a:srgbClr val="CC0000"/>
                </a:solidFill>
                <a:latin typeface="Comic Sans MS" pitchFamily="66" charset="0"/>
              </a:rPr>
              <a:t>Proof:</a:t>
            </a:r>
            <a:r>
              <a:rPr lang="en-US" sz="2000" u="none">
                <a:latin typeface="Comic Sans MS" pitchFamily="66" charset="0"/>
              </a:rPr>
              <a:t> The “only if” part is obvious: If U &gt; 1, then some task</a:t>
            </a:r>
          </a:p>
          <a:p>
            <a:pPr algn="l"/>
            <a:r>
              <a:rPr lang="en-US" sz="2000" u="none">
                <a:latin typeface="Comic Sans MS" pitchFamily="66" charset="0"/>
              </a:rPr>
              <a:t>clearly must miss a deadline.  So, we concentrate on the “if”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76" grpId="0" animBg="1" autoUpdateAnimBg="0"/>
      <p:bldP spid="41267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327025"/>
            <a:ext cx="8280400" cy="908050"/>
          </a:xfrm>
        </p:spPr>
        <p:txBody>
          <a:bodyPr/>
          <a:lstStyle/>
          <a:p>
            <a:r>
              <a:rPr lang="en-US" smtClean="0"/>
              <a:t>Setting Up the Proof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685800" y="1411288"/>
            <a:ext cx="7575550" cy="1920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u="none">
                <a:latin typeface="Comic Sans MS" pitchFamily="66" charset="0"/>
              </a:rPr>
              <a:t>We wish to show:  U </a:t>
            </a:r>
            <a:r>
              <a:rPr lang="en-US" sz="2000" u="none">
                <a:latin typeface="Comic Sans MS" pitchFamily="66" charset="0"/>
                <a:sym typeface="Symbol" pitchFamily="82" charset="2"/>
              </a:rPr>
              <a:t> 1   </a:t>
            </a:r>
            <a:r>
              <a:rPr lang="en-US" sz="2000" b="1" u="none">
                <a:latin typeface="Comic Sans MS" pitchFamily="66" charset="0"/>
                <a:sym typeface="Symbol" pitchFamily="82" charset="2"/>
              </a:rPr>
              <a:t>T</a:t>
            </a:r>
            <a:r>
              <a:rPr lang="en-US" sz="2000" u="none">
                <a:latin typeface="Comic Sans MS" pitchFamily="66" charset="0"/>
                <a:sym typeface="Symbol" pitchFamily="82" charset="2"/>
              </a:rPr>
              <a:t> is schedulable.</a:t>
            </a:r>
          </a:p>
          <a:p>
            <a:pPr algn="l">
              <a:lnSpc>
                <a:spcPct val="150000"/>
              </a:lnSpc>
            </a:pPr>
            <a:r>
              <a:rPr lang="en-US" sz="2000" u="none">
                <a:latin typeface="Comic Sans MS" pitchFamily="66" charset="0"/>
                <a:sym typeface="Symbol" pitchFamily="82" charset="2"/>
              </a:rPr>
              <a:t>We prove the contrapositive, i.e., </a:t>
            </a:r>
            <a:r>
              <a:rPr lang="en-US" sz="2000" u="none">
                <a:solidFill>
                  <a:srgbClr val="CC0000"/>
                </a:solidFill>
                <a:latin typeface="Comic Sans MS" pitchFamily="66" charset="0"/>
                <a:sym typeface="Symbol" pitchFamily="82" charset="2"/>
              </a:rPr>
              <a:t>T is not schedulable  U &gt; 1</a:t>
            </a:r>
            <a:r>
              <a:rPr lang="en-US" sz="2000" u="none">
                <a:latin typeface="Comic Sans MS" pitchFamily="66" charset="0"/>
                <a:sym typeface="Symbol" pitchFamily="82" charset="2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sz="2000" u="none">
                <a:latin typeface="Comic Sans MS" pitchFamily="66" charset="0"/>
                <a:sym typeface="Symbol" pitchFamily="82" charset="2"/>
              </a:rPr>
              <a:t>Assume T is not schedulable.</a:t>
            </a:r>
          </a:p>
          <a:p>
            <a:pPr algn="l">
              <a:lnSpc>
                <a:spcPct val="150000"/>
              </a:lnSpc>
            </a:pPr>
            <a:r>
              <a:rPr lang="en-US" sz="2000" u="none">
                <a:solidFill>
                  <a:srgbClr val="CC0000"/>
                </a:solidFill>
                <a:latin typeface="Comic Sans MS" pitchFamily="66" charset="0"/>
                <a:sym typeface="Symbol" pitchFamily="82" charset="2"/>
              </a:rPr>
              <a:t>Let J</a:t>
            </a:r>
            <a:r>
              <a:rPr lang="en-US" sz="2000" u="none" baseline="-25000">
                <a:solidFill>
                  <a:srgbClr val="CC0000"/>
                </a:solidFill>
                <a:latin typeface="Comic Sans MS" pitchFamily="66" charset="0"/>
                <a:sym typeface="Symbol" pitchFamily="82" charset="2"/>
              </a:rPr>
              <a:t>i,k </a:t>
            </a:r>
            <a:r>
              <a:rPr lang="en-US" sz="2000" u="none">
                <a:solidFill>
                  <a:srgbClr val="CC0000"/>
                </a:solidFill>
                <a:latin typeface="Comic Sans MS" pitchFamily="66" charset="0"/>
                <a:sym typeface="Symbol" pitchFamily="82" charset="2"/>
              </a:rPr>
              <a:t> be the first job to miss its deadline.</a:t>
            </a:r>
          </a:p>
        </p:txBody>
      </p:sp>
      <p:grpSp>
        <p:nvGrpSpPr>
          <p:cNvPr id="2" name="Group 82"/>
          <p:cNvGrpSpPr>
            <a:grpSpLocks/>
          </p:cNvGrpSpPr>
          <p:nvPr/>
        </p:nvGrpSpPr>
        <p:grpSpPr bwMode="auto">
          <a:xfrm>
            <a:off x="292100" y="4313238"/>
            <a:ext cx="8213725" cy="989012"/>
            <a:chOff x="303" y="2735"/>
            <a:chExt cx="5174" cy="623"/>
          </a:xfrm>
        </p:grpSpPr>
        <p:sp>
          <p:nvSpPr>
            <p:cNvPr id="12321" name="Rectangle 55"/>
            <p:cNvSpPr>
              <a:spLocks noChangeArrowheads="1"/>
            </p:cNvSpPr>
            <p:nvPr/>
          </p:nvSpPr>
          <p:spPr bwMode="auto">
            <a:xfrm>
              <a:off x="3176" y="2735"/>
              <a:ext cx="1006" cy="208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2" name="Rectangle 28"/>
            <p:cNvSpPr>
              <a:spLocks noChangeArrowheads="1"/>
            </p:cNvSpPr>
            <p:nvPr/>
          </p:nvSpPr>
          <p:spPr bwMode="auto">
            <a:xfrm>
              <a:off x="303" y="2803"/>
              <a:ext cx="241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/>
              <a:r>
                <a:rPr lang="en-US" sz="2000" u="none">
                  <a:solidFill>
                    <a:schemeClr val="tx2"/>
                  </a:solidFill>
                  <a:latin typeface="Times" pitchFamily="2" charset="0"/>
                </a:rPr>
                <a:t>T</a:t>
              </a:r>
              <a:r>
                <a:rPr lang="en-US" sz="2000" u="none" baseline="-25000">
                  <a:solidFill>
                    <a:schemeClr val="tx2"/>
                  </a:solidFill>
                  <a:latin typeface="Times" pitchFamily="2" charset="0"/>
                </a:rPr>
                <a:t>i</a:t>
              </a:r>
              <a:endParaRPr lang="en-US" sz="2000" u="none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12323" name="Line 29"/>
            <p:cNvSpPr>
              <a:spLocks noChangeShapeType="1"/>
            </p:cNvSpPr>
            <p:nvPr/>
          </p:nvSpPr>
          <p:spPr bwMode="auto">
            <a:xfrm flipH="1">
              <a:off x="626" y="2950"/>
              <a:ext cx="485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324" name="Group 30"/>
            <p:cNvGrpSpPr>
              <a:grpSpLocks/>
            </p:cNvGrpSpPr>
            <p:nvPr/>
          </p:nvGrpSpPr>
          <p:grpSpPr bwMode="auto">
            <a:xfrm>
              <a:off x="881" y="2948"/>
              <a:ext cx="73" cy="208"/>
              <a:chOff x="1666" y="3315"/>
              <a:chExt cx="73" cy="208"/>
            </a:xfrm>
          </p:grpSpPr>
          <p:sp>
            <p:nvSpPr>
              <p:cNvPr id="12340" name="Freeform 31"/>
              <p:cNvSpPr>
                <a:spLocks/>
              </p:cNvSpPr>
              <p:nvPr/>
            </p:nvSpPr>
            <p:spPr bwMode="auto">
              <a:xfrm>
                <a:off x="1666" y="3315"/>
                <a:ext cx="73" cy="89"/>
              </a:xfrm>
              <a:custGeom>
                <a:avLst/>
                <a:gdLst>
                  <a:gd name="T0" fmla="*/ 36 w 73"/>
                  <a:gd name="T1" fmla="*/ 0 h 89"/>
                  <a:gd name="T2" fmla="*/ 72 w 73"/>
                  <a:gd name="T3" fmla="*/ 88 h 89"/>
                  <a:gd name="T4" fmla="*/ 0 w 73"/>
                  <a:gd name="T5" fmla="*/ 88 h 89"/>
                  <a:gd name="T6" fmla="*/ 36 w 73"/>
                  <a:gd name="T7" fmla="*/ 0 h 8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89"/>
                  <a:gd name="T14" fmla="*/ 73 w 73"/>
                  <a:gd name="T15" fmla="*/ 89 h 8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89">
                    <a:moveTo>
                      <a:pt x="36" y="0"/>
                    </a:moveTo>
                    <a:lnTo>
                      <a:pt x="72" y="88"/>
                    </a:lnTo>
                    <a:lnTo>
                      <a:pt x="0" y="88"/>
                    </a:lnTo>
                    <a:lnTo>
                      <a:pt x="36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1" name="Line 32"/>
              <p:cNvSpPr>
                <a:spLocks noChangeShapeType="1"/>
              </p:cNvSpPr>
              <p:nvPr/>
            </p:nvSpPr>
            <p:spPr bwMode="auto">
              <a:xfrm>
                <a:off x="1706" y="3347"/>
                <a:ext cx="0" cy="17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325" name="Group 34"/>
            <p:cNvGrpSpPr>
              <a:grpSpLocks/>
            </p:cNvGrpSpPr>
            <p:nvPr/>
          </p:nvGrpSpPr>
          <p:grpSpPr bwMode="auto">
            <a:xfrm>
              <a:off x="1364" y="2748"/>
              <a:ext cx="73" cy="208"/>
              <a:chOff x="1666" y="3315"/>
              <a:chExt cx="73" cy="208"/>
            </a:xfrm>
          </p:grpSpPr>
          <p:sp>
            <p:nvSpPr>
              <p:cNvPr id="12338" name="Freeform 35"/>
              <p:cNvSpPr>
                <a:spLocks/>
              </p:cNvSpPr>
              <p:nvPr/>
            </p:nvSpPr>
            <p:spPr bwMode="auto">
              <a:xfrm>
                <a:off x="1666" y="3315"/>
                <a:ext cx="73" cy="89"/>
              </a:xfrm>
              <a:custGeom>
                <a:avLst/>
                <a:gdLst>
                  <a:gd name="T0" fmla="*/ 36 w 73"/>
                  <a:gd name="T1" fmla="*/ 0 h 89"/>
                  <a:gd name="T2" fmla="*/ 72 w 73"/>
                  <a:gd name="T3" fmla="*/ 88 h 89"/>
                  <a:gd name="T4" fmla="*/ 0 w 73"/>
                  <a:gd name="T5" fmla="*/ 88 h 89"/>
                  <a:gd name="T6" fmla="*/ 36 w 73"/>
                  <a:gd name="T7" fmla="*/ 0 h 8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89"/>
                  <a:gd name="T14" fmla="*/ 73 w 73"/>
                  <a:gd name="T15" fmla="*/ 89 h 8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89">
                    <a:moveTo>
                      <a:pt x="36" y="0"/>
                    </a:moveTo>
                    <a:lnTo>
                      <a:pt x="72" y="88"/>
                    </a:lnTo>
                    <a:lnTo>
                      <a:pt x="0" y="88"/>
                    </a:lnTo>
                    <a:lnTo>
                      <a:pt x="36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9" name="Line 36"/>
              <p:cNvSpPr>
                <a:spLocks noChangeShapeType="1"/>
              </p:cNvSpPr>
              <p:nvPr/>
            </p:nvSpPr>
            <p:spPr bwMode="auto">
              <a:xfrm>
                <a:off x="1706" y="3347"/>
                <a:ext cx="0" cy="17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326" name="Group 37"/>
            <p:cNvGrpSpPr>
              <a:grpSpLocks/>
            </p:cNvGrpSpPr>
            <p:nvPr/>
          </p:nvGrpSpPr>
          <p:grpSpPr bwMode="auto">
            <a:xfrm>
              <a:off x="1367" y="2948"/>
              <a:ext cx="73" cy="208"/>
              <a:chOff x="1666" y="3315"/>
              <a:chExt cx="73" cy="208"/>
            </a:xfrm>
          </p:grpSpPr>
          <p:sp>
            <p:nvSpPr>
              <p:cNvPr id="12336" name="Freeform 38"/>
              <p:cNvSpPr>
                <a:spLocks/>
              </p:cNvSpPr>
              <p:nvPr/>
            </p:nvSpPr>
            <p:spPr bwMode="auto">
              <a:xfrm>
                <a:off x="1666" y="3315"/>
                <a:ext cx="73" cy="89"/>
              </a:xfrm>
              <a:custGeom>
                <a:avLst/>
                <a:gdLst>
                  <a:gd name="T0" fmla="*/ 36 w 73"/>
                  <a:gd name="T1" fmla="*/ 0 h 89"/>
                  <a:gd name="T2" fmla="*/ 72 w 73"/>
                  <a:gd name="T3" fmla="*/ 88 h 89"/>
                  <a:gd name="T4" fmla="*/ 0 w 73"/>
                  <a:gd name="T5" fmla="*/ 88 h 89"/>
                  <a:gd name="T6" fmla="*/ 36 w 73"/>
                  <a:gd name="T7" fmla="*/ 0 h 8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89"/>
                  <a:gd name="T14" fmla="*/ 73 w 73"/>
                  <a:gd name="T15" fmla="*/ 89 h 8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89">
                    <a:moveTo>
                      <a:pt x="36" y="0"/>
                    </a:moveTo>
                    <a:lnTo>
                      <a:pt x="72" y="88"/>
                    </a:lnTo>
                    <a:lnTo>
                      <a:pt x="0" y="88"/>
                    </a:lnTo>
                    <a:lnTo>
                      <a:pt x="36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7" name="Line 39"/>
              <p:cNvSpPr>
                <a:spLocks noChangeShapeType="1"/>
              </p:cNvSpPr>
              <p:nvPr/>
            </p:nvSpPr>
            <p:spPr bwMode="auto">
              <a:xfrm>
                <a:off x="1706" y="3347"/>
                <a:ext cx="0" cy="17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327" name="Text Box 51"/>
            <p:cNvSpPr txBox="1">
              <a:spLocks noChangeArrowheads="1"/>
            </p:cNvSpPr>
            <p:nvPr/>
          </p:nvSpPr>
          <p:spPr bwMode="auto">
            <a:xfrm>
              <a:off x="784" y="3108"/>
              <a:ext cx="247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sz="2000" u="none">
                  <a:solidFill>
                    <a:schemeClr val="tx2"/>
                  </a:solidFill>
                  <a:latin typeface="Times" pitchFamily="2" charset="0"/>
                </a:rPr>
                <a:t>t</a:t>
              </a:r>
              <a:r>
                <a:rPr lang="en-US" sz="2000" u="none" baseline="-25000">
                  <a:solidFill>
                    <a:schemeClr val="tx2"/>
                  </a:solidFill>
                  <a:latin typeface="Times" pitchFamily="2" charset="0"/>
                </a:rPr>
                <a:t>-1</a:t>
              </a:r>
              <a:endParaRPr lang="en-US" sz="2000" u="none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12328" name="Text Box 52"/>
            <p:cNvSpPr txBox="1">
              <a:spLocks noChangeArrowheads="1"/>
            </p:cNvSpPr>
            <p:nvPr/>
          </p:nvSpPr>
          <p:spPr bwMode="auto">
            <a:xfrm>
              <a:off x="1269" y="3099"/>
              <a:ext cx="276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sz="2000" u="none">
                  <a:solidFill>
                    <a:schemeClr val="tx2"/>
                  </a:solidFill>
                  <a:latin typeface="Times" pitchFamily="2" charset="0"/>
                </a:rPr>
                <a:t>r</a:t>
              </a:r>
              <a:r>
                <a:rPr lang="en-US" sz="2000" u="none" baseline="-25000">
                  <a:solidFill>
                    <a:schemeClr val="tx2"/>
                  </a:solidFill>
                  <a:latin typeface="Times" pitchFamily="2" charset="0"/>
                </a:rPr>
                <a:t>i,k</a:t>
              </a:r>
              <a:endParaRPr lang="en-US" u="none">
                <a:solidFill>
                  <a:schemeClr val="tx2"/>
                </a:solidFill>
                <a:latin typeface="Times" pitchFamily="2" charset="0"/>
              </a:endParaRPr>
            </a:p>
          </p:txBody>
        </p:sp>
        <p:grpSp>
          <p:nvGrpSpPr>
            <p:cNvPr id="12329" name="Group 59"/>
            <p:cNvGrpSpPr>
              <a:grpSpLocks/>
            </p:cNvGrpSpPr>
            <p:nvPr/>
          </p:nvGrpSpPr>
          <p:grpSpPr bwMode="auto">
            <a:xfrm>
              <a:off x="4015" y="2966"/>
              <a:ext cx="73" cy="208"/>
              <a:chOff x="1666" y="3315"/>
              <a:chExt cx="73" cy="208"/>
            </a:xfrm>
          </p:grpSpPr>
          <p:sp>
            <p:nvSpPr>
              <p:cNvPr id="12334" name="Freeform 60"/>
              <p:cNvSpPr>
                <a:spLocks/>
              </p:cNvSpPr>
              <p:nvPr/>
            </p:nvSpPr>
            <p:spPr bwMode="auto">
              <a:xfrm>
                <a:off x="1666" y="3315"/>
                <a:ext cx="73" cy="89"/>
              </a:xfrm>
              <a:custGeom>
                <a:avLst/>
                <a:gdLst>
                  <a:gd name="T0" fmla="*/ 36 w 73"/>
                  <a:gd name="T1" fmla="*/ 0 h 89"/>
                  <a:gd name="T2" fmla="*/ 72 w 73"/>
                  <a:gd name="T3" fmla="*/ 88 h 89"/>
                  <a:gd name="T4" fmla="*/ 0 w 73"/>
                  <a:gd name="T5" fmla="*/ 88 h 89"/>
                  <a:gd name="T6" fmla="*/ 36 w 73"/>
                  <a:gd name="T7" fmla="*/ 0 h 8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89"/>
                  <a:gd name="T14" fmla="*/ 73 w 73"/>
                  <a:gd name="T15" fmla="*/ 89 h 8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89">
                    <a:moveTo>
                      <a:pt x="36" y="0"/>
                    </a:moveTo>
                    <a:lnTo>
                      <a:pt x="72" y="88"/>
                    </a:lnTo>
                    <a:lnTo>
                      <a:pt x="0" y="88"/>
                    </a:lnTo>
                    <a:lnTo>
                      <a:pt x="36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5" name="Line 61"/>
              <p:cNvSpPr>
                <a:spLocks noChangeShapeType="1"/>
              </p:cNvSpPr>
              <p:nvPr/>
            </p:nvSpPr>
            <p:spPr bwMode="auto">
              <a:xfrm>
                <a:off x="1706" y="3347"/>
                <a:ext cx="0" cy="17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330" name="Group 62"/>
            <p:cNvGrpSpPr>
              <a:grpSpLocks/>
            </p:cNvGrpSpPr>
            <p:nvPr/>
          </p:nvGrpSpPr>
          <p:grpSpPr bwMode="auto">
            <a:xfrm>
              <a:off x="4012" y="2742"/>
              <a:ext cx="73" cy="208"/>
              <a:chOff x="1666" y="3315"/>
              <a:chExt cx="73" cy="208"/>
            </a:xfrm>
          </p:grpSpPr>
          <p:sp>
            <p:nvSpPr>
              <p:cNvPr id="12332" name="Freeform 63"/>
              <p:cNvSpPr>
                <a:spLocks/>
              </p:cNvSpPr>
              <p:nvPr/>
            </p:nvSpPr>
            <p:spPr bwMode="auto">
              <a:xfrm>
                <a:off x="1666" y="3315"/>
                <a:ext cx="73" cy="89"/>
              </a:xfrm>
              <a:custGeom>
                <a:avLst/>
                <a:gdLst>
                  <a:gd name="T0" fmla="*/ 36 w 73"/>
                  <a:gd name="T1" fmla="*/ 0 h 89"/>
                  <a:gd name="T2" fmla="*/ 72 w 73"/>
                  <a:gd name="T3" fmla="*/ 88 h 89"/>
                  <a:gd name="T4" fmla="*/ 0 w 73"/>
                  <a:gd name="T5" fmla="*/ 88 h 89"/>
                  <a:gd name="T6" fmla="*/ 36 w 73"/>
                  <a:gd name="T7" fmla="*/ 0 h 8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89"/>
                  <a:gd name="T14" fmla="*/ 73 w 73"/>
                  <a:gd name="T15" fmla="*/ 89 h 8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89">
                    <a:moveTo>
                      <a:pt x="36" y="0"/>
                    </a:moveTo>
                    <a:lnTo>
                      <a:pt x="72" y="88"/>
                    </a:lnTo>
                    <a:lnTo>
                      <a:pt x="0" y="88"/>
                    </a:lnTo>
                    <a:lnTo>
                      <a:pt x="36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3" name="Line 64"/>
              <p:cNvSpPr>
                <a:spLocks noChangeShapeType="1"/>
              </p:cNvSpPr>
              <p:nvPr/>
            </p:nvSpPr>
            <p:spPr bwMode="auto">
              <a:xfrm>
                <a:off x="1706" y="3347"/>
                <a:ext cx="0" cy="17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331" name="Text Box 65"/>
            <p:cNvSpPr txBox="1">
              <a:spLocks noChangeArrowheads="1"/>
            </p:cNvSpPr>
            <p:nvPr/>
          </p:nvSpPr>
          <p:spPr bwMode="auto">
            <a:xfrm>
              <a:off x="3861" y="3106"/>
              <a:ext cx="387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sz="2000" u="none">
                  <a:solidFill>
                    <a:schemeClr val="tx2"/>
                  </a:solidFill>
                  <a:latin typeface="Times" pitchFamily="2" charset="0"/>
                </a:rPr>
                <a:t>r</a:t>
              </a:r>
              <a:r>
                <a:rPr lang="en-US" sz="2000" u="none" baseline="-25000">
                  <a:solidFill>
                    <a:schemeClr val="tx2"/>
                  </a:solidFill>
                  <a:latin typeface="Times" pitchFamily="2" charset="0"/>
                </a:rPr>
                <a:t>i,k+1</a:t>
              </a:r>
              <a:endParaRPr lang="en-US" u="none">
                <a:solidFill>
                  <a:schemeClr val="tx2"/>
                </a:solidFill>
                <a:latin typeface="Times" pitchFamily="2" charset="0"/>
              </a:endParaRPr>
            </a:p>
          </p:txBody>
        </p:sp>
      </p:grpSp>
      <p:grpSp>
        <p:nvGrpSpPr>
          <p:cNvPr id="8" name="Group 81"/>
          <p:cNvGrpSpPr>
            <a:grpSpLocks/>
          </p:cNvGrpSpPr>
          <p:nvPr/>
        </p:nvGrpSpPr>
        <p:grpSpPr bwMode="auto">
          <a:xfrm>
            <a:off x="792163" y="3467100"/>
            <a:ext cx="7702550" cy="363538"/>
            <a:chOff x="623" y="1928"/>
            <a:chExt cx="4852" cy="229"/>
          </a:xfrm>
        </p:grpSpPr>
        <p:sp>
          <p:nvSpPr>
            <p:cNvPr id="12307" name="Line 4"/>
            <p:cNvSpPr>
              <a:spLocks noChangeShapeType="1"/>
            </p:cNvSpPr>
            <p:nvPr/>
          </p:nvSpPr>
          <p:spPr bwMode="auto">
            <a:xfrm flipH="1" flipV="1">
              <a:off x="623" y="2151"/>
              <a:ext cx="4852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8" name="Rectangle 5"/>
            <p:cNvSpPr>
              <a:spLocks noChangeArrowheads="1"/>
            </p:cNvSpPr>
            <p:nvPr/>
          </p:nvSpPr>
          <p:spPr bwMode="auto">
            <a:xfrm>
              <a:off x="1647" y="1935"/>
              <a:ext cx="860" cy="208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309" name="Group 8"/>
            <p:cNvGrpSpPr>
              <a:grpSpLocks/>
            </p:cNvGrpSpPr>
            <p:nvPr/>
          </p:nvGrpSpPr>
          <p:grpSpPr bwMode="auto">
            <a:xfrm>
              <a:off x="1607" y="1935"/>
              <a:ext cx="73" cy="208"/>
              <a:chOff x="2386" y="2955"/>
              <a:chExt cx="73" cy="208"/>
            </a:xfrm>
          </p:grpSpPr>
          <p:sp>
            <p:nvSpPr>
              <p:cNvPr id="12319" name="Freeform 9"/>
              <p:cNvSpPr>
                <a:spLocks/>
              </p:cNvSpPr>
              <p:nvPr/>
            </p:nvSpPr>
            <p:spPr bwMode="auto">
              <a:xfrm>
                <a:off x="2386" y="2955"/>
                <a:ext cx="73" cy="89"/>
              </a:xfrm>
              <a:custGeom>
                <a:avLst/>
                <a:gdLst>
                  <a:gd name="T0" fmla="*/ 36 w 73"/>
                  <a:gd name="T1" fmla="*/ 0 h 89"/>
                  <a:gd name="T2" fmla="*/ 72 w 73"/>
                  <a:gd name="T3" fmla="*/ 88 h 89"/>
                  <a:gd name="T4" fmla="*/ 0 w 73"/>
                  <a:gd name="T5" fmla="*/ 88 h 89"/>
                  <a:gd name="T6" fmla="*/ 36 w 73"/>
                  <a:gd name="T7" fmla="*/ 0 h 8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89"/>
                  <a:gd name="T14" fmla="*/ 73 w 73"/>
                  <a:gd name="T15" fmla="*/ 89 h 8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89">
                    <a:moveTo>
                      <a:pt x="36" y="0"/>
                    </a:moveTo>
                    <a:lnTo>
                      <a:pt x="72" y="88"/>
                    </a:lnTo>
                    <a:lnTo>
                      <a:pt x="0" y="88"/>
                    </a:lnTo>
                    <a:lnTo>
                      <a:pt x="36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0" name="Line 10"/>
              <p:cNvSpPr>
                <a:spLocks noChangeShapeType="1"/>
              </p:cNvSpPr>
              <p:nvPr/>
            </p:nvSpPr>
            <p:spPr bwMode="auto">
              <a:xfrm>
                <a:off x="2426" y="2987"/>
                <a:ext cx="0" cy="17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310" name="Group 40"/>
            <p:cNvGrpSpPr>
              <a:grpSpLocks/>
            </p:cNvGrpSpPr>
            <p:nvPr/>
          </p:nvGrpSpPr>
          <p:grpSpPr bwMode="auto">
            <a:xfrm>
              <a:off x="3403" y="1949"/>
              <a:ext cx="73" cy="208"/>
              <a:chOff x="2386" y="2955"/>
              <a:chExt cx="73" cy="208"/>
            </a:xfrm>
          </p:grpSpPr>
          <p:sp>
            <p:nvSpPr>
              <p:cNvPr id="12317" name="Freeform 41"/>
              <p:cNvSpPr>
                <a:spLocks/>
              </p:cNvSpPr>
              <p:nvPr/>
            </p:nvSpPr>
            <p:spPr bwMode="auto">
              <a:xfrm>
                <a:off x="2386" y="2955"/>
                <a:ext cx="73" cy="89"/>
              </a:xfrm>
              <a:custGeom>
                <a:avLst/>
                <a:gdLst>
                  <a:gd name="T0" fmla="*/ 36 w 73"/>
                  <a:gd name="T1" fmla="*/ 0 h 89"/>
                  <a:gd name="T2" fmla="*/ 72 w 73"/>
                  <a:gd name="T3" fmla="*/ 88 h 89"/>
                  <a:gd name="T4" fmla="*/ 0 w 73"/>
                  <a:gd name="T5" fmla="*/ 88 h 89"/>
                  <a:gd name="T6" fmla="*/ 36 w 73"/>
                  <a:gd name="T7" fmla="*/ 0 h 8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89"/>
                  <a:gd name="T14" fmla="*/ 73 w 73"/>
                  <a:gd name="T15" fmla="*/ 89 h 8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89">
                    <a:moveTo>
                      <a:pt x="36" y="0"/>
                    </a:moveTo>
                    <a:lnTo>
                      <a:pt x="72" y="88"/>
                    </a:lnTo>
                    <a:lnTo>
                      <a:pt x="0" y="88"/>
                    </a:lnTo>
                    <a:lnTo>
                      <a:pt x="36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18" name="Line 42"/>
              <p:cNvSpPr>
                <a:spLocks noChangeShapeType="1"/>
              </p:cNvSpPr>
              <p:nvPr/>
            </p:nvSpPr>
            <p:spPr bwMode="auto">
              <a:xfrm>
                <a:off x="2426" y="2987"/>
                <a:ext cx="0" cy="17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311" name="Rectangle 43"/>
            <p:cNvSpPr>
              <a:spLocks noChangeArrowheads="1"/>
            </p:cNvSpPr>
            <p:nvPr/>
          </p:nvSpPr>
          <p:spPr bwMode="auto">
            <a:xfrm>
              <a:off x="628" y="1928"/>
              <a:ext cx="208" cy="208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2" name="Rectangle 47"/>
            <p:cNvSpPr>
              <a:spLocks noChangeArrowheads="1"/>
            </p:cNvSpPr>
            <p:nvPr/>
          </p:nvSpPr>
          <p:spPr bwMode="auto">
            <a:xfrm>
              <a:off x="5263" y="1938"/>
              <a:ext cx="208" cy="208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313" name="Group 48"/>
            <p:cNvGrpSpPr>
              <a:grpSpLocks/>
            </p:cNvGrpSpPr>
            <p:nvPr/>
          </p:nvGrpSpPr>
          <p:grpSpPr bwMode="auto">
            <a:xfrm>
              <a:off x="5233" y="1947"/>
              <a:ext cx="73" cy="208"/>
              <a:chOff x="2386" y="2955"/>
              <a:chExt cx="73" cy="208"/>
            </a:xfrm>
          </p:grpSpPr>
          <p:sp>
            <p:nvSpPr>
              <p:cNvPr id="12315" name="Freeform 49"/>
              <p:cNvSpPr>
                <a:spLocks/>
              </p:cNvSpPr>
              <p:nvPr/>
            </p:nvSpPr>
            <p:spPr bwMode="auto">
              <a:xfrm>
                <a:off x="2386" y="2955"/>
                <a:ext cx="73" cy="89"/>
              </a:xfrm>
              <a:custGeom>
                <a:avLst/>
                <a:gdLst>
                  <a:gd name="T0" fmla="*/ 36 w 73"/>
                  <a:gd name="T1" fmla="*/ 0 h 89"/>
                  <a:gd name="T2" fmla="*/ 72 w 73"/>
                  <a:gd name="T3" fmla="*/ 88 h 89"/>
                  <a:gd name="T4" fmla="*/ 0 w 73"/>
                  <a:gd name="T5" fmla="*/ 88 h 89"/>
                  <a:gd name="T6" fmla="*/ 36 w 73"/>
                  <a:gd name="T7" fmla="*/ 0 h 8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89"/>
                  <a:gd name="T14" fmla="*/ 73 w 73"/>
                  <a:gd name="T15" fmla="*/ 89 h 8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89">
                    <a:moveTo>
                      <a:pt x="36" y="0"/>
                    </a:moveTo>
                    <a:lnTo>
                      <a:pt x="72" y="88"/>
                    </a:lnTo>
                    <a:lnTo>
                      <a:pt x="0" y="88"/>
                    </a:lnTo>
                    <a:lnTo>
                      <a:pt x="36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16" name="Line 50"/>
              <p:cNvSpPr>
                <a:spLocks noChangeShapeType="1"/>
              </p:cNvSpPr>
              <p:nvPr/>
            </p:nvSpPr>
            <p:spPr bwMode="auto">
              <a:xfrm>
                <a:off x="2426" y="2987"/>
                <a:ext cx="0" cy="17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314" name="Rectangle 67"/>
            <p:cNvSpPr>
              <a:spLocks noChangeArrowheads="1"/>
            </p:cNvSpPr>
            <p:nvPr/>
          </p:nvSpPr>
          <p:spPr bwMode="auto">
            <a:xfrm>
              <a:off x="4183" y="1932"/>
              <a:ext cx="851" cy="208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2" name="Group 80"/>
          <p:cNvGrpSpPr>
            <a:grpSpLocks/>
          </p:cNvGrpSpPr>
          <p:nvPr/>
        </p:nvGrpSpPr>
        <p:grpSpPr bwMode="auto">
          <a:xfrm>
            <a:off x="792163" y="3889375"/>
            <a:ext cx="7702550" cy="350838"/>
            <a:chOff x="623" y="2295"/>
            <a:chExt cx="4852" cy="221"/>
          </a:xfrm>
        </p:grpSpPr>
        <p:sp>
          <p:nvSpPr>
            <p:cNvPr id="12298" name="Rectangle 18"/>
            <p:cNvSpPr>
              <a:spLocks noChangeArrowheads="1"/>
            </p:cNvSpPr>
            <p:nvPr/>
          </p:nvSpPr>
          <p:spPr bwMode="auto">
            <a:xfrm>
              <a:off x="2508" y="2295"/>
              <a:ext cx="643" cy="208"/>
            </a:xfrm>
            <a:prstGeom prst="rect">
              <a:avLst/>
            </a:prstGeom>
            <a:solidFill>
              <a:srgbClr val="FFCC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9" name="Rectangle 14"/>
            <p:cNvSpPr>
              <a:spLocks noChangeArrowheads="1"/>
            </p:cNvSpPr>
            <p:nvPr/>
          </p:nvSpPr>
          <p:spPr bwMode="auto">
            <a:xfrm>
              <a:off x="927" y="2295"/>
              <a:ext cx="713" cy="208"/>
            </a:xfrm>
            <a:prstGeom prst="rect">
              <a:avLst/>
            </a:prstGeom>
            <a:solidFill>
              <a:srgbClr val="FFCC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0" name="Line 19"/>
            <p:cNvSpPr>
              <a:spLocks noChangeShapeType="1"/>
            </p:cNvSpPr>
            <p:nvPr/>
          </p:nvSpPr>
          <p:spPr bwMode="auto">
            <a:xfrm flipH="1">
              <a:off x="623" y="2511"/>
              <a:ext cx="485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301" name="Group 20"/>
            <p:cNvGrpSpPr>
              <a:grpSpLocks/>
            </p:cNvGrpSpPr>
            <p:nvPr/>
          </p:nvGrpSpPr>
          <p:grpSpPr bwMode="auto">
            <a:xfrm>
              <a:off x="887" y="2295"/>
              <a:ext cx="73" cy="208"/>
              <a:chOff x="1666" y="3315"/>
              <a:chExt cx="73" cy="208"/>
            </a:xfrm>
          </p:grpSpPr>
          <p:sp>
            <p:nvSpPr>
              <p:cNvPr id="12305" name="Freeform 21"/>
              <p:cNvSpPr>
                <a:spLocks/>
              </p:cNvSpPr>
              <p:nvPr/>
            </p:nvSpPr>
            <p:spPr bwMode="auto">
              <a:xfrm>
                <a:off x="1666" y="3315"/>
                <a:ext cx="73" cy="89"/>
              </a:xfrm>
              <a:custGeom>
                <a:avLst/>
                <a:gdLst>
                  <a:gd name="T0" fmla="*/ 36 w 73"/>
                  <a:gd name="T1" fmla="*/ 0 h 89"/>
                  <a:gd name="T2" fmla="*/ 72 w 73"/>
                  <a:gd name="T3" fmla="*/ 88 h 89"/>
                  <a:gd name="T4" fmla="*/ 0 w 73"/>
                  <a:gd name="T5" fmla="*/ 88 h 89"/>
                  <a:gd name="T6" fmla="*/ 36 w 73"/>
                  <a:gd name="T7" fmla="*/ 0 h 8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89"/>
                  <a:gd name="T14" fmla="*/ 73 w 73"/>
                  <a:gd name="T15" fmla="*/ 89 h 8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89">
                    <a:moveTo>
                      <a:pt x="36" y="0"/>
                    </a:moveTo>
                    <a:lnTo>
                      <a:pt x="72" y="88"/>
                    </a:lnTo>
                    <a:lnTo>
                      <a:pt x="0" y="88"/>
                    </a:lnTo>
                    <a:lnTo>
                      <a:pt x="36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06" name="Line 22"/>
              <p:cNvSpPr>
                <a:spLocks noChangeShapeType="1"/>
              </p:cNvSpPr>
              <p:nvPr/>
            </p:nvSpPr>
            <p:spPr bwMode="auto">
              <a:xfrm>
                <a:off x="1706" y="3347"/>
                <a:ext cx="0" cy="17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302" name="Group 75"/>
            <p:cNvGrpSpPr>
              <a:grpSpLocks/>
            </p:cNvGrpSpPr>
            <p:nvPr/>
          </p:nvGrpSpPr>
          <p:grpSpPr bwMode="auto">
            <a:xfrm>
              <a:off x="3877" y="2308"/>
              <a:ext cx="73" cy="208"/>
              <a:chOff x="2386" y="2955"/>
              <a:chExt cx="73" cy="208"/>
            </a:xfrm>
          </p:grpSpPr>
          <p:sp>
            <p:nvSpPr>
              <p:cNvPr id="12303" name="Freeform 76"/>
              <p:cNvSpPr>
                <a:spLocks/>
              </p:cNvSpPr>
              <p:nvPr/>
            </p:nvSpPr>
            <p:spPr bwMode="auto">
              <a:xfrm>
                <a:off x="2386" y="2955"/>
                <a:ext cx="73" cy="89"/>
              </a:xfrm>
              <a:custGeom>
                <a:avLst/>
                <a:gdLst>
                  <a:gd name="T0" fmla="*/ 36 w 73"/>
                  <a:gd name="T1" fmla="*/ 0 h 89"/>
                  <a:gd name="T2" fmla="*/ 72 w 73"/>
                  <a:gd name="T3" fmla="*/ 88 h 89"/>
                  <a:gd name="T4" fmla="*/ 0 w 73"/>
                  <a:gd name="T5" fmla="*/ 88 h 89"/>
                  <a:gd name="T6" fmla="*/ 36 w 73"/>
                  <a:gd name="T7" fmla="*/ 0 h 8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89"/>
                  <a:gd name="T14" fmla="*/ 73 w 73"/>
                  <a:gd name="T15" fmla="*/ 89 h 8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89">
                    <a:moveTo>
                      <a:pt x="36" y="0"/>
                    </a:moveTo>
                    <a:lnTo>
                      <a:pt x="72" y="88"/>
                    </a:lnTo>
                    <a:lnTo>
                      <a:pt x="0" y="88"/>
                    </a:lnTo>
                    <a:lnTo>
                      <a:pt x="36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04" name="Line 77"/>
              <p:cNvSpPr>
                <a:spLocks noChangeShapeType="1"/>
              </p:cNvSpPr>
              <p:nvPr/>
            </p:nvSpPr>
            <p:spPr bwMode="auto">
              <a:xfrm>
                <a:off x="2426" y="2987"/>
                <a:ext cx="0" cy="17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5" name="Group 83"/>
          <p:cNvGrpSpPr>
            <a:grpSpLocks/>
          </p:cNvGrpSpPr>
          <p:nvPr/>
        </p:nvGrpSpPr>
        <p:grpSpPr bwMode="auto">
          <a:xfrm>
            <a:off x="1268413" y="5316538"/>
            <a:ext cx="7515225" cy="1106487"/>
            <a:chOff x="909" y="3349"/>
            <a:chExt cx="4734" cy="697"/>
          </a:xfrm>
        </p:grpSpPr>
        <p:sp>
          <p:nvSpPr>
            <p:cNvPr id="12296" name="Text Box 78"/>
            <p:cNvSpPr txBox="1">
              <a:spLocks noChangeArrowheads="1"/>
            </p:cNvSpPr>
            <p:nvPr/>
          </p:nvSpPr>
          <p:spPr bwMode="auto">
            <a:xfrm>
              <a:off x="1133" y="3412"/>
              <a:ext cx="4510" cy="63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sz="2000" u="none">
                  <a:solidFill>
                    <a:srgbClr val="CC0000"/>
                  </a:solidFill>
                </a:rPr>
                <a:t>this is the last “idle instant” (each task whose next job has a deadline</a:t>
              </a:r>
            </a:p>
            <a:p>
              <a:pPr algn="l"/>
              <a:r>
                <a:rPr lang="en-US" sz="2000" u="none">
                  <a:solidFill>
                    <a:srgbClr val="CC0000"/>
                  </a:solidFill>
                </a:rPr>
                <a:t>at or before r</a:t>
              </a:r>
              <a:r>
                <a:rPr lang="en-US" sz="2000" u="none" baseline="-25000">
                  <a:solidFill>
                    <a:srgbClr val="CC0000"/>
                  </a:solidFill>
                </a:rPr>
                <a:t>i,k+1</a:t>
              </a:r>
              <a:r>
                <a:rPr lang="en-US" sz="2000" u="none">
                  <a:solidFill>
                    <a:srgbClr val="CC0000"/>
                  </a:solidFill>
                </a:rPr>
                <a:t> either has no ready job, or has </a:t>
              </a:r>
              <a:r>
                <a:rPr lang="en-US" sz="2000" i="1" u="none">
                  <a:solidFill>
                    <a:srgbClr val="CC0000"/>
                  </a:solidFill>
                </a:rPr>
                <a:t>just</a:t>
              </a:r>
              <a:r>
                <a:rPr lang="en-US" sz="2000" u="none">
                  <a:solidFill>
                    <a:srgbClr val="CC0000"/>
                  </a:solidFill>
                </a:rPr>
                <a:t> released a job,</a:t>
              </a:r>
            </a:p>
            <a:p>
              <a:pPr algn="l"/>
              <a:r>
                <a:rPr lang="en-US" sz="2000" u="none">
                  <a:solidFill>
                    <a:srgbClr val="CC0000"/>
                  </a:solidFill>
                </a:rPr>
                <a:t>and no job with a deadline after r</a:t>
              </a:r>
              <a:r>
                <a:rPr lang="en-US" sz="2000" u="none" baseline="-25000">
                  <a:solidFill>
                    <a:srgbClr val="CC0000"/>
                  </a:solidFill>
                </a:rPr>
                <a:t>i,k+1</a:t>
              </a:r>
              <a:r>
                <a:rPr lang="en-US" sz="2000" u="none">
                  <a:solidFill>
                    <a:srgbClr val="CC0000"/>
                  </a:solidFill>
                </a:rPr>
                <a:t> executes in [t</a:t>
              </a:r>
              <a:r>
                <a:rPr lang="en-US" sz="2000" u="none" baseline="-25000">
                  <a:solidFill>
                    <a:srgbClr val="CC0000"/>
                  </a:solidFill>
                </a:rPr>
                <a:t>-1</a:t>
              </a:r>
              <a:r>
                <a:rPr lang="en-US" sz="2000" u="none">
                  <a:solidFill>
                    <a:srgbClr val="CC0000"/>
                  </a:solidFill>
                </a:rPr>
                <a:t>, r</a:t>
              </a:r>
              <a:r>
                <a:rPr lang="en-US" sz="2000" u="none" baseline="-25000">
                  <a:solidFill>
                    <a:srgbClr val="CC0000"/>
                  </a:solidFill>
                </a:rPr>
                <a:t>i,k+1</a:t>
              </a:r>
              <a:r>
                <a:rPr lang="en-US" sz="2000" u="none">
                  <a:solidFill>
                    <a:srgbClr val="CC0000"/>
                  </a:solidFill>
                </a:rPr>
                <a:t>].)</a:t>
              </a:r>
            </a:p>
          </p:txBody>
        </p:sp>
        <p:sp>
          <p:nvSpPr>
            <p:cNvPr id="12297" name="Freeform 79"/>
            <p:cNvSpPr>
              <a:spLocks/>
            </p:cNvSpPr>
            <p:nvPr/>
          </p:nvSpPr>
          <p:spPr bwMode="auto">
            <a:xfrm>
              <a:off x="909" y="3349"/>
              <a:ext cx="227" cy="173"/>
            </a:xfrm>
            <a:custGeom>
              <a:avLst/>
              <a:gdLst>
                <a:gd name="T0" fmla="*/ 236 w 236"/>
                <a:gd name="T1" fmla="*/ 245 h 245"/>
                <a:gd name="T2" fmla="*/ 64 w 236"/>
                <a:gd name="T3" fmla="*/ 182 h 245"/>
                <a:gd name="T4" fmla="*/ 0 w 236"/>
                <a:gd name="T5" fmla="*/ 0 h 245"/>
                <a:gd name="T6" fmla="*/ 0 60000 65536"/>
                <a:gd name="T7" fmla="*/ 0 60000 65536"/>
                <a:gd name="T8" fmla="*/ 0 60000 65536"/>
                <a:gd name="T9" fmla="*/ 0 w 236"/>
                <a:gd name="T10" fmla="*/ 0 h 245"/>
                <a:gd name="T11" fmla="*/ 236 w 236"/>
                <a:gd name="T12" fmla="*/ 245 h 2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6" h="245">
                  <a:moveTo>
                    <a:pt x="236" y="245"/>
                  </a:moveTo>
                  <a:cubicBezTo>
                    <a:pt x="169" y="234"/>
                    <a:pt x="103" y="223"/>
                    <a:pt x="64" y="182"/>
                  </a:cubicBezTo>
                  <a:cubicBezTo>
                    <a:pt x="25" y="141"/>
                    <a:pt x="12" y="70"/>
                    <a:pt x="0" y="0"/>
                  </a:cubicBez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327025"/>
            <a:ext cx="8280400" cy="908050"/>
          </a:xfrm>
        </p:spPr>
        <p:txBody>
          <a:bodyPr/>
          <a:lstStyle/>
          <a:p>
            <a:r>
              <a:rPr lang="en-US" smtClean="0"/>
              <a:t>Proof (Continued)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296863" y="1527175"/>
            <a:ext cx="414337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en-US" sz="2000" u="none">
                <a:latin typeface="Comic Sans MS" pitchFamily="66" charset="0"/>
              </a:rPr>
              <a:t>Because J</a:t>
            </a:r>
            <a:r>
              <a:rPr lang="en-US" sz="2000" u="none" baseline="-25000">
                <a:latin typeface="Comic Sans MS" pitchFamily="66" charset="0"/>
              </a:rPr>
              <a:t>i,k</a:t>
            </a:r>
            <a:r>
              <a:rPr lang="en-US" sz="2000" u="none">
                <a:latin typeface="Comic Sans MS" pitchFamily="66" charset="0"/>
              </a:rPr>
              <a:t> missed its deadline… </a:t>
            </a:r>
          </a:p>
        </p:txBody>
      </p:sp>
      <p:sp>
        <p:nvSpPr>
          <p:cNvPr id="420868" name="Rectangle 4"/>
          <p:cNvSpPr>
            <a:spLocks noChangeArrowheads="1"/>
          </p:cNvSpPr>
          <p:nvPr/>
        </p:nvSpPr>
        <p:spPr bwMode="auto">
          <a:xfrm>
            <a:off x="122238" y="1873250"/>
            <a:ext cx="8885237" cy="835025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u="none">
                <a:solidFill>
                  <a:srgbClr val="CC0000"/>
                </a:solidFill>
                <a:latin typeface="Times" pitchFamily="2" charset="0"/>
              </a:rPr>
              <a:t>the demand placed on the processor in [t</a:t>
            </a:r>
            <a:r>
              <a:rPr lang="en-US" u="none" baseline="-25000">
                <a:solidFill>
                  <a:srgbClr val="CC0000"/>
                </a:solidFill>
                <a:latin typeface="Times" pitchFamily="2" charset="0"/>
              </a:rPr>
              <a:t>-1</a:t>
            </a:r>
            <a:r>
              <a:rPr lang="en-US" u="none">
                <a:solidFill>
                  <a:srgbClr val="CC0000"/>
                </a:solidFill>
                <a:latin typeface="Times" pitchFamily="2" charset="0"/>
              </a:rPr>
              <a:t>, r</a:t>
            </a:r>
            <a:r>
              <a:rPr lang="en-US" u="none" baseline="-25000">
                <a:solidFill>
                  <a:srgbClr val="CC0000"/>
                </a:solidFill>
                <a:latin typeface="Times" pitchFamily="2" charset="0"/>
              </a:rPr>
              <a:t>i,k+1</a:t>
            </a:r>
            <a:r>
              <a:rPr lang="en-US" u="none">
                <a:solidFill>
                  <a:srgbClr val="CC0000"/>
                </a:solidFill>
                <a:latin typeface="Times" pitchFamily="2" charset="0"/>
              </a:rPr>
              <a:t>) by jobs with deadlines</a:t>
            </a:r>
          </a:p>
          <a:p>
            <a:pPr algn="l">
              <a:defRPr/>
            </a:pPr>
            <a:r>
              <a:rPr lang="en-US" u="none">
                <a:solidFill>
                  <a:srgbClr val="CC0000"/>
                </a:solidFill>
                <a:latin typeface="Times" pitchFamily="2" charset="0"/>
                <a:sym typeface="Symbol" pitchFamily="82" charset="2"/>
              </a:rPr>
              <a:t></a:t>
            </a:r>
            <a:r>
              <a:rPr lang="en-US" u="none">
                <a:solidFill>
                  <a:srgbClr val="CC0000"/>
                </a:solidFill>
                <a:latin typeface="Times" pitchFamily="2" charset="0"/>
              </a:rPr>
              <a:t> r</a:t>
            </a:r>
            <a:r>
              <a:rPr lang="en-US" u="none" baseline="-25000">
                <a:solidFill>
                  <a:srgbClr val="CC0000"/>
                </a:solidFill>
                <a:latin typeface="Times" pitchFamily="2" charset="0"/>
              </a:rPr>
              <a:t>i,k+1</a:t>
            </a:r>
            <a:r>
              <a:rPr lang="en-US" u="none">
                <a:solidFill>
                  <a:srgbClr val="CC0000"/>
                </a:solidFill>
                <a:latin typeface="Times" pitchFamily="2" charset="0"/>
              </a:rPr>
              <a:t> is greater than the available processor time in [t</a:t>
            </a:r>
            <a:r>
              <a:rPr lang="en-US" u="none" baseline="-25000">
                <a:solidFill>
                  <a:srgbClr val="CC0000"/>
                </a:solidFill>
                <a:latin typeface="Times" pitchFamily="2" charset="0"/>
              </a:rPr>
              <a:t>-1</a:t>
            </a:r>
            <a:r>
              <a:rPr lang="en-US" u="none">
                <a:solidFill>
                  <a:srgbClr val="CC0000"/>
                </a:solidFill>
                <a:latin typeface="Times" pitchFamily="2" charset="0"/>
              </a:rPr>
              <a:t>, r</a:t>
            </a:r>
            <a:r>
              <a:rPr lang="en-US" u="none" baseline="-25000">
                <a:solidFill>
                  <a:srgbClr val="CC0000"/>
                </a:solidFill>
                <a:latin typeface="Times" pitchFamily="2" charset="0"/>
              </a:rPr>
              <a:t>i,k+1</a:t>
            </a:r>
            <a:r>
              <a:rPr lang="en-US" u="none">
                <a:solidFill>
                  <a:srgbClr val="CC0000"/>
                </a:solidFill>
                <a:latin typeface="Times" pitchFamily="2" charset="0"/>
              </a:rPr>
              <a:t>]. </a:t>
            </a:r>
          </a:p>
        </p:txBody>
      </p:sp>
      <p:sp>
        <p:nvSpPr>
          <p:cNvPr id="13317" name="Text Box 6"/>
          <p:cNvSpPr txBox="1">
            <a:spLocks noChangeArrowheads="1"/>
          </p:cNvSpPr>
          <p:nvPr/>
        </p:nvSpPr>
        <p:spPr bwMode="auto">
          <a:xfrm>
            <a:off x="300038" y="2695575"/>
            <a:ext cx="8699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en-US" u="none"/>
              <a:t>Thus,</a:t>
            </a:r>
          </a:p>
        </p:txBody>
      </p:sp>
      <p:pic>
        <p:nvPicPr>
          <p:cNvPr id="13318" name="Picture 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3300" y="2757488"/>
            <a:ext cx="7950200" cy="37734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327025"/>
            <a:ext cx="8280400" cy="908050"/>
          </a:xfrm>
        </p:spPr>
        <p:txBody>
          <a:bodyPr/>
          <a:lstStyle/>
          <a:p>
            <a:r>
              <a:rPr lang="en-US" smtClean="0"/>
              <a:t>Proof (Continued)</a:t>
            </a:r>
          </a:p>
        </p:txBody>
      </p:sp>
      <p:sp>
        <p:nvSpPr>
          <p:cNvPr id="421895" name="Text Box 7"/>
          <p:cNvSpPr txBox="1">
            <a:spLocks noChangeArrowheads="1"/>
          </p:cNvSpPr>
          <p:nvPr/>
        </p:nvSpPr>
        <p:spPr bwMode="auto">
          <a:xfrm>
            <a:off x="5695950" y="1662113"/>
            <a:ext cx="2986088" cy="1581150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en-US" b="1" u="none">
                <a:solidFill>
                  <a:srgbClr val="CC0000"/>
                </a:solidFill>
              </a:rPr>
              <a:t>Note:</a:t>
            </a:r>
            <a:r>
              <a:rPr lang="en-US" u="none">
                <a:solidFill>
                  <a:srgbClr val="CC0000"/>
                </a:solidFill>
              </a:rPr>
              <a:t> This proof is</a:t>
            </a:r>
          </a:p>
          <a:p>
            <a:pPr algn="l"/>
            <a:r>
              <a:rPr lang="en-US" u="none">
                <a:solidFill>
                  <a:srgbClr val="CC0000"/>
                </a:solidFill>
              </a:rPr>
              <a:t>actually still valid if</a:t>
            </a:r>
          </a:p>
          <a:p>
            <a:pPr algn="l"/>
            <a:r>
              <a:rPr lang="en-US" b="1" u="none">
                <a:solidFill>
                  <a:srgbClr val="CC0000"/>
                </a:solidFill>
              </a:rPr>
              <a:t>relative deadlines are</a:t>
            </a:r>
          </a:p>
          <a:p>
            <a:pPr algn="l"/>
            <a:r>
              <a:rPr lang="en-US" b="1" u="none">
                <a:solidFill>
                  <a:srgbClr val="CC0000"/>
                </a:solidFill>
              </a:rPr>
              <a:t>larger than periods</a:t>
            </a:r>
            <a:r>
              <a:rPr lang="en-US" u="none">
                <a:solidFill>
                  <a:srgbClr val="CC0000"/>
                </a:solidFill>
              </a:rPr>
              <a:t>.</a:t>
            </a:r>
          </a:p>
        </p:txBody>
      </p:sp>
      <p:pic>
        <p:nvPicPr>
          <p:cNvPr id="14340" name="Picture 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" y="1560513"/>
            <a:ext cx="3351213" cy="4040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5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EDF with Deadlines &lt; Periods</a:t>
            </a:r>
          </a:p>
        </p:txBody>
      </p:sp>
      <p:sp>
        <p:nvSpPr>
          <p:cNvPr id="15363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solidFill>
                  <a:srgbClr val="CC0000"/>
                </a:solidFill>
              </a:rPr>
              <a:t>If deadlines are less than periods then U </a:t>
            </a:r>
            <a:r>
              <a:rPr lang="en-US" smtClean="0">
                <a:solidFill>
                  <a:srgbClr val="CC0000"/>
                </a:solidFill>
                <a:sym typeface="Symbol" pitchFamily="82" charset="2"/>
              </a:rPr>
              <a:t> 1 is no longer a sufficient schedulability condition.</a:t>
            </a:r>
            <a:endParaRPr lang="en-US" smtClean="0"/>
          </a:p>
          <a:p>
            <a:r>
              <a:rPr lang="en-US" smtClean="0">
                <a:sym typeface="Symbol" pitchFamily="82" charset="2"/>
              </a:rPr>
              <a:t>This is easy to see.  Consider two tasks such that, for both, e</a:t>
            </a:r>
            <a:r>
              <a:rPr lang="en-US" baseline="-25000" smtClean="0">
                <a:sym typeface="Symbol" pitchFamily="82" charset="2"/>
              </a:rPr>
              <a:t>i</a:t>
            </a:r>
            <a:r>
              <a:rPr lang="en-US" smtClean="0">
                <a:sym typeface="Symbol" pitchFamily="82" charset="2"/>
              </a:rPr>
              <a:t> = 1 and p</a:t>
            </a:r>
            <a:r>
              <a:rPr lang="en-US" baseline="-25000" smtClean="0">
                <a:sym typeface="Symbol" pitchFamily="82" charset="2"/>
              </a:rPr>
              <a:t>i</a:t>
            </a:r>
            <a:r>
              <a:rPr lang="en-US" smtClean="0">
                <a:sym typeface="Symbol" pitchFamily="82" charset="2"/>
              </a:rPr>
              <a:t> = 2.  If both have deadlines at 1.9, then the system is not schedulable, even though U = 1.</a:t>
            </a:r>
            <a:r>
              <a:rPr lang="en-US" smtClean="0"/>
              <a:t> </a:t>
            </a:r>
          </a:p>
          <a:p>
            <a:r>
              <a:rPr lang="en-US" smtClean="0">
                <a:sym typeface="Symbol" pitchFamily="82" charset="2"/>
              </a:rPr>
              <a:t>For these kinds of systems, we work with </a:t>
            </a:r>
            <a:r>
              <a:rPr lang="en-US" b="1" smtClean="0">
                <a:solidFill>
                  <a:schemeClr val="tx2"/>
                </a:solidFill>
                <a:sym typeface="Symbol" pitchFamily="82" charset="2"/>
              </a:rPr>
              <a:t>densities</a:t>
            </a:r>
            <a:r>
              <a:rPr lang="en-US" smtClean="0">
                <a:sym typeface="Symbol" pitchFamily="82" charset="2"/>
              </a:rPr>
              <a:t> instead of utilizations.</a:t>
            </a:r>
            <a:r>
              <a:rPr lang="en-US" smtClean="0"/>
              <a:t> </a:t>
            </a:r>
          </a:p>
          <a:p>
            <a:r>
              <a:rPr lang="en-US" b="1" smtClean="0">
                <a:solidFill>
                  <a:srgbClr val="CC0000"/>
                </a:solidFill>
                <a:sym typeface="Symbol" pitchFamily="82" charset="2"/>
              </a:rPr>
              <a:t>Definitions:</a:t>
            </a:r>
            <a:r>
              <a:rPr lang="en-US" smtClean="0">
                <a:sym typeface="Symbol" pitchFamily="82" charset="2"/>
              </a:rPr>
              <a:t> </a:t>
            </a:r>
          </a:p>
          <a:p>
            <a:pPr lvl="1"/>
            <a:r>
              <a:rPr lang="en-US" smtClean="0">
                <a:sym typeface="Symbol" pitchFamily="82" charset="2"/>
              </a:rPr>
              <a:t>The </a:t>
            </a:r>
            <a:r>
              <a:rPr lang="en-US" b="1" smtClean="0">
                <a:solidFill>
                  <a:srgbClr val="CC0000"/>
                </a:solidFill>
                <a:sym typeface="Symbol" pitchFamily="82" charset="2"/>
              </a:rPr>
              <a:t>density of task T</a:t>
            </a:r>
            <a:r>
              <a:rPr lang="en-US" b="1" baseline="-25000" smtClean="0">
                <a:solidFill>
                  <a:srgbClr val="CC0000"/>
                </a:solidFill>
                <a:sym typeface="Symbol" pitchFamily="82" charset="2"/>
              </a:rPr>
              <a:t>k</a:t>
            </a:r>
            <a:r>
              <a:rPr lang="en-US" smtClean="0">
                <a:sym typeface="Symbol" pitchFamily="82" charset="2"/>
              </a:rPr>
              <a:t> is </a:t>
            </a:r>
            <a:r>
              <a:rPr lang="en-US" smtClean="0">
                <a:solidFill>
                  <a:schemeClr val="tx2"/>
                </a:solidFill>
                <a:sym typeface="Symbol" pitchFamily="82" charset="2"/>
              </a:rPr>
              <a:t></a:t>
            </a:r>
            <a:r>
              <a:rPr lang="en-US" baseline="-25000" smtClean="0">
                <a:solidFill>
                  <a:schemeClr val="tx2"/>
                </a:solidFill>
                <a:sym typeface="Symbol" pitchFamily="82" charset="2"/>
              </a:rPr>
              <a:t>k</a:t>
            </a:r>
            <a:r>
              <a:rPr lang="en-US" smtClean="0">
                <a:solidFill>
                  <a:schemeClr val="tx2"/>
                </a:solidFill>
                <a:sym typeface="Symbol" pitchFamily="82" charset="2"/>
              </a:rPr>
              <a:t> = e</a:t>
            </a:r>
            <a:r>
              <a:rPr lang="en-US" baseline="-25000" smtClean="0">
                <a:solidFill>
                  <a:schemeClr val="tx2"/>
                </a:solidFill>
                <a:sym typeface="Symbol" pitchFamily="82" charset="2"/>
              </a:rPr>
              <a:t>k</a:t>
            </a:r>
            <a:r>
              <a:rPr lang="en-US" smtClean="0">
                <a:solidFill>
                  <a:schemeClr val="tx2"/>
                </a:solidFill>
                <a:sym typeface="Symbol" pitchFamily="82" charset="2"/>
              </a:rPr>
              <a:t>/min(D</a:t>
            </a:r>
            <a:r>
              <a:rPr lang="en-US" baseline="-25000" smtClean="0">
                <a:solidFill>
                  <a:schemeClr val="tx2"/>
                </a:solidFill>
                <a:sym typeface="Symbol" pitchFamily="82" charset="2"/>
              </a:rPr>
              <a:t>k</a:t>
            </a:r>
            <a:r>
              <a:rPr lang="en-US" smtClean="0">
                <a:solidFill>
                  <a:schemeClr val="tx2"/>
                </a:solidFill>
                <a:sym typeface="Symbol" pitchFamily="82" charset="2"/>
              </a:rPr>
              <a:t>, p</a:t>
            </a:r>
            <a:r>
              <a:rPr lang="en-US" baseline="-25000" smtClean="0">
                <a:solidFill>
                  <a:schemeClr val="tx2"/>
                </a:solidFill>
                <a:sym typeface="Symbol" pitchFamily="82" charset="2"/>
              </a:rPr>
              <a:t>k</a:t>
            </a:r>
            <a:r>
              <a:rPr lang="en-US" smtClean="0">
                <a:solidFill>
                  <a:schemeClr val="tx2"/>
                </a:solidFill>
                <a:sym typeface="Symbol" pitchFamily="82" charset="2"/>
              </a:rPr>
              <a:t>)</a:t>
            </a:r>
            <a:r>
              <a:rPr lang="en-US" smtClean="0">
                <a:sym typeface="Symbol" pitchFamily="82" charset="2"/>
              </a:rPr>
              <a:t>.</a:t>
            </a:r>
          </a:p>
          <a:p>
            <a:pPr lvl="1"/>
            <a:r>
              <a:rPr lang="en-US" smtClean="0">
                <a:sym typeface="Symbol" pitchFamily="82" charset="2"/>
              </a:rPr>
              <a:t>The </a:t>
            </a:r>
            <a:r>
              <a:rPr lang="en-US" b="1" smtClean="0">
                <a:solidFill>
                  <a:srgbClr val="CC0000"/>
                </a:solidFill>
                <a:sym typeface="Symbol" pitchFamily="82" charset="2"/>
              </a:rPr>
              <a:t>density of the system</a:t>
            </a:r>
            <a:r>
              <a:rPr lang="en-US" smtClean="0">
                <a:sym typeface="Symbol" pitchFamily="82" charset="2"/>
              </a:rPr>
              <a:t> is defined to be </a:t>
            </a:r>
            <a:r>
              <a:rPr lang="en-US" smtClean="0">
                <a:solidFill>
                  <a:schemeClr val="tx2"/>
                </a:solidFill>
                <a:sym typeface="Symbol" pitchFamily="82" charset="2"/>
              </a:rPr>
              <a:t> = </a:t>
            </a:r>
            <a:r>
              <a:rPr lang="en-US" baseline="-25000" smtClean="0">
                <a:solidFill>
                  <a:schemeClr val="tx2"/>
                </a:solidFill>
                <a:sym typeface="Symbol" pitchFamily="82" charset="2"/>
              </a:rPr>
              <a:t>k=1,…,N</a:t>
            </a:r>
            <a:r>
              <a:rPr lang="en-US" smtClean="0">
                <a:solidFill>
                  <a:schemeClr val="tx2"/>
                </a:solidFill>
                <a:sym typeface="Symbol" pitchFamily="82" charset="2"/>
              </a:rPr>
              <a:t> </a:t>
            </a:r>
            <a:r>
              <a:rPr lang="en-US" baseline="-25000" smtClean="0">
                <a:solidFill>
                  <a:schemeClr val="tx2"/>
                </a:solidFill>
                <a:sym typeface="Symbol" pitchFamily="82" charset="2"/>
              </a:rPr>
              <a:t>k</a:t>
            </a:r>
            <a:r>
              <a:rPr lang="en-US" smtClean="0">
                <a:sym typeface="Symbol" pitchFamily="82" charset="2"/>
              </a:rPr>
              <a:t>.</a:t>
            </a:r>
            <a:endParaRPr lang="en-US" smtClean="0"/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327025"/>
            <a:ext cx="8280400" cy="908050"/>
          </a:xfrm>
        </p:spPr>
        <p:txBody>
          <a:bodyPr/>
          <a:lstStyle/>
          <a:p>
            <a:r>
              <a:rPr lang="en-US" smtClean="0"/>
              <a:t>Deadlines &lt; Periods (Continued)</a:t>
            </a:r>
          </a:p>
        </p:txBody>
      </p:sp>
      <p:sp>
        <p:nvSpPr>
          <p:cNvPr id="423939" name="Text Box 3"/>
          <p:cNvSpPr txBox="1">
            <a:spLocks noChangeArrowheads="1"/>
          </p:cNvSpPr>
          <p:nvPr/>
        </p:nvSpPr>
        <p:spPr bwMode="auto">
          <a:xfrm>
            <a:off x="412750" y="1462088"/>
            <a:ext cx="8162925" cy="12001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b="1" u="none"/>
              <a:t>Theorem 6-2:</a:t>
            </a:r>
            <a:r>
              <a:rPr lang="en-US" u="none"/>
              <a:t> A system </a:t>
            </a:r>
            <a:r>
              <a:rPr lang="en-US" b="1" u="none"/>
              <a:t>T</a:t>
            </a:r>
            <a:r>
              <a:rPr lang="en-US" u="none"/>
              <a:t> of independent, preemptable, periodic</a:t>
            </a:r>
          </a:p>
          <a:p>
            <a:pPr algn="l">
              <a:defRPr/>
            </a:pPr>
            <a:r>
              <a:rPr lang="en-US" u="none"/>
              <a:t>tasks can be feasibly scheduled on one processor if its density is</a:t>
            </a:r>
          </a:p>
          <a:p>
            <a:pPr algn="l">
              <a:defRPr/>
            </a:pPr>
            <a:r>
              <a:rPr lang="en-US" u="none"/>
              <a:t>at most one.</a:t>
            </a:r>
          </a:p>
        </p:txBody>
      </p:sp>
      <p:sp>
        <p:nvSpPr>
          <p:cNvPr id="423940" name="Text Box 4"/>
          <p:cNvSpPr txBox="1">
            <a:spLocks noChangeArrowheads="1"/>
          </p:cNvSpPr>
          <p:nvPr/>
        </p:nvSpPr>
        <p:spPr bwMode="auto">
          <a:xfrm>
            <a:off x="500063" y="2960688"/>
            <a:ext cx="8151812" cy="1920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en-US" sz="2000" u="none">
                <a:latin typeface="Comic Sans MS" pitchFamily="66" charset="0"/>
              </a:rPr>
              <a:t>The proof is similar to that for Theorem 6-1 and is left as an</a:t>
            </a:r>
          </a:p>
          <a:p>
            <a:pPr algn="l"/>
            <a:r>
              <a:rPr lang="en-US" sz="2000" u="none">
                <a:latin typeface="Comic Sans MS" pitchFamily="66" charset="0"/>
              </a:rPr>
              <a:t>exercise.</a:t>
            </a:r>
          </a:p>
          <a:p>
            <a:pPr algn="l"/>
            <a:endParaRPr lang="en-US" sz="2000" u="none">
              <a:latin typeface="Comic Sans MS" pitchFamily="66" charset="0"/>
            </a:endParaRPr>
          </a:p>
          <a:p>
            <a:pPr algn="l"/>
            <a:r>
              <a:rPr lang="en-US" sz="2000" b="1" u="none">
                <a:solidFill>
                  <a:srgbClr val="CC0000"/>
                </a:solidFill>
                <a:latin typeface="Comic Sans MS" pitchFamily="66" charset="0"/>
              </a:rPr>
              <a:t>Note:</a:t>
            </a:r>
            <a:r>
              <a:rPr lang="en-US" sz="2000" u="none">
                <a:latin typeface="Comic Sans MS" pitchFamily="66" charset="0"/>
              </a:rPr>
              <a:t> This theorem only gives </a:t>
            </a:r>
            <a:r>
              <a:rPr lang="en-US" sz="2000" b="1" u="none">
                <a:solidFill>
                  <a:schemeClr val="tx2"/>
                </a:solidFill>
                <a:latin typeface="Comic Sans MS" pitchFamily="66" charset="0"/>
              </a:rPr>
              <a:t>sufficient</a:t>
            </a:r>
            <a:r>
              <a:rPr lang="en-US" sz="2000" u="none">
                <a:latin typeface="Comic Sans MS" pitchFamily="66" charset="0"/>
              </a:rPr>
              <a:t> condition.</a:t>
            </a:r>
          </a:p>
          <a:p>
            <a:pPr algn="l"/>
            <a:endParaRPr lang="en-US" sz="2000" u="none">
              <a:latin typeface="Comic Sans MS" pitchFamily="66" charset="0"/>
            </a:endParaRPr>
          </a:p>
          <a:p>
            <a:pPr algn="l"/>
            <a:r>
              <a:rPr lang="en-US" sz="2000" u="none">
                <a:latin typeface="Comic Sans MS" pitchFamily="66" charset="0"/>
              </a:rPr>
              <a:t>We refer to the following as the </a:t>
            </a:r>
            <a:r>
              <a:rPr lang="en-US" sz="2000" b="1" u="none">
                <a:solidFill>
                  <a:srgbClr val="CC0000"/>
                </a:solidFill>
                <a:latin typeface="Comic Sans MS" pitchFamily="66" charset="0"/>
              </a:rPr>
              <a:t>schedulability condition for EDF</a:t>
            </a:r>
            <a:r>
              <a:rPr lang="en-US" sz="2000" u="none">
                <a:latin typeface="Comic Sans MS" pitchFamily="66" charset="0"/>
              </a:rPr>
              <a:t>:</a:t>
            </a:r>
          </a:p>
        </p:txBody>
      </p:sp>
      <p:pic>
        <p:nvPicPr>
          <p:cNvPr id="16389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0400" y="5105400"/>
            <a:ext cx="2741613" cy="10969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40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327025"/>
            <a:ext cx="8280400" cy="908050"/>
          </a:xfrm>
        </p:spPr>
        <p:txBody>
          <a:bodyPr/>
          <a:lstStyle/>
          <a:p>
            <a:r>
              <a:rPr lang="en-US" smtClean="0"/>
              <a:t>Proof of Non-tightness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455613" y="1528763"/>
            <a:ext cx="7793037" cy="1920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en-US" sz="2000" u="none">
                <a:latin typeface="Comic Sans MS" pitchFamily="66" charset="0"/>
              </a:rPr>
              <a:t>To see that </a:t>
            </a:r>
            <a:r>
              <a:rPr lang="en-US" sz="2000" u="none">
                <a:latin typeface="Comic Sans MS" pitchFamily="66" charset="0"/>
                <a:sym typeface="Symbol" pitchFamily="82" charset="2"/>
              </a:rPr>
              <a:t> &gt; 1 doesn’t imply non-schedulability, consider the</a:t>
            </a:r>
          </a:p>
          <a:p>
            <a:pPr algn="l"/>
            <a:r>
              <a:rPr lang="en-US" sz="2000" u="none">
                <a:latin typeface="Comic Sans MS" pitchFamily="66" charset="0"/>
                <a:sym typeface="Symbol" pitchFamily="82" charset="2"/>
              </a:rPr>
              <a:t>following example.</a:t>
            </a:r>
          </a:p>
          <a:p>
            <a:pPr algn="l"/>
            <a:endParaRPr lang="en-US" sz="2000" u="none">
              <a:latin typeface="Comic Sans MS" pitchFamily="66" charset="0"/>
              <a:sym typeface="Symbol" pitchFamily="82" charset="2"/>
            </a:endParaRPr>
          </a:p>
          <a:p>
            <a:pPr algn="l"/>
            <a:r>
              <a:rPr lang="en-US" sz="2000" b="1" u="none">
                <a:solidFill>
                  <a:srgbClr val="CC0000"/>
                </a:solidFill>
                <a:latin typeface="Comic Sans MS" pitchFamily="66" charset="0"/>
                <a:sym typeface="Symbol" pitchFamily="82" charset="2"/>
              </a:rPr>
              <a:t>Example:</a:t>
            </a:r>
            <a:r>
              <a:rPr lang="en-US" sz="2000" u="none">
                <a:latin typeface="Comic Sans MS" pitchFamily="66" charset="0"/>
                <a:sym typeface="Symbol" pitchFamily="82" charset="2"/>
              </a:rPr>
              <a:t>  We have two tasks </a:t>
            </a:r>
            <a:r>
              <a:rPr lang="en-US" sz="2000" u="none">
                <a:solidFill>
                  <a:srgbClr val="CC0000"/>
                </a:solidFill>
                <a:latin typeface="Comic Sans MS" pitchFamily="66" charset="0"/>
                <a:sym typeface="Symbol" pitchFamily="82" charset="2"/>
              </a:rPr>
              <a:t>T</a:t>
            </a:r>
            <a:r>
              <a:rPr lang="en-US" sz="2000" u="none" baseline="-25000">
                <a:solidFill>
                  <a:srgbClr val="CC0000"/>
                </a:solidFill>
                <a:latin typeface="Comic Sans MS" pitchFamily="66" charset="0"/>
                <a:sym typeface="Symbol" pitchFamily="82" charset="2"/>
              </a:rPr>
              <a:t>1</a:t>
            </a:r>
            <a:r>
              <a:rPr lang="en-US" sz="2000" u="none">
                <a:solidFill>
                  <a:srgbClr val="CC0000"/>
                </a:solidFill>
                <a:latin typeface="Comic Sans MS" pitchFamily="66" charset="0"/>
                <a:sym typeface="Symbol" pitchFamily="82" charset="2"/>
              </a:rPr>
              <a:t> = (2, 0.6, 1)</a:t>
            </a:r>
            <a:r>
              <a:rPr lang="en-US" sz="2000" u="none">
                <a:latin typeface="Comic Sans MS" pitchFamily="66" charset="0"/>
                <a:sym typeface="Symbol" pitchFamily="82" charset="2"/>
              </a:rPr>
              <a:t> and 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  <a:sym typeface="Symbol" pitchFamily="82" charset="2"/>
              </a:rPr>
              <a:t>T</a:t>
            </a:r>
            <a:r>
              <a:rPr lang="en-US" sz="2000" u="none" baseline="-25000">
                <a:solidFill>
                  <a:schemeClr val="tx2"/>
                </a:solidFill>
                <a:latin typeface="Comic Sans MS" pitchFamily="66" charset="0"/>
                <a:sym typeface="Symbol" pitchFamily="82" charset="2"/>
              </a:rPr>
              <a:t>2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  <a:sym typeface="Symbol" pitchFamily="82" charset="2"/>
              </a:rPr>
              <a:t> = (5, 2.3)</a:t>
            </a:r>
            <a:r>
              <a:rPr lang="en-US" sz="2000" u="none">
                <a:latin typeface="Comic Sans MS" pitchFamily="66" charset="0"/>
                <a:sym typeface="Symbol" pitchFamily="82" charset="2"/>
              </a:rPr>
              <a:t>.</a:t>
            </a:r>
          </a:p>
          <a:p>
            <a:pPr algn="l"/>
            <a:r>
              <a:rPr lang="en-US" sz="2000" u="none">
                <a:latin typeface="Comic Sans MS" pitchFamily="66" charset="0"/>
                <a:sym typeface="Symbol" pitchFamily="82" charset="2"/>
              </a:rPr>
              <a:t> = 0.6/1 + 2.3/5 = 1.06.  Nonetheless, we can schedule this task</a:t>
            </a:r>
          </a:p>
          <a:p>
            <a:pPr algn="l"/>
            <a:r>
              <a:rPr lang="en-US" sz="2000" u="none">
                <a:latin typeface="Comic Sans MS" pitchFamily="66" charset="0"/>
                <a:sym typeface="Symbol" pitchFamily="82" charset="2"/>
              </a:rPr>
              <a:t>set under EDF:</a:t>
            </a:r>
          </a:p>
        </p:txBody>
      </p:sp>
      <p:grpSp>
        <p:nvGrpSpPr>
          <p:cNvPr id="2" name="Group 75"/>
          <p:cNvGrpSpPr>
            <a:grpSpLocks/>
          </p:cNvGrpSpPr>
          <p:nvPr/>
        </p:nvGrpSpPr>
        <p:grpSpPr bwMode="auto">
          <a:xfrm>
            <a:off x="263525" y="4100513"/>
            <a:ext cx="8770938" cy="2066925"/>
            <a:chOff x="166" y="2583"/>
            <a:chExt cx="5525" cy="1302"/>
          </a:xfrm>
        </p:grpSpPr>
        <p:sp>
          <p:nvSpPr>
            <p:cNvPr id="17413" name="Rectangle 70"/>
            <p:cNvSpPr>
              <a:spLocks noChangeArrowheads="1"/>
            </p:cNvSpPr>
            <p:nvPr/>
          </p:nvSpPr>
          <p:spPr bwMode="auto">
            <a:xfrm>
              <a:off x="2766" y="3251"/>
              <a:ext cx="418" cy="218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4" name="Rectangle 63"/>
            <p:cNvSpPr>
              <a:spLocks noChangeArrowheads="1"/>
            </p:cNvSpPr>
            <p:nvPr/>
          </p:nvSpPr>
          <p:spPr bwMode="auto">
            <a:xfrm>
              <a:off x="609" y="2609"/>
              <a:ext cx="255" cy="218"/>
            </a:xfrm>
            <a:prstGeom prst="rect">
              <a:avLst/>
            </a:prstGeom>
            <a:solidFill>
              <a:srgbClr val="FFCC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5" name="Rectangle 64"/>
            <p:cNvSpPr>
              <a:spLocks noChangeArrowheads="1"/>
            </p:cNvSpPr>
            <p:nvPr/>
          </p:nvSpPr>
          <p:spPr bwMode="auto">
            <a:xfrm>
              <a:off x="1461" y="2606"/>
              <a:ext cx="255" cy="218"/>
            </a:xfrm>
            <a:prstGeom prst="rect">
              <a:avLst/>
            </a:prstGeom>
            <a:solidFill>
              <a:srgbClr val="FFCC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6" name="Rectangle 65"/>
            <p:cNvSpPr>
              <a:spLocks noChangeArrowheads="1"/>
            </p:cNvSpPr>
            <p:nvPr/>
          </p:nvSpPr>
          <p:spPr bwMode="auto">
            <a:xfrm>
              <a:off x="2322" y="2612"/>
              <a:ext cx="255" cy="218"/>
            </a:xfrm>
            <a:prstGeom prst="rect">
              <a:avLst/>
            </a:prstGeom>
            <a:solidFill>
              <a:srgbClr val="FFCC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7" name="Rectangle 66"/>
            <p:cNvSpPr>
              <a:spLocks noChangeArrowheads="1"/>
            </p:cNvSpPr>
            <p:nvPr/>
          </p:nvSpPr>
          <p:spPr bwMode="auto">
            <a:xfrm>
              <a:off x="3183" y="2609"/>
              <a:ext cx="255" cy="218"/>
            </a:xfrm>
            <a:prstGeom prst="rect">
              <a:avLst/>
            </a:prstGeom>
            <a:solidFill>
              <a:srgbClr val="FFCC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8" name="Rectangle 67"/>
            <p:cNvSpPr>
              <a:spLocks noChangeArrowheads="1"/>
            </p:cNvSpPr>
            <p:nvPr/>
          </p:nvSpPr>
          <p:spPr bwMode="auto">
            <a:xfrm>
              <a:off x="4035" y="2606"/>
              <a:ext cx="255" cy="218"/>
            </a:xfrm>
            <a:prstGeom prst="rect">
              <a:avLst/>
            </a:prstGeom>
            <a:solidFill>
              <a:srgbClr val="FFCC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9" name="Line 4"/>
            <p:cNvSpPr>
              <a:spLocks noChangeShapeType="1"/>
            </p:cNvSpPr>
            <p:nvPr/>
          </p:nvSpPr>
          <p:spPr bwMode="auto">
            <a:xfrm>
              <a:off x="500" y="3473"/>
              <a:ext cx="4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0" name="Line 5"/>
            <p:cNvSpPr>
              <a:spLocks noChangeShapeType="1"/>
            </p:cNvSpPr>
            <p:nvPr/>
          </p:nvSpPr>
          <p:spPr bwMode="auto">
            <a:xfrm>
              <a:off x="609" y="3473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1" name="Line 26"/>
            <p:cNvSpPr>
              <a:spLocks noChangeShapeType="1"/>
            </p:cNvSpPr>
            <p:nvPr/>
          </p:nvSpPr>
          <p:spPr bwMode="auto">
            <a:xfrm>
              <a:off x="1038" y="3470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2" name="Line 27"/>
            <p:cNvSpPr>
              <a:spLocks noChangeShapeType="1"/>
            </p:cNvSpPr>
            <p:nvPr/>
          </p:nvSpPr>
          <p:spPr bwMode="auto">
            <a:xfrm>
              <a:off x="1467" y="3476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3" name="Line 28"/>
            <p:cNvSpPr>
              <a:spLocks noChangeShapeType="1"/>
            </p:cNvSpPr>
            <p:nvPr/>
          </p:nvSpPr>
          <p:spPr bwMode="auto">
            <a:xfrm>
              <a:off x="1896" y="3473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4" name="Line 29"/>
            <p:cNvSpPr>
              <a:spLocks noChangeShapeType="1"/>
            </p:cNvSpPr>
            <p:nvPr/>
          </p:nvSpPr>
          <p:spPr bwMode="auto">
            <a:xfrm>
              <a:off x="2325" y="3470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5" name="Line 30"/>
            <p:cNvSpPr>
              <a:spLocks noChangeShapeType="1"/>
            </p:cNvSpPr>
            <p:nvPr/>
          </p:nvSpPr>
          <p:spPr bwMode="auto">
            <a:xfrm>
              <a:off x="2754" y="3476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6" name="Line 31"/>
            <p:cNvSpPr>
              <a:spLocks noChangeShapeType="1"/>
            </p:cNvSpPr>
            <p:nvPr/>
          </p:nvSpPr>
          <p:spPr bwMode="auto">
            <a:xfrm>
              <a:off x="3183" y="3473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7" name="Line 32"/>
            <p:cNvSpPr>
              <a:spLocks noChangeShapeType="1"/>
            </p:cNvSpPr>
            <p:nvPr/>
          </p:nvSpPr>
          <p:spPr bwMode="auto">
            <a:xfrm>
              <a:off x="3612" y="3470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8" name="Line 33"/>
            <p:cNvSpPr>
              <a:spLocks noChangeShapeType="1"/>
            </p:cNvSpPr>
            <p:nvPr/>
          </p:nvSpPr>
          <p:spPr bwMode="auto">
            <a:xfrm>
              <a:off x="4041" y="3476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9" name="Line 34"/>
            <p:cNvSpPr>
              <a:spLocks noChangeShapeType="1"/>
            </p:cNvSpPr>
            <p:nvPr/>
          </p:nvSpPr>
          <p:spPr bwMode="auto">
            <a:xfrm>
              <a:off x="4470" y="3473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0" name="Line 35"/>
            <p:cNvSpPr>
              <a:spLocks noChangeShapeType="1"/>
            </p:cNvSpPr>
            <p:nvPr/>
          </p:nvSpPr>
          <p:spPr bwMode="auto">
            <a:xfrm>
              <a:off x="4899" y="3470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1" name="Text Box 36"/>
            <p:cNvSpPr txBox="1">
              <a:spLocks noChangeArrowheads="1"/>
            </p:cNvSpPr>
            <p:nvPr/>
          </p:nvSpPr>
          <p:spPr bwMode="auto">
            <a:xfrm>
              <a:off x="524" y="3635"/>
              <a:ext cx="455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sz="2000" u="none"/>
                <a:t>0        1         2         3         4        5         6         7        8         9         10</a:t>
              </a:r>
            </a:p>
          </p:txBody>
        </p:sp>
        <p:sp>
          <p:nvSpPr>
            <p:cNvPr id="17432" name="Line 37"/>
            <p:cNvSpPr>
              <a:spLocks noChangeShapeType="1"/>
            </p:cNvSpPr>
            <p:nvPr/>
          </p:nvSpPr>
          <p:spPr bwMode="auto">
            <a:xfrm>
              <a:off x="497" y="2831"/>
              <a:ext cx="4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3" name="Line 38"/>
            <p:cNvSpPr>
              <a:spLocks noChangeShapeType="1"/>
            </p:cNvSpPr>
            <p:nvPr/>
          </p:nvSpPr>
          <p:spPr bwMode="auto">
            <a:xfrm>
              <a:off x="606" y="2831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4" name="Line 39"/>
            <p:cNvSpPr>
              <a:spLocks noChangeShapeType="1"/>
            </p:cNvSpPr>
            <p:nvPr/>
          </p:nvSpPr>
          <p:spPr bwMode="auto">
            <a:xfrm>
              <a:off x="1035" y="2828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5" name="Line 40"/>
            <p:cNvSpPr>
              <a:spLocks noChangeShapeType="1"/>
            </p:cNvSpPr>
            <p:nvPr/>
          </p:nvSpPr>
          <p:spPr bwMode="auto">
            <a:xfrm>
              <a:off x="1464" y="2834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6" name="Line 41"/>
            <p:cNvSpPr>
              <a:spLocks noChangeShapeType="1"/>
            </p:cNvSpPr>
            <p:nvPr/>
          </p:nvSpPr>
          <p:spPr bwMode="auto">
            <a:xfrm>
              <a:off x="1893" y="2831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7" name="Line 42"/>
            <p:cNvSpPr>
              <a:spLocks noChangeShapeType="1"/>
            </p:cNvSpPr>
            <p:nvPr/>
          </p:nvSpPr>
          <p:spPr bwMode="auto">
            <a:xfrm>
              <a:off x="2322" y="2828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8" name="Line 43"/>
            <p:cNvSpPr>
              <a:spLocks noChangeShapeType="1"/>
            </p:cNvSpPr>
            <p:nvPr/>
          </p:nvSpPr>
          <p:spPr bwMode="auto">
            <a:xfrm>
              <a:off x="2751" y="2834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9" name="Line 44"/>
            <p:cNvSpPr>
              <a:spLocks noChangeShapeType="1"/>
            </p:cNvSpPr>
            <p:nvPr/>
          </p:nvSpPr>
          <p:spPr bwMode="auto">
            <a:xfrm>
              <a:off x="3180" y="2831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0" name="Line 45"/>
            <p:cNvSpPr>
              <a:spLocks noChangeShapeType="1"/>
            </p:cNvSpPr>
            <p:nvPr/>
          </p:nvSpPr>
          <p:spPr bwMode="auto">
            <a:xfrm>
              <a:off x="3609" y="2828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1" name="Line 46"/>
            <p:cNvSpPr>
              <a:spLocks noChangeShapeType="1"/>
            </p:cNvSpPr>
            <p:nvPr/>
          </p:nvSpPr>
          <p:spPr bwMode="auto">
            <a:xfrm>
              <a:off x="4038" y="2834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2" name="Line 47"/>
            <p:cNvSpPr>
              <a:spLocks noChangeShapeType="1"/>
            </p:cNvSpPr>
            <p:nvPr/>
          </p:nvSpPr>
          <p:spPr bwMode="auto">
            <a:xfrm>
              <a:off x="4467" y="2831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3" name="Line 48"/>
            <p:cNvSpPr>
              <a:spLocks noChangeShapeType="1"/>
            </p:cNvSpPr>
            <p:nvPr/>
          </p:nvSpPr>
          <p:spPr bwMode="auto">
            <a:xfrm>
              <a:off x="4896" y="2828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4" name="Line 49"/>
            <p:cNvSpPr>
              <a:spLocks noChangeShapeType="1"/>
            </p:cNvSpPr>
            <p:nvPr/>
          </p:nvSpPr>
          <p:spPr bwMode="auto">
            <a:xfrm flipV="1">
              <a:off x="609" y="3237"/>
              <a:ext cx="0" cy="23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5" name="Line 50"/>
            <p:cNvSpPr>
              <a:spLocks noChangeShapeType="1"/>
            </p:cNvSpPr>
            <p:nvPr/>
          </p:nvSpPr>
          <p:spPr bwMode="auto">
            <a:xfrm flipV="1">
              <a:off x="2757" y="3234"/>
              <a:ext cx="0" cy="23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6" name="Line 51"/>
            <p:cNvSpPr>
              <a:spLocks noChangeShapeType="1"/>
            </p:cNvSpPr>
            <p:nvPr/>
          </p:nvSpPr>
          <p:spPr bwMode="auto">
            <a:xfrm flipV="1">
              <a:off x="4041" y="2592"/>
              <a:ext cx="0" cy="23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7" name="Line 52"/>
            <p:cNvSpPr>
              <a:spLocks noChangeShapeType="1"/>
            </p:cNvSpPr>
            <p:nvPr/>
          </p:nvSpPr>
          <p:spPr bwMode="auto">
            <a:xfrm flipV="1">
              <a:off x="3183" y="2589"/>
              <a:ext cx="0" cy="23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8" name="Line 53"/>
            <p:cNvSpPr>
              <a:spLocks noChangeShapeType="1"/>
            </p:cNvSpPr>
            <p:nvPr/>
          </p:nvSpPr>
          <p:spPr bwMode="auto">
            <a:xfrm flipV="1">
              <a:off x="2325" y="2595"/>
              <a:ext cx="0" cy="23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9" name="Line 54"/>
            <p:cNvSpPr>
              <a:spLocks noChangeShapeType="1"/>
            </p:cNvSpPr>
            <p:nvPr/>
          </p:nvSpPr>
          <p:spPr bwMode="auto">
            <a:xfrm flipV="1">
              <a:off x="1467" y="2592"/>
              <a:ext cx="0" cy="23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0" name="Line 55"/>
            <p:cNvSpPr>
              <a:spLocks noChangeShapeType="1"/>
            </p:cNvSpPr>
            <p:nvPr/>
          </p:nvSpPr>
          <p:spPr bwMode="auto">
            <a:xfrm flipV="1">
              <a:off x="609" y="2589"/>
              <a:ext cx="0" cy="23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1" name="Line 56"/>
            <p:cNvSpPr>
              <a:spLocks noChangeShapeType="1"/>
            </p:cNvSpPr>
            <p:nvPr/>
          </p:nvSpPr>
          <p:spPr bwMode="auto">
            <a:xfrm>
              <a:off x="1038" y="2595"/>
              <a:ext cx="0" cy="23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2" name="Line 57"/>
            <p:cNvSpPr>
              <a:spLocks noChangeShapeType="1"/>
            </p:cNvSpPr>
            <p:nvPr/>
          </p:nvSpPr>
          <p:spPr bwMode="auto">
            <a:xfrm>
              <a:off x="1890" y="2592"/>
              <a:ext cx="0" cy="23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3" name="Line 58"/>
            <p:cNvSpPr>
              <a:spLocks noChangeShapeType="1"/>
            </p:cNvSpPr>
            <p:nvPr/>
          </p:nvSpPr>
          <p:spPr bwMode="auto">
            <a:xfrm>
              <a:off x="2751" y="2589"/>
              <a:ext cx="0" cy="23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4" name="Line 59"/>
            <p:cNvSpPr>
              <a:spLocks noChangeShapeType="1"/>
            </p:cNvSpPr>
            <p:nvPr/>
          </p:nvSpPr>
          <p:spPr bwMode="auto">
            <a:xfrm>
              <a:off x="3612" y="2595"/>
              <a:ext cx="0" cy="23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5" name="Line 60"/>
            <p:cNvSpPr>
              <a:spLocks noChangeShapeType="1"/>
            </p:cNvSpPr>
            <p:nvPr/>
          </p:nvSpPr>
          <p:spPr bwMode="auto">
            <a:xfrm>
              <a:off x="4464" y="2583"/>
              <a:ext cx="0" cy="23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6" name="Line 61"/>
            <p:cNvSpPr>
              <a:spLocks noChangeShapeType="1"/>
            </p:cNvSpPr>
            <p:nvPr/>
          </p:nvSpPr>
          <p:spPr bwMode="auto">
            <a:xfrm>
              <a:off x="2751" y="3237"/>
              <a:ext cx="0" cy="23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7" name="Line 62"/>
            <p:cNvSpPr>
              <a:spLocks noChangeShapeType="1"/>
            </p:cNvSpPr>
            <p:nvPr/>
          </p:nvSpPr>
          <p:spPr bwMode="auto">
            <a:xfrm>
              <a:off x="4899" y="3234"/>
              <a:ext cx="0" cy="23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8" name="Rectangle 68"/>
            <p:cNvSpPr>
              <a:spLocks noChangeArrowheads="1"/>
            </p:cNvSpPr>
            <p:nvPr/>
          </p:nvSpPr>
          <p:spPr bwMode="auto">
            <a:xfrm>
              <a:off x="864" y="3257"/>
              <a:ext cx="599" cy="218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9" name="Rectangle 69"/>
            <p:cNvSpPr>
              <a:spLocks noChangeArrowheads="1"/>
            </p:cNvSpPr>
            <p:nvPr/>
          </p:nvSpPr>
          <p:spPr bwMode="auto">
            <a:xfrm>
              <a:off x="1716" y="3254"/>
              <a:ext cx="399" cy="218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60" name="Rectangle 71"/>
            <p:cNvSpPr>
              <a:spLocks noChangeArrowheads="1"/>
            </p:cNvSpPr>
            <p:nvPr/>
          </p:nvSpPr>
          <p:spPr bwMode="auto">
            <a:xfrm>
              <a:off x="3438" y="3257"/>
              <a:ext cx="554" cy="218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61" name="Text Box 72"/>
            <p:cNvSpPr txBox="1">
              <a:spLocks noChangeArrowheads="1"/>
            </p:cNvSpPr>
            <p:nvPr/>
          </p:nvSpPr>
          <p:spPr bwMode="auto">
            <a:xfrm>
              <a:off x="169" y="2613"/>
              <a:ext cx="297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u="none">
                  <a:solidFill>
                    <a:srgbClr val="CC0000"/>
                  </a:solidFill>
                </a:rPr>
                <a:t>T</a:t>
              </a:r>
              <a:r>
                <a:rPr lang="en-US" u="none" baseline="-25000">
                  <a:solidFill>
                    <a:srgbClr val="CC0000"/>
                  </a:solidFill>
                </a:rPr>
                <a:t>1</a:t>
              </a:r>
              <a:endParaRPr lang="en-US" u="none">
                <a:solidFill>
                  <a:srgbClr val="CC0000"/>
                </a:solidFill>
              </a:endParaRPr>
            </a:p>
          </p:txBody>
        </p:sp>
        <p:sp>
          <p:nvSpPr>
            <p:cNvPr id="17462" name="Text Box 73"/>
            <p:cNvSpPr txBox="1">
              <a:spLocks noChangeArrowheads="1"/>
            </p:cNvSpPr>
            <p:nvPr/>
          </p:nvSpPr>
          <p:spPr bwMode="auto">
            <a:xfrm>
              <a:off x="166" y="3267"/>
              <a:ext cx="297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u="none">
                  <a:solidFill>
                    <a:schemeClr val="tx2"/>
                  </a:solidFill>
                </a:rPr>
                <a:t>T</a:t>
              </a:r>
              <a:r>
                <a:rPr lang="en-US" u="none" baseline="-25000">
                  <a:solidFill>
                    <a:schemeClr val="tx2"/>
                  </a:solidFill>
                </a:rPr>
                <a:t>2</a:t>
              </a:r>
              <a:endParaRPr lang="en-US" u="none">
                <a:solidFill>
                  <a:schemeClr val="tx2"/>
                </a:solidFill>
              </a:endParaRPr>
            </a:p>
          </p:txBody>
        </p:sp>
        <p:sp>
          <p:nvSpPr>
            <p:cNvPr id="17463" name="Text Box 74"/>
            <p:cNvSpPr txBox="1">
              <a:spLocks noChangeArrowheads="1"/>
            </p:cNvSpPr>
            <p:nvPr/>
          </p:nvSpPr>
          <p:spPr bwMode="auto">
            <a:xfrm>
              <a:off x="5032" y="2968"/>
              <a:ext cx="659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u="none">
                  <a:solidFill>
                    <a:schemeClr val="tx2"/>
                  </a:solidFill>
                </a:rPr>
                <a:t>repeats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92113" y="314325"/>
            <a:ext cx="8750300" cy="914400"/>
          </a:xfrm>
        </p:spPr>
        <p:txBody>
          <a:bodyPr/>
          <a:lstStyle/>
          <a:p>
            <a:r>
              <a:rPr lang="en-US" smtClean="0"/>
              <a:t>Non-preemptive EDF</a:t>
            </a:r>
            <a:r>
              <a:rPr lang="en-US" sz="1400" smtClean="0"/>
              <a:t> (Jeffay </a:t>
            </a:r>
            <a:r>
              <a:rPr lang="en-US" sz="1400" i="1" smtClean="0"/>
              <a:t>et al</a:t>
            </a:r>
            <a:r>
              <a:rPr lang="en-US" sz="1400" smtClean="0"/>
              <a:t>.)</a:t>
            </a:r>
          </a:p>
        </p:txBody>
      </p:sp>
      <p:sp>
        <p:nvSpPr>
          <p:cNvPr id="425987" name="Text Box 3"/>
          <p:cNvSpPr txBox="1">
            <a:spLocks noChangeArrowheads="1"/>
          </p:cNvSpPr>
          <p:nvPr/>
        </p:nvSpPr>
        <p:spPr bwMode="auto">
          <a:xfrm>
            <a:off x="196850" y="1466850"/>
            <a:ext cx="8615363" cy="41211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b="1" u="none"/>
              <a:t>Theorem :</a:t>
            </a:r>
            <a:r>
              <a:rPr lang="en-US" u="none"/>
              <a:t> Let </a:t>
            </a:r>
            <a:r>
              <a:rPr lang="en-US" b="1" u="none"/>
              <a:t>T</a:t>
            </a:r>
            <a:r>
              <a:rPr lang="en-US" u="none"/>
              <a:t> = {T</a:t>
            </a:r>
            <a:r>
              <a:rPr lang="en-US" u="none" baseline="-25000"/>
              <a:t>1</a:t>
            </a:r>
            <a:r>
              <a:rPr lang="en-US" u="none"/>
              <a:t>, T</a:t>
            </a:r>
            <a:r>
              <a:rPr lang="en-US" u="none" baseline="-25000"/>
              <a:t>2</a:t>
            </a:r>
            <a:r>
              <a:rPr lang="en-US" u="none"/>
              <a:t>, …, T</a:t>
            </a:r>
            <a:r>
              <a:rPr lang="en-US" u="none" baseline="-25000"/>
              <a:t>n</a:t>
            </a:r>
            <a:r>
              <a:rPr lang="en-US" u="none"/>
              <a:t>} be a system of independent,</a:t>
            </a:r>
          </a:p>
          <a:p>
            <a:pPr algn="l">
              <a:defRPr/>
            </a:pPr>
            <a:r>
              <a:rPr lang="en-US" u="none"/>
              <a:t>periodic tasks with relative deadlines equal to their periods such that</a:t>
            </a:r>
          </a:p>
          <a:p>
            <a:pPr algn="l">
              <a:defRPr/>
            </a:pPr>
            <a:r>
              <a:rPr lang="en-US" u="none"/>
              <a:t>the tasks in </a:t>
            </a:r>
            <a:r>
              <a:rPr lang="en-US" b="1" u="none"/>
              <a:t>T</a:t>
            </a:r>
            <a:r>
              <a:rPr lang="en-US" u="none"/>
              <a:t> are indexed in non-decreasing order by period (i.e.,</a:t>
            </a:r>
          </a:p>
          <a:p>
            <a:pPr algn="l">
              <a:defRPr/>
            </a:pPr>
            <a:r>
              <a:rPr lang="en-US" u="none"/>
              <a:t>if i &lt; j, then p</a:t>
            </a:r>
            <a:r>
              <a:rPr lang="en-US" u="none" baseline="-25000"/>
              <a:t>i</a:t>
            </a:r>
            <a:r>
              <a:rPr lang="en-US" u="none"/>
              <a:t> </a:t>
            </a:r>
            <a:r>
              <a:rPr lang="en-US" u="none">
                <a:sym typeface="Symbol" pitchFamily="82" charset="2"/>
              </a:rPr>
              <a:t> p</a:t>
            </a:r>
            <a:r>
              <a:rPr lang="en-US" u="none" baseline="-25000">
                <a:sym typeface="Symbol" pitchFamily="82" charset="2"/>
              </a:rPr>
              <a:t>j</a:t>
            </a:r>
            <a:r>
              <a:rPr lang="en-US" u="none">
                <a:sym typeface="Symbol" pitchFamily="82" charset="2"/>
              </a:rPr>
              <a:t>).  </a:t>
            </a:r>
            <a:r>
              <a:rPr lang="en-US" b="1" u="none">
                <a:sym typeface="Symbol" pitchFamily="82" charset="2"/>
              </a:rPr>
              <a:t>T</a:t>
            </a:r>
            <a:r>
              <a:rPr lang="en-US" u="none">
                <a:sym typeface="Symbol" pitchFamily="82" charset="2"/>
              </a:rPr>
              <a:t> can be scheduled by the non-preemptive EDF</a:t>
            </a:r>
          </a:p>
          <a:p>
            <a:pPr algn="l">
              <a:defRPr/>
            </a:pPr>
            <a:r>
              <a:rPr lang="en-US" u="none">
                <a:sym typeface="Symbol" pitchFamily="82" charset="2"/>
              </a:rPr>
              <a:t>algorithm if:</a:t>
            </a:r>
          </a:p>
          <a:p>
            <a:pPr algn="l">
              <a:defRPr/>
            </a:pPr>
            <a:endParaRPr lang="en-US" u="none">
              <a:sym typeface="Symbol" pitchFamily="82" charset="2"/>
            </a:endParaRPr>
          </a:p>
          <a:p>
            <a:pPr algn="l">
              <a:defRPr/>
            </a:pPr>
            <a:r>
              <a:rPr lang="en-US" u="none">
                <a:sym typeface="Symbol" pitchFamily="82" charset="2"/>
              </a:rPr>
              <a:t>  </a:t>
            </a:r>
          </a:p>
          <a:p>
            <a:pPr algn="l">
              <a:defRPr/>
            </a:pPr>
            <a:endParaRPr lang="en-US" u="none">
              <a:sym typeface="Symbol" pitchFamily="82" charset="2"/>
            </a:endParaRPr>
          </a:p>
          <a:p>
            <a:pPr algn="l">
              <a:defRPr/>
            </a:pPr>
            <a:r>
              <a:rPr lang="en-US" u="none">
                <a:sym typeface="Symbol" pitchFamily="82" charset="2"/>
              </a:rPr>
              <a:t> </a:t>
            </a:r>
          </a:p>
          <a:p>
            <a:pPr algn="l">
              <a:defRPr/>
            </a:pPr>
            <a:endParaRPr lang="en-US" u="none">
              <a:sym typeface="Symbol" pitchFamily="82" charset="2"/>
            </a:endParaRPr>
          </a:p>
          <a:p>
            <a:pPr algn="l">
              <a:defRPr/>
            </a:pPr>
            <a:r>
              <a:rPr lang="en-US" u="none">
                <a:sym typeface="Symbol" pitchFamily="82" charset="2"/>
              </a:rPr>
              <a:t> </a:t>
            </a:r>
            <a:endParaRPr lang="en-US" u="none"/>
          </a:p>
        </p:txBody>
      </p:sp>
      <p:sp>
        <p:nvSpPr>
          <p:cNvPr id="18436" name="Text Box 5"/>
          <p:cNvSpPr txBox="1">
            <a:spLocks noChangeArrowheads="1"/>
          </p:cNvSpPr>
          <p:nvPr/>
        </p:nvSpPr>
        <p:spPr bwMode="auto">
          <a:xfrm>
            <a:off x="311150" y="5659438"/>
            <a:ext cx="8380413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buFont typeface="Wingdings" pitchFamily="82" charset="2"/>
              <a:buChar char="Ø"/>
            </a:pPr>
            <a:r>
              <a:rPr lang="en-US" sz="2000" u="none">
                <a:solidFill>
                  <a:srgbClr val="CC0000"/>
                </a:solidFill>
                <a:latin typeface="Comic Sans MS" pitchFamily="66" charset="0"/>
              </a:rPr>
              <a:t>Condition is necessary and sufficient for real-world sporadic tasks</a:t>
            </a:r>
          </a:p>
        </p:txBody>
      </p:sp>
      <p:pic>
        <p:nvPicPr>
          <p:cNvPr id="18437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2613" y="3263900"/>
            <a:ext cx="7821612" cy="20621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Explanation</a:t>
            </a:r>
          </a:p>
        </p:txBody>
      </p:sp>
      <p:sp>
        <p:nvSpPr>
          <p:cNvPr id="19459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The </a:t>
            </a:r>
            <a:r>
              <a:rPr lang="en-US" b="1" smtClean="0">
                <a:solidFill>
                  <a:srgbClr val="CC0000"/>
                </a:solidFill>
              </a:rPr>
              <a:t>first condition</a:t>
            </a:r>
            <a:r>
              <a:rPr lang="en-US" smtClean="0"/>
              <a:t> is just a constraint on utilization.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smtClean="0"/>
          </a:p>
          <a:p>
            <a:r>
              <a:rPr lang="en-US" smtClean="0"/>
              <a:t>In the </a:t>
            </a:r>
            <a:r>
              <a:rPr lang="en-US" b="1" smtClean="0">
                <a:solidFill>
                  <a:srgbClr val="CC0000"/>
                </a:solidFill>
              </a:rPr>
              <a:t>second condition</a:t>
            </a:r>
            <a:r>
              <a:rPr lang="en-US" smtClean="0"/>
              <a:t>, the term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smtClean="0"/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smtClean="0"/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mtClean="0"/>
              <a:t>gives an upper bound on processor demand in an interval [t, t+L].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smtClean="0"/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b="1" smtClean="0">
                <a:solidFill>
                  <a:srgbClr val="CC0000"/>
                </a:solidFill>
              </a:rPr>
              <a:t>Intuition:</a:t>
            </a:r>
            <a:r>
              <a:rPr lang="en-US" smtClean="0"/>
              <a:t> The “worst-case” pattern of job releases occurs when a job of some T</a:t>
            </a:r>
            <a:r>
              <a:rPr lang="en-US" baseline="-25000" smtClean="0"/>
              <a:t>i</a:t>
            </a:r>
            <a:r>
              <a:rPr lang="en-US" smtClean="0"/>
              <a:t> begins executing (</a:t>
            </a:r>
            <a:r>
              <a:rPr lang="en-US" b="1" smtClean="0"/>
              <a:t>non-preemptively!</a:t>
            </a:r>
            <a:r>
              <a:rPr lang="en-US" smtClean="0"/>
              <a:t>) one time unit before some tasks with smaller periods begin releasing some jobs.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smtClean="0"/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mtClean="0"/>
              <a:t>These other jobs are </a:t>
            </a:r>
            <a:r>
              <a:rPr lang="en-US" b="1" smtClean="0">
                <a:solidFill>
                  <a:schemeClr val="tx2"/>
                </a:solidFill>
              </a:rPr>
              <a:t>blocked</a:t>
            </a:r>
            <a:r>
              <a:rPr lang="en-US" smtClean="0"/>
              <a:t> by the job of T</a:t>
            </a:r>
            <a:r>
              <a:rPr lang="en-US" baseline="-25000" smtClean="0"/>
              <a:t>i</a:t>
            </a:r>
            <a:r>
              <a:rPr lang="en-US" smtClean="0"/>
              <a:t>. 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smtClean="0"/>
          </a:p>
        </p:txBody>
      </p:sp>
      <p:pic>
        <p:nvPicPr>
          <p:cNvPr id="19460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2850" y="2066925"/>
            <a:ext cx="3111500" cy="1111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327025"/>
            <a:ext cx="8280400" cy="908050"/>
          </a:xfrm>
        </p:spPr>
        <p:txBody>
          <a:bodyPr/>
          <a:lstStyle/>
          <a:p>
            <a:r>
              <a:rPr lang="en-US" smtClean="0"/>
              <a:t>Second Condition (Continued)</a:t>
            </a:r>
          </a:p>
        </p:txBody>
      </p:sp>
      <p:grpSp>
        <p:nvGrpSpPr>
          <p:cNvPr id="20483" name="Group 66"/>
          <p:cNvGrpSpPr>
            <a:grpSpLocks/>
          </p:cNvGrpSpPr>
          <p:nvPr/>
        </p:nvGrpSpPr>
        <p:grpSpPr bwMode="auto">
          <a:xfrm>
            <a:off x="488950" y="1465263"/>
            <a:ext cx="7029450" cy="2393950"/>
            <a:chOff x="344" y="863"/>
            <a:chExt cx="4428" cy="1508"/>
          </a:xfrm>
        </p:grpSpPr>
        <p:sp>
          <p:nvSpPr>
            <p:cNvPr id="20487" name="Line 4"/>
            <p:cNvSpPr>
              <a:spLocks noChangeShapeType="1"/>
            </p:cNvSpPr>
            <p:nvPr/>
          </p:nvSpPr>
          <p:spPr bwMode="auto">
            <a:xfrm>
              <a:off x="545" y="2259"/>
              <a:ext cx="4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8" name="Line 5"/>
            <p:cNvSpPr>
              <a:spLocks noChangeShapeType="1"/>
            </p:cNvSpPr>
            <p:nvPr/>
          </p:nvSpPr>
          <p:spPr bwMode="auto">
            <a:xfrm>
              <a:off x="664" y="2259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9" name="Line 6"/>
            <p:cNvSpPr>
              <a:spLocks noChangeShapeType="1"/>
            </p:cNvSpPr>
            <p:nvPr/>
          </p:nvSpPr>
          <p:spPr bwMode="auto">
            <a:xfrm>
              <a:off x="958" y="2256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0" name="Line 7"/>
            <p:cNvSpPr>
              <a:spLocks noChangeShapeType="1"/>
            </p:cNvSpPr>
            <p:nvPr/>
          </p:nvSpPr>
          <p:spPr bwMode="auto">
            <a:xfrm>
              <a:off x="1252" y="2262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1" name="Line 8"/>
            <p:cNvSpPr>
              <a:spLocks noChangeShapeType="1"/>
            </p:cNvSpPr>
            <p:nvPr/>
          </p:nvSpPr>
          <p:spPr bwMode="auto">
            <a:xfrm>
              <a:off x="1546" y="2259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2" name="Line 9"/>
            <p:cNvSpPr>
              <a:spLocks noChangeShapeType="1"/>
            </p:cNvSpPr>
            <p:nvPr/>
          </p:nvSpPr>
          <p:spPr bwMode="auto">
            <a:xfrm>
              <a:off x="1840" y="2256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3" name="Line 10"/>
            <p:cNvSpPr>
              <a:spLocks noChangeShapeType="1"/>
            </p:cNvSpPr>
            <p:nvPr/>
          </p:nvSpPr>
          <p:spPr bwMode="auto">
            <a:xfrm>
              <a:off x="2134" y="2262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4" name="Line 11"/>
            <p:cNvSpPr>
              <a:spLocks noChangeShapeType="1"/>
            </p:cNvSpPr>
            <p:nvPr/>
          </p:nvSpPr>
          <p:spPr bwMode="auto">
            <a:xfrm>
              <a:off x="2428" y="2259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5" name="Line 12"/>
            <p:cNvSpPr>
              <a:spLocks noChangeShapeType="1"/>
            </p:cNvSpPr>
            <p:nvPr/>
          </p:nvSpPr>
          <p:spPr bwMode="auto">
            <a:xfrm>
              <a:off x="2722" y="2256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6" name="Line 13"/>
            <p:cNvSpPr>
              <a:spLocks noChangeShapeType="1"/>
            </p:cNvSpPr>
            <p:nvPr/>
          </p:nvSpPr>
          <p:spPr bwMode="auto">
            <a:xfrm>
              <a:off x="3016" y="2262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7" name="Line 14"/>
            <p:cNvSpPr>
              <a:spLocks noChangeShapeType="1"/>
            </p:cNvSpPr>
            <p:nvPr/>
          </p:nvSpPr>
          <p:spPr bwMode="auto">
            <a:xfrm>
              <a:off x="3310" y="2259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8" name="Line 15"/>
            <p:cNvSpPr>
              <a:spLocks noChangeShapeType="1"/>
            </p:cNvSpPr>
            <p:nvPr/>
          </p:nvSpPr>
          <p:spPr bwMode="auto">
            <a:xfrm>
              <a:off x="3604" y="2256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9" name="Line 16"/>
            <p:cNvSpPr>
              <a:spLocks noChangeShapeType="1"/>
            </p:cNvSpPr>
            <p:nvPr/>
          </p:nvSpPr>
          <p:spPr bwMode="auto">
            <a:xfrm>
              <a:off x="3898" y="2262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0" name="Line 17"/>
            <p:cNvSpPr>
              <a:spLocks noChangeShapeType="1"/>
            </p:cNvSpPr>
            <p:nvPr/>
          </p:nvSpPr>
          <p:spPr bwMode="auto">
            <a:xfrm>
              <a:off x="4192" y="2259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1" name="Line 18"/>
            <p:cNvSpPr>
              <a:spLocks noChangeShapeType="1"/>
            </p:cNvSpPr>
            <p:nvPr/>
          </p:nvSpPr>
          <p:spPr bwMode="auto">
            <a:xfrm>
              <a:off x="4486" y="2256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2" name="Line 19"/>
            <p:cNvSpPr>
              <a:spLocks noChangeShapeType="1"/>
            </p:cNvSpPr>
            <p:nvPr/>
          </p:nvSpPr>
          <p:spPr bwMode="auto">
            <a:xfrm>
              <a:off x="664" y="2177"/>
              <a:ext cx="382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3" name="Line 20"/>
            <p:cNvSpPr>
              <a:spLocks noChangeShapeType="1"/>
            </p:cNvSpPr>
            <p:nvPr/>
          </p:nvSpPr>
          <p:spPr bwMode="auto">
            <a:xfrm>
              <a:off x="961" y="1877"/>
              <a:ext cx="352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4" name="Line 21"/>
            <p:cNvSpPr>
              <a:spLocks noChangeShapeType="1"/>
            </p:cNvSpPr>
            <p:nvPr/>
          </p:nvSpPr>
          <p:spPr bwMode="auto">
            <a:xfrm flipH="1" flipV="1">
              <a:off x="963" y="1670"/>
              <a:ext cx="1" cy="2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5" name="Line 24"/>
            <p:cNvSpPr>
              <a:spLocks noChangeShapeType="1"/>
            </p:cNvSpPr>
            <p:nvPr/>
          </p:nvSpPr>
          <p:spPr bwMode="auto">
            <a:xfrm flipH="1" flipV="1">
              <a:off x="2430" y="1670"/>
              <a:ext cx="1" cy="2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6" name="Line 26"/>
            <p:cNvSpPr>
              <a:spLocks noChangeShapeType="1"/>
            </p:cNvSpPr>
            <p:nvPr/>
          </p:nvSpPr>
          <p:spPr bwMode="auto">
            <a:xfrm flipH="1" flipV="1">
              <a:off x="3891" y="1664"/>
              <a:ext cx="1" cy="2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7" name="Line 29"/>
            <p:cNvSpPr>
              <a:spLocks noChangeShapeType="1"/>
            </p:cNvSpPr>
            <p:nvPr/>
          </p:nvSpPr>
          <p:spPr bwMode="auto">
            <a:xfrm flipH="1" flipV="1">
              <a:off x="656" y="1977"/>
              <a:ext cx="1" cy="2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8" name="Line 30"/>
            <p:cNvSpPr>
              <a:spLocks noChangeShapeType="1"/>
            </p:cNvSpPr>
            <p:nvPr/>
          </p:nvSpPr>
          <p:spPr bwMode="auto">
            <a:xfrm>
              <a:off x="958" y="1496"/>
              <a:ext cx="352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9" name="Line 31"/>
            <p:cNvSpPr>
              <a:spLocks noChangeShapeType="1"/>
            </p:cNvSpPr>
            <p:nvPr/>
          </p:nvSpPr>
          <p:spPr bwMode="auto">
            <a:xfrm flipH="1" flipV="1">
              <a:off x="951" y="1289"/>
              <a:ext cx="1" cy="2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0" name="Line 33"/>
            <p:cNvSpPr>
              <a:spLocks noChangeShapeType="1"/>
            </p:cNvSpPr>
            <p:nvPr/>
          </p:nvSpPr>
          <p:spPr bwMode="auto">
            <a:xfrm flipH="1" flipV="1">
              <a:off x="2133" y="1292"/>
              <a:ext cx="1" cy="2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1" name="Line 35"/>
            <p:cNvSpPr>
              <a:spLocks noChangeShapeType="1"/>
            </p:cNvSpPr>
            <p:nvPr/>
          </p:nvSpPr>
          <p:spPr bwMode="auto">
            <a:xfrm flipH="1" flipV="1">
              <a:off x="3306" y="1286"/>
              <a:ext cx="1" cy="2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2" name="Line 37"/>
            <p:cNvSpPr>
              <a:spLocks noChangeShapeType="1"/>
            </p:cNvSpPr>
            <p:nvPr/>
          </p:nvSpPr>
          <p:spPr bwMode="auto">
            <a:xfrm flipH="1" flipV="1">
              <a:off x="4479" y="1289"/>
              <a:ext cx="1" cy="2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3" name="Line 38"/>
            <p:cNvSpPr>
              <a:spLocks noChangeShapeType="1"/>
            </p:cNvSpPr>
            <p:nvPr/>
          </p:nvSpPr>
          <p:spPr bwMode="auto">
            <a:xfrm>
              <a:off x="955" y="1115"/>
              <a:ext cx="352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4" name="Line 39"/>
            <p:cNvSpPr>
              <a:spLocks noChangeShapeType="1"/>
            </p:cNvSpPr>
            <p:nvPr/>
          </p:nvSpPr>
          <p:spPr bwMode="auto">
            <a:xfrm flipH="1" flipV="1">
              <a:off x="957" y="908"/>
              <a:ext cx="1" cy="2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5" name="Line 40"/>
            <p:cNvSpPr>
              <a:spLocks noChangeShapeType="1"/>
            </p:cNvSpPr>
            <p:nvPr/>
          </p:nvSpPr>
          <p:spPr bwMode="auto">
            <a:xfrm flipH="1" flipV="1">
              <a:off x="1539" y="905"/>
              <a:ext cx="1" cy="2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6" name="Line 41"/>
            <p:cNvSpPr>
              <a:spLocks noChangeShapeType="1"/>
            </p:cNvSpPr>
            <p:nvPr/>
          </p:nvSpPr>
          <p:spPr bwMode="auto">
            <a:xfrm flipH="1" flipV="1">
              <a:off x="2130" y="911"/>
              <a:ext cx="1" cy="2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7" name="Line 42"/>
            <p:cNvSpPr>
              <a:spLocks noChangeShapeType="1"/>
            </p:cNvSpPr>
            <p:nvPr/>
          </p:nvSpPr>
          <p:spPr bwMode="auto">
            <a:xfrm flipH="1" flipV="1">
              <a:off x="2712" y="908"/>
              <a:ext cx="1" cy="2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8" name="Line 43"/>
            <p:cNvSpPr>
              <a:spLocks noChangeShapeType="1"/>
            </p:cNvSpPr>
            <p:nvPr/>
          </p:nvSpPr>
          <p:spPr bwMode="auto">
            <a:xfrm flipH="1" flipV="1">
              <a:off x="3303" y="905"/>
              <a:ext cx="1" cy="2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9" name="Line 44"/>
            <p:cNvSpPr>
              <a:spLocks noChangeShapeType="1"/>
            </p:cNvSpPr>
            <p:nvPr/>
          </p:nvSpPr>
          <p:spPr bwMode="auto">
            <a:xfrm flipV="1">
              <a:off x="3886" y="911"/>
              <a:ext cx="8" cy="2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0" name="Line 45"/>
            <p:cNvSpPr>
              <a:spLocks noChangeShapeType="1"/>
            </p:cNvSpPr>
            <p:nvPr/>
          </p:nvSpPr>
          <p:spPr bwMode="auto">
            <a:xfrm flipV="1">
              <a:off x="4477" y="908"/>
              <a:ext cx="8" cy="2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1" name="Line 46"/>
            <p:cNvSpPr>
              <a:spLocks noChangeShapeType="1"/>
            </p:cNvSpPr>
            <p:nvPr/>
          </p:nvSpPr>
          <p:spPr bwMode="auto">
            <a:xfrm flipH="1" flipV="1">
              <a:off x="4488" y="1972"/>
              <a:ext cx="1" cy="2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2" name="Rectangle 47"/>
            <p:cNvSpPr>
              <a:spLocks noChangeArrowheads="1"/>
            </p:cNvSpPr>
            <p:nvPr/>
          </p:nvSpPr>
          <p:spPr bwMode="auto">
            <a:xfrm>
              <a:off x="654" y="2032"/>
              <a:ext cx="600" cy="145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3" name="Rectangle 48"/>
            <p:cNvSpPr>
              <a:spLocks noChangeArrowheads="1"/>
            </p:cNvSpPr>
            <p:nvPr/>
          </p:nvSpPr>
          <p:spPr bwMode="auto">
            <a:xfrm>
              <a:off x="1263" y="968"/>
              <a:ext cx="273" cy="145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4" name="Rectangle 49"/>
            <p:cNvSpPr>
              <a:spLocks noChangeArrowheads="1"/>
            </p:cNvSpPr>
            <p:nvPr/>
          </p:nvSpPr>
          <p:spPr bwMode="auto">
            <a:xfrm>
              <a:off x="1539" y="1351"/>
              <a:ext cx="273" cy="145"/>
            </a:xfrm>
            <a:prstGeom prst="rect">
              <a:avLst/>
            </a:prstGeom>
            <a:solidFill>
              <a:srgbClr val="FFCC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5" name="Rectangle 50"/>
            <p:cNvSpPr>
              <a:spLocks noChangeArrowheads="1"/>
            </p:cNvSpPr>
            <p:nvPr/>
          </p:nvSpPr>
          <p:spPr bwMode="auto">
            <a:xfrm>
              <a:off x="1854" y="965"/>
              <a:ext cx="273" cy="145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6" name="Rectangle 51"/>
            <p:cNvSpPr>
              <a:spLocks noChangeArrowheads="1"/>
            </p:cNvSpPr>
            <p:nvPr/>
          </p:nvSpPr>
          <p:spPr bwMode="auto">
            <a:xfrm>
              <a:off x="2157" y="1734"/>
              <a:ext cx="273" cy="145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7" name="Rectangle 52"/>
            <p:cNvSpPr>
              <a:spLocks noChangeArrowheads="1"/>
            </p:cNvSpPr>
            <p:nvPr/>
          </p:nvSpPr>
          <p:spPr bwMode="auto">
            <a:xfrm>
              <a:off x="2436" y="970"/>
              <a:ext cx="273" cy="145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8" name="Rectangle 53"/>
            <p:cNvSpPr>
              <a:spLocks noChangeArrowheads="1"/>
            </p:cNvSpPr>
            <p:nvPr/>
          </p:nvSpPr>
          <p:spPr bwMode="auto">
            <a:xfrm>
              <a:off x="2706" y="1349"/>
              <a:ext cx="273" cy="145"/>
            </a:xfrm>
            <a:prstGeom prst="rect">
              <a:avLst/>
            </a:prstGeom>
            <a:solidFill>
              <a:srgbClr val="FFCC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9" name="Rectangle 54"/>
            <p:cNvSpPr>
              <a:spLocks noChangeArrowheads="1"/>
            </p:cNvSpPr>
            <p:nvPr/>
          </p:nvSpPr>
          <p:spPr bwMode="auto">
            <a:xfrm>
              <a:off x="3027" y="968"/>
              <a:ext cx="273" cy="145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0" name="Rectangle 55"/>
            <p:cNvSpPr>
              <a:spLocks noChangeArrowheads="1"/>
            </p:cNvSpPr>
            <p:nvPr/>
          </p:nvSpPr>
          <p:spPr bwMode="auto">
            <a:xfrm>
              <a:off x="3303" y="965"/>
              <a:ext cx="273" cy="145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1" name="Rectangle 56"/>
            <p:cNvSpPr>
              <a:spLocks noChangeArrowheads="1"/>
            </p:cNvSpPr>
            <p:nvPr/>
          </p:nvSpPr>
          <p:spPr bwMode="auto">
            <a:xfrm>
              <a:off x="3613" y="1732"/>
              <a:ext cx="273" cy="145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2" name="Rectangle 57"/>
            <p:cNvSpPr>
              <a:spLocks noChangeArrowheads="1"/>
            </p:cNvSpPr>
            <p:nvPr/>
          </p:nvSpPr>
          <p:spPr bwMode="auto">
            <a:xfrm>
              <a:off x="3891" y="1354"/>
              <a:ext cx="273" cy="145"/>
            </a:xfrm>
            <a:prstGeom prst="rect">
              <a:avLst/>
            </a:prstGeom>
            <a:solidFill>
              <a:srgbClr val="FFCC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3" name="Rectangle 58"/>
            <p:cNvSpPr>
              <a:spLocks noChangeArrowheads="1"/>
            </p:cNvSpPr>
            <p:nvPr/>
          </p:nvSpPr>
          <p:spPr bwMode="auto">
            <a:xfrm>
              <a:off x="4209" y="970"/>
              <a:ext cx="273" cy="145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4" name="Text Box 59"/>
            <p:cNvSpPr txBox="1">
              <a:spLocks noChangeArrowheads="1"/>
            </p:cNvSpPr>
            <p:nvPr/>
          </p:nvSpPr>
          <p:spPr bwMode="auto">
            <a:xfrm>
              <a:off x="533" y="863"/>
              <a:ext cx="297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u="none"/>
                <a:t>T</a:t>
              </a:r>
              <a:r>
                <a:rPr lang="en-US" u="none" baseline="-25000"/>
                <a:t>1</a:t>
              </a:r>
              <a:endParaRPr lang="en-US" u="none"/>
            </a:p>
          </p:txBody>
        </p:sp>
        <p:sp>
          <p:nvSpPr>
            <p:cNvPr id="20535" name="Text Box 60"/>
            <p:cNvSpPr txBox="1">
              <a:spLocks noChangeArrowheads="1"/>
            </p:cNvSpPr>
            <p:nvPr/>
          </p:nvSpPr>
          <p:spPr bwMode="auto">
            <a:xfrm>
              <a:off x="530" y="1238"/>
              <a:ext cx="297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u="none"/>
                <a:t>T</a:t>
              </a:r>
              <a:r>
                <a:rPr lang="en-US" u="none" baseline="-25000"/>
                <a:t>2</a:t>
              </a:r>
              <a:endParaRPr lang="en-US" u="none"/>
            </a:p>
          </p:txBody>
        </p:sp>
        <p:sp>
          <p:nvSpPr>
            <p:cNvPr id="20536" name="Text Box 61"/>
            <p:cNvSpPr txBox="1">
              <a:spLocks noChangeArrowheads="1"/>
            </p:cNvSpPr>
            <p:nvPr/>
          </p:nvSpPr>
          <p:spPr bwMode="auto">
            <a:xfrm>
              <a:off x="527" y="1613"/>
              <a:ext cx="297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u="none"/>
                <a:t>T</a:t>
              </a:r>
              <a:r>
                <a:rPr lang="en-US" u="none" baseline="-25000"/>
                <a:t>3</a:t>
              </a:r>
              <a:endParaRPr lang="en-US" u="none"/>
            </a:p>
          </p:txBody>
        </p:sp>
        <p:sp>
          <p:nvSpPr>
            <p:cNvPr id="20537" name="Text Box 62"/>
            <p:cNvSpPr txBox="1">
              <a:spLocks noChangeArrowheads="1"/>
            </p:cNvSpPr>
            <p:nvPr/>
          </p:nvSpPr>
          <p:spPr bwMode="auto">
            <a:xfrm>
              <a:off x="344" y="1934"/>
              <a:ext cx="269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u="none"/>
                <a:t>T</a:t>
              </a:r>
              <a:r>
                <a:rPr lang="en-US" u="none" baseline="-25000"/>
                <a:t>i</a:t>
              </a:r>
              <a:endParaRPr lang="en-US" u="none"/>
            </a:p>
          </p:txBody>
        </p:sp>
      </p:grpSp>
      <p:sp>
        <p:nvSpPr>
          <p:cNvPr id="20484" name="Text Box 63"/>
          <p:cNvSpPr txBox="1">
            <a:spLocks noChangeArrowheads="1"/>
          </p:cNvSpPr>
          <p:nvPr/>
        </p:nvSpPr>
        <p:spPr bwMode="auto">
          <a:xfrm>
            <a:off x="506413" y="3905250"/>
            <a:ext cx="8455025" cy="701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/>
            <a:r>
              <a:rPr lang="en-US" sz="2000" u="none">
                <a:latin typeface="Comic Sans MS" pitchFamily="66" charset="0"/>
              </a:rPr>
              <a:t>For any L over the range p</a:t>
            </a:r>
            <a:r>
              <a:rPr lang="en-US" sz="2000" u="none" baseline="-25000">
                <a:latin typeface="Comic Sans MS" pitchFamily="66" charset="0"/>
              </a:rPr>
              <a:t>1</a:t>
            </a:r>
            <a:r>
              <a:rPr lang="en-US" sz="2000" u="none">
                <a:latin typeface="Comic Sans MS" pitchFamily="66" charset="0"/>
              </a:rPr>
              <a:t> &lt; L &lt; p</a:t>
            </a:r>
            <a:r>
              <a:rPr lang="en-US" sz="2000" u="none" baseline="-25000">
                <a:latin typeface="Comic Sans MS" pitchFamily="66" charset="0"/>
              </a:rPr>
              <a:t>i</a:t>
            </a:r>
            <a:r>
              <a:rPr lang="en-US" sz="2000" u="none">
                <a:latin typeface="Comic Sans MS" pitchFamily="66" charset="0"/>
              </a:rPr>
              <a:t>, the total demand on the processor in [t, t + L] due to jobs with deadlines at or before t + L is:</a:t>
            </a:r>
          </a:p>
        </p:txBody>
      </p:sp>
      <p:sp>
        <p:nvSpPr>
          <p:cNvPr id="20485" name="Text Box 65"/>
          <p:cNvSpPr txBox="1">
            <a:spLocks noChangeArrowheads="1"/>
          </p:cNvSpPr>
          <p:nvPr/>
        </p:nvSpPr>
        <p:spPr bwMode="auto">
          <a:xfrm>
            <a:off x="596900" y="5634038"/>
            <a:ext cx="8234363" cy="701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en-US" sz="2000" u="none">
                <a:latin typeface="Comic Sans MS" pitchFamily="66" charset="0"/>
              </a:rPr>
              <a:t>For the system to be schedulable, this demand must not exceed the</a:t>
            </a:r>
          </a:p>
          <a:p>
            <a:pPr algn="l"/>
            <a:r>
              <a:rPr lang="en-US" sz="2000" u="none">
                <a:latin typeface="Comic Sans MS" pitchFamily="66" charset="0"/>
              </a:rPr>
              <a:t>length of the interval (which is L).</a:t>
            </a:r>
          </a:p>
        </p:txBody>
      </p:sp>
      <p:pic>
        <p:nvPicPr>
          <p:cNvPr id="20486" name="Picture 6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55875" y="4492625"/>
            <a:ext cx="2470150" cy="11239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312738"/>
            <a:ext cx="8280400" cy="908050"/>
          </a:xfrm>
        </p:spPr>
        <p:txBody>
          <a:bodyPr/>
          <a:lstStyle/>
          <a:p>
            <a:r>
              <a:rPr lang="en-US" smtClean="0"/>
              <a:t>Proof of Theorem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403225" y="1412875"/>
            <a:ext cx="8289925" cy="4968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/>
            <a:r>
              <a:rPr lang="en-US" sz="2000" u="none">
                <a:latin typeface="Comic Sans MS" pitchFamily="66" charset="0"/>
              </a:rPr>
              <a:t>Suppose conditions (1) and (2) hold for </a:t>
            </a:r>
            <a:r>
              <a:rPr lang="en-US" sz="2000" b="1" u="none">
                <a:latin typeface="Comic Sans MS" pitchFamily="66" charset="0"/>
              </a:rPr>
              <a:t>T</a:t>
            </a:r>
            <a:r>
              <a:rPr lang="en-US" sz="2000" u="none">
                <a:latin typeface="Comic Sans MS" pitchFamily="66" charset="0"/>
              </a:rPr>
              <a:t> but a deadline is missed.</a:t>
            </a:r>
          </a:p>
          <a:p>
            <a:pPr algn="l"/>
            <a:r>
              <a:rPr lang="en-US" sz="2000" u="none">
                <a:latin typeface="Comic Sans MS" pitchFamily="66" charset="0"/>
              </a:rPr>
              <a:t>Let t</a:t>
            </a:r>
            <a:r>
              <a:rPr lang="en-US" sz="2000" u="none" baseline="-25000">
                <a:latin typeface="Comic Sans MS" pitchFamily="66" charset="0"/>
              </a:rPr>
              <a:t>d</a:t>
            </a:r>
            <a:r>
              <a:rPr lang="en-US" sz="2000" u="none">
                <a:latin typeface="Comic Sans MS" pitchFamily="66" charset="0"/>
              </a:rPr>
              <a:t> be the earliest point in time at which a deadline is missed.</a:t>
            </a:r>
          </a:p>
          <a:p>
            <a:pPr algn="l"/>
            <a:endParaRPr lang="en-US" sz="2000" u="none">
              <a:latin typeface="Comic Sans MS" pitchFamily="66" charset="0"/>
            </a:endParaRPr>
          </a:p>
          <a:p>
            <a:pPr algn="l"/>
            <a:r>
              <a:rPr lang="en-US" sz="2000" u="none">
                <a:latin typeface="Comic Sans MS" pitchFamily="66" charset="0"/>
              </a:rPr>
              <a:t>There are two cases:</a:t>
            </a:r>
          </a:p>
          <a:p>
            <a:pPr algn="l"/>
            <a:endParaRPr lang="en-US" sz="2000" u="none">
              <a:latin typeface="Comic Sans MS" pitchFamily="66" charset="0"/>
            </a:endParaRPr>
          </a:p>
          <a:p>
            <a:pPr algn="l"/>
            <a:r>
              <a:rPr lang="en-US" sz="2000" b="1" u="none">
                <a:solidFill>
                  <a:srgbClr val="CC0000"/>
                </a:solidFill>
                <a:latin typeface="Comic Sans MS" pitchFamily="66" charset="0"/>
              </a:rPr>
              <a:t>Case 1:</a:t>
            </a:r>
            <a:r>
              <a:rPr lang="en-US" sz="2000" u="none">
                <a:latin typeface="Comic Sans MS" pitchFamily="66" charset="0"/>
              </a:rPr>
              <a:t> 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</a:rPr>
              <a:t>No job with a deadline after time t</a:t>
            </a:r>
            <a:r>
              <a:rPr lang="en-US" sz="2000" u="none" baseline="-25000">
                <a:solidFill>
                  <a:schemeClr val="tx2"/>
                </a:solidFill>
                <a:latin typeface="Comic Sans MS" pitchFamily="66" charset="0"/>
              </a:rPr>
              <a:t>d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</a:rPr>
              <a:t> is scheduled prior to time t</a:t>
            </a:r>
            <a:r>
              <a:rPr lang="en-US" sz="2000" u="none" baseline="-25000">
                <a:solidFill>
                  <a:schemeClr val="tx2"/>
                </a:solidFill>
                <a:latin typeface="Comic Sans MS" pitchFamily="66" charset="0"/>
              </a:rPr>
              <a:t>d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</a:rPr>
              <a:t>.</a:t>
            </a:r>
            <a:r>
              <a:rPr lang="en-US" sz="2000" u="none">
                <a:latin typeface="Comic Sans MS" pitchFamily="66" charset="0"/>
              </a:rPr>
              <a:t>  The analysis is just like with preemptive EDF.</a:t>
            </a:r>
          </a:p>
          <a:p>
            <a:pPr algn="l"/>
            <a:endParaRPr lang="en-US" sz="2000" u="none">
              <a:latin typeface="Comic Sans MS" pitchFamily="66" charset="0"/>
            </a:endParaRPr>
          </a:p>
          <a:p>
            <a:pPr algn="l"/>
            <a:r>
              <a:rPr lang="en-US" sz="2000" u="none">
                <a:latin typeface="Comic Sans MS" pitchFamily="66" charset="0"/>
              </a:rPr>
              <a:t>As before, let t</a:t>
            </a:r>
            <a:r>
              <a:rPr lang="en-US" sz="2000" u="none" baseline="-25000">
                <a:latin typeface="Comic Sans MS" pitchFamily="66" charset="0"/>
              </a:rPr>
              <a:t>-1</a:t>
            </a:r>
            <a:r>
              <a:rPr lang="en-US" sz="2000" u="none">
                <a:latin typeface="Comic Sans MS" pitchFamily="66" charset="0"/>
              </a:rPr>
              <a:t> be the last “idle instant”. </a:t>
            </a:r>
          </a:p>
          <a:p>
            <a:pPr algn="l"/>
            <a:r>
              <a:rPr lang="en-US" sz="2000" u="none">
                <a:latin typeface="Comic Sans MS" pitchFamily="66" charset="0"/>
              </a:rPr>
              <a:t>As before, because a deadline is missed at t</a:t>
            </a:r>
            <a:r>
              <a:rPr lang="en-US" sz="2000" u="none" baseline="-25000">
                <a:latin typeface="Comic Sans MS" pitchFamily="66" charset="0"/>
              </a:rPr>
              <a:t>d</a:t>
            </a:r>
            <a:r>
              <a:rPr lang="en-US" sz="2000" u="none">
                <a:latin typeface="Comic Sans MS" pitchFamily="66" charset="0"/>
              </a:rPr>
              <a:t>,</a:t>
            </a:r>
          </a:p>
          <a:p>
            <a:pPr algn="l"/>
            <a:r>
              <a:rPr lang="en-US" sz="2000" u="none">
                <a:latin typeface="Comic Sans MS" pitchFamily="66" charset="0"/>
              </a:rPr>
              <a:t>demand over [t</a:t>
            </a:r>
            <a:r>
              <a:rPr lang="en-US" sz="2000" u="none" baseline="-25000">
                <a:latin typeface="Comic Sans MS" pitchFamily="66" charset="0"/>
              </a:rPr>
              <a:t>-1</a:t>
            </a:r>
            <a:r>
              <a:rPr lang="en-US" sz="2000" u="none">
                <a:latin typeface="Comic Sans MS" pitchFamily="66" charset="0"/>
              </a:rPr>
              <a:t>, t</a:t>
            </a:r>
            <a:r>
              <a:rPr lang="en-US" sz="2000" u="none" baseline="-25000">
                <a:latin typeface="Comic Sans MS" pitchFamily="66" charset="0"/>
              </a:rPr>
              <a:t>d</a:t>
            </a:r>
            <a:r>
              <a:rPr lang="en-US" sz="2000" u="none">
                <a:latin typeface="Comic Sans MS" pitchFamily="66" charset="0"/>
              </a:rPr>
              <a:t>] exceeds t</a:t>
            </a:r>
            <a:r>
              <a:rPr lang="en-US" sz="2000" u="none" baseline="-25000">
                <a:latin typeface="Comic Sans MS" pitchFamily="66" charset="0"/>
              </a:rPr>
              <a:t>d</a:t>
            </a:r>
            <a:r>
              <a:rPr lang="en-US" sz="2000" u="none">
                <a:latin typeface="Comic Sans MS" pitchFamily="66" charset="0"/>
              </a:rPr>
              <a:t> </a:t>
            </a:r>
            <a:r>
              <a:rPr lang="en-US" sz="2000" u="none">
                <a:latin typeface="Comic Sans MS" pitchFamily="66" charset="0"/>
                <a:sym typeface="Symbol" pitchFamily="82" charset="2"/>
              </a:rPr>
              <a:t> t</a:t>
            </a:r>
            <a:r>
              <a:rPr lang="en-US" sz="2000" u="none" baseline="-25000">
                <a:latin typeface="Comic Sans MS" pitchFamily="66" charset="0"/>
                <a:sym typeface="Symbol" pitchFamily="82" charset="2"/>
              </a:rPr>
              <a:t>-1</a:t>
            </a:r>
            <a:r>
              <a:rPr lang="en-US" sz="2000" u="none">
                <a:latin typeface="Comic Sans MS" pitchFamily="66" charset="0"/>
                <a:sym typeface="Symbol" pitchFamily="82" charset="2"/>
              </a:rPr>
              <a:t>.</a:t>
            </a:r>
          </a:p>
          <a:p>
            <a:pPr algn="l"/>
            <a:r>
              <a:rPr lang="en-US" sz="2000" u="none">
                <a:latin typeface="Comic Sans MS" pitchFamily="66" charset="0"/>
                <a:sym typeface="Symbol" pitchFamily="82" charset="2"/>
              </a:rPr>
              <a:t>In addition, this demand is at most </a:t>
            </a:r>
            <a:r>
              <a:rPr lang="en-US" sz="2000" u="none" baseline="-25000">
                <a:latin typeface="Comic Sans MS" pitchFamily="66" charset="0"/>
                <a:sym typeface="Symbol" pitchFamily="82" charset="2"/>
              </a:rPr>
              <a:t>j=1,..,n</a:t>
            </a:r>
            <a:r>
              <a:rPr lang="en-US" sz="2000" u="none">
                <a:latin typeface="Comic Sans MS" pitchFamily="66" charset="0"/>
                <a:sym typeface="Symbol" pitchFamily="82" charset="2"/>
              </a:rPr>
              <a:t> (</a:t>
            </a:r>
            <a:r>
              <a:rPr lang="en-US" sz="2000" u="none">
                <a:latin typeface="Comic Sans MS" pitchFamily="66" charset="0"/>
              </a:rPr>
              <a:t>t</a:t>
            </a:r>
            <a:r>
              <a:rPr lang="en-US" sz="2000" u="none" baseline="-25000">
                <a:latin typeface="Comic Sans MS" pitchFamily="66" charset="0"/>
              </a:rPr>
              <a:t>d</a:t>
            </a:r>
            <a:r>
              <a:rPr lang="en-US" sz="2000" u="none">
                <a:latin typeface="Comic Sans MS" pitchFamily="66" charset="0"/>
              </a:rPr>
              <a:t> </a:t>
            </a:r>
            <a:r>
              <a:rPr lang="en-US" sz="2000" u="none">
                <a:latin typeface="Comic Sans MS" pitchFamily="66" charset="0"/>
                <a:sym typeface="Symbol" pitchFamily="82" charset="2"/>
              </a:rPr>
              <a:t> t</a:t>
            </a:r>
            <a:r>
              <a:rPr lang="en-US" sz="2000" u="none" baseline="-25000">
                <a:latin typeface="Comic Sans MS" pitchFamily="66" charset="0"/>
                <a:sym typeface="Symbol" pitchFamily="82" charset="2"/>
              </a:rPr>
              <a:t>-1</a:t>
            </a:r>
            <a:r>
              <a:rPr lang="en-US" sz="2000" u="none">
                <a:latin typeface="Comic Sans MS" pitchFamily="66" charset="0"/>
                <a:sym typeface="Symbol" pitchFamily="82" charset="2"/>
              </a:rPr>
              <a:t>)/p</a:t>
            </a:r>
            <a:r>
              <a:rPr lang="en-US" sz="2000" u="none" baseline="-25000">
                <a:latin typeface="Comic Sans MS" pitchFamily="66" charset="0"/>
                <a:sym typeface="Symbol" pitchFamily="82" charset="2"/>
              </a:rPr>
              <a:t>j</a:t>
            </a:r>
            <a:r>
              <a:rPr lang="en-US" sz="2000" u="none">
                <a:latin typeface="Comic Sans MS" pitchFamily="66" charset="0"/>
                <a:sym typeface="Symbol" pitchFamily="82" charset="2"/>
              </a:rPr>
              <a:t>e</a:t>
            </a:r>
            <a:r>
              <a:rPr lang="en-US" sz="2000" u="none" baseline="-25000">
                <a:latin typeface="Comic Sans MS" pitchFamily="66" charset="0"/>
                <a:sym typeface="Symbol" pitchFamily="82" charset="2"/>
              </a:rPr>
              <a:t>j</a:t>
            </a:r>
            <a:r>
              <a:rPr lang="en-US" sz="2000" u="none">
                <a:latin typeface="Comic Sans MS" pitchFamily="66" charset="0"/>
                <a:sym typeface="Symbol" pitchFamily="82" charset="2"/>
              </a:rPr>
              <a:t>.</a:t>
            </a:r>
          </a:p>
          <a:p>
            <a:pPr algn="l"/>
            <a:endParaRPr lang="en-US" sz="2000" u="none">
              <a:latin typeface="Comic Sans MS" pitchFamily="66" charset="0"/>
              <a:sym typeface="Symbol" pitchFamily="82" charset="2"/>
            </a:endParaRPr>
          </a:p>
          <a:p>
            <a:pPr algn="l"/>
            <a:r>
              <a:rPr lang="en-US" sz="2000" u="none">
                <a:latin typeface="Comic Sans MS" pitchFamily="66" charset="0"/>
                <a:sym typeface="Symbol" pitchFamily="82" charset="2"/>
              </a:rPr>
              <a:t>Thus, we have 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</a:rPr>
              <a:t>t</a:t>
            </a:r>
            <a:r>
              <a:rPr lang="en-US" sz="2000" u="none" baseline="-25000">
                <a:solidFill>
                  <a:schemeClr val="tx2"/>
                </a:solidFill>
                <a:latin typeface="Comic Sans MS" pitchFamily="66" charset="0"/>
              </a:rPr>
              <a:t>d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</a:rPr>
              <a:t> 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  <a:sym typeface="Symbol" pitchFamily="82" charset="2"/>
              </a:rPr>
              <a:t> t</a:t>
            </a:r>
            <a:r>
              <a:rPr lang="en-US" sz="2000" u="none" baseline="-25000">
                <a:solidFill>
                  <a:schemeClr val="tx2"/>
                </a:solidFill>
                <a:latin typeface="Comic Sans MS" pitchFamily="66" charset="0"/>
                <a:sym typeface="Symbol" pitchFamily="82" charset="2"/>
              </a:rPr>
              <a:t>-1 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  <a:sym typeface="Symbol" pitchFamily="82" charset="2"/>
              </a:rPr>
              <a:t>&lt; </a:t>
            </a:r>
            <a:r>
              <a:rPr lang="en-US" sz="2000" u="none" baseline="-25000">
                <a:solidFill>
                  <a:schemeClr val="tx2"/>
                </a:solidFill>
                <a:latin typeface="Comic Sans MS" pitchFamily="66" charset="0"/>
                <a:sym typeface="Symbol" pitchFamily="82" charset="2"/>
              </a:rPr>
              <a:t>j=1,..,n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  <a:sym typeface="Symbol" pitchFamily="82" charset="2"/>
              </a:rPr>
              <a:t> (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</a:rPr>
              <a:t>t</a:t>
            </a:r>
            <a:r>
              <a:rPr lang="en-US" sz="2000" u="none" baseline="-25000">
                <a:solidFill>
                  <a:schemeClr val="tx2"/>
                </a:solidFill>
                <a:latin typeface="Comic Sans MS" pitchFamily="66" charset="0"/>
              </a:rPr>
              <a:t>d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</a:rPr>
              <a:t> 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  <a:sym typeface="Symbol" pitchFamily="82" charset="2"/>
              </a:rPr>
              <a:t> t</a:t>
            </a:r>
            <a:r>
              <a:rPr lang="en-US" sz="2000" u="none" baseline="-25000">
                <a:solidFill>
                  <a:schemeClr val="tx2"/>
                </a:solidFill>
                <a:latin typeface="Comic Sans MS" pitchFamily="66" charset="0"/>
                <a:sym typeface="Symbol" pitchFamily="82" charset="2"/>
              </a:rPr>
              <a:t>-1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  <a:sym typeface="Symbol" pitchFamily="82" charset="2"/>
              </a:rPr>
              <a:t>)/p</a:t>
            </a:r>
            <a:r>
              <a:rPr lang="en-US" sz="2000" u="none" baseline="-25000">
                <a:solidFill>
                  <a:schemeClr val="tx2"/>
                </a:solidFill>
                <a:latin typeface="Comic Sans MS" pitchFamily="66" charset="0"/>
                <a:sym typeface="Symbol" pitchFamily="82" charset="2"/>
              </a:rPr>
              <a:t>j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  <a:sym typeface="Symbol" pitchFamily="82" charset="2"/>
              </a:rPr>
              <a:t>e</a:t>
            </a:r>
            <a:r>
              <a:rPr lang="en-US" sz="2000" u="none" baseline="-25000">
                <a:solidFill>
                  <a:schemeClr val="tx2"/>
                </a:solidFill>
                <a:latin typeface="Comic Sans MS" pitchFamily="66" charset="0"/>
                <a:sym typeface="Symbol" pitchFamily="82" charset="2"/>
              </a:rPr>
              <a:t>j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  <a:sym typeface="Symbol" pitchFamily="82" charset="2"/>
              </a:rPr>
              <a:t>  </a:t>
            </a:r>
            <a:r>
              <a:rPr lang="en-US" sz="2000" u="none" baseline="-25000">
                <a:solidFill>
                  <a:schemeClr val="tx2"/>
                </a:solidFill>
                <a:latin typeface="Comic Sans MS" pitchFamily="66" charset="0"/>
                <a:sym typeface="Symbol" pitchFamily="82" charset="2"/>
              </a:rPr>
              <a:t>j=1,..,n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  <a:sym typeface="Symbol" pitchFamily="82" charset="2"/>
              </a:rPr>
              <a:t> [(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</a:rPr>
              <a:t>t</a:t>
            </a:r>
            <a:r>
              <a:rPr lang="en-US" sz="2000" u="none" baseline="-25000">
                <a:solidFill>
                  <a:schemeClr val="tx2"/>
                </a:solidFill>
                <a:latin typeface="Comic Sans MS" pitchFamily="66" charset="0"/>
              </a:rPr>
              <a:t>d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</a:rPr>
              <a:t> 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  <a:sym typeface="Symbol" pitchFamily="82" charset="2"/>
              </a:rPr>
              <a:t> t</a:t>
            </a:r>
            <a:r>
              <a:rPr lang="en-US" sz="2000" u="none" baseline="-25000">
                <a:solidFill>
                  <a:schemeClr val="tx2"/>
                </a:solidFill>
                <a:latin typeface="Comic Sans MS" pitchFamily="66" charset="0"/>
                <a:sym typeface="Symbol" pitchFamily="82" charset="2"/>
              </a:rPr>
              <a:t>-1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  <a:sym typeface="Symbol" pitchFamily="82" charset="2"/>
              </a:rPr>
              <a:t>)/p</a:t>
            </a:r>
            <a:r>
              <a:rPr lang="en-US" sz="2000" u="none" baseline="-25000">
                <a:solidFill>
                  <a:schemeClr val="tx2"/>
                </a:solidFill>
                <a:latin typeface="Comic Sans MS" pitchFamily="66" charset="0"/>
                <a:sym typeface="Symbol" pitchFamily="82" charset="2"/>
              </a:rPr>
              <a:t>j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  <a:sym typeface="Symbol" pitchFamily="82" charset="2"/>
              </a:rPr>
              <a:t>]e</a:t>
            </a:r>
            <a:r>
              <a:rPr lang="en-US" sz="2000" u="none" baseline="-25000">
                <a:solidFill>
                  <a:schemeClr val="tx2"/>
                </a:solidFill>
                <a:latin typeface="Comic Sans MS" pitchFamily="66" charset="0"/>
                <a:sym typeface="Symbol" pitchFamily="82" charset="2"/>
              </a:rPr>
              <a:t>j</a:t>
            </a:r>
            <a:r>
              <a:rPr lang="en-US" sz="2000" u="none">
                <a:latin typeface="Comic Sans MS" pitchFamily="66" charset="0"/>
                <a:sym typeface="Symbol" pitchFamily="82" charset="2"/>
              </a:rPr>
              <a:t>.</a:t>
            </a:r>
          </a:p>
          <a:p>
            <a:pPr algn="l"/>
            <a:endParaRPr lang="en-US" sz="2000" u="none">
              <a:latin typeface="Comic Sans MS" pitchFamily="66" charset="0"/>
              <a:sym typeface="Symbol" pitchFamily="82" charset="2"/>
            </a:endParaRPr>
          </a:p>
          <a:p>
            <a:pPr algn="l"/>
            <a:r>
              <a:rPr lang="en-US" sz="2000" u="none">
                <a:solidFill>
                  <a:srgbClr val="CC0000"/>
                </a:solidFill>
                <a:latin typeface="Comic Sans MS" pitchFamily="66" charset="0"/>
                <a:sym typeface="Symbol" pitchFamily="82" charset="2"/>
              </a:rPr>
              <a:t>This implies utilization exceeds one, which contradicts condition (1).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312738"/>
            <a:ext cx="8280400" cy="908050"/>
          </a:xfrm>
        </p:spPr>
        <p:txBody>
          <a:bodyPr/>
          <a:lstStyle/>
          <a:p>
            <a:r>
              <a:rPr lang="en-US" smtClean="0"/>
              <a:t>Proof (Continued)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403225" y="1500188"/>
            <a:ext cx="8740775" cy="13112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/>
            <a:r>
              <a:rPr lang="en-US" sz="2000" b="1" u="none">
                <a:solidFill>
                  <a:srgbClr val="CC0000"/>
                </a:solidFill>
                <a:latin typeface="Comic Sans MS" pitchFamily="66" charset="0"/>
              </a:rPr>
              <a:t>Case 2:</a:t>
            </a:r>
            <a:r>
              <a:rPr lang="en-US" sz="2000" u="none">
                <a:latin typeface="Comic Sans MS" pitchFamily="66" charset="0"/>
              </a:rPr>
              <a:t> 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</a:rPr>
              <a:t>Some job with a deadline after time t</a:t>
            </a:r>
            <a:r>
              <a:rPr lang="en-US" sz="2000" u="none" baseline="-25000">
                <a:solidFill>
                  <a:schemeClr val="tx2"/>
                </a:solidFill>
                <a:latin typeface="Comic Sans MS" pitchFamily="66" charset="0"/>
              </a:rPr>
              <a:t>d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</a:rPr>
              <a:t> is scheduled prior to t</a:t>
            </a:r>
            <a:r>
              <a:rPr lang="en-US" sz="2000" u="none" baseline="-25000">
                <a:solidFill>
                  <a:schemeClr val="tx2"/>
                </a:solidFill>
                <a:latin typeface="Comic Sans MS" pitchFamily="66" charset="0"/>
              </a:rPr>
              <a:t>d</a:t>
            </a:r>
            <a:r>
              <a:rPr lang="en-US" sz="2000" u="none">
                <a:solidFill>
                  <a:schemeClr val="tx2"/>
                </a:solidFill>
                <a:latin typeface="Comic Sans MS" pitchFamily="66" charset="0"/>
              </a:rPr>
              <a:t>.</a:t>
            </a:r>
          </a:p>
          <a:p>
            <a:pPr algn="l"/>
            <a:endParaRPr lang="en-US" sz="2000" u="none">
              <a:solidFill>
                <a:schemeClr val="tx2"/>
              </a:solidFill>
              <a:latin typeface="Comic Sans MS" pitchFamily="66" charset="0"/>
            </a:endParaRPr>
          </a:p>
          <a:p>
            <a:pPr algn="l"/>
            <a:r>
              <a:rPr lang="en-US" sz="2000" u="none">
                <a:latin typeface="Comic Sans MS" pitchFamily="66" charset="0"/>
              </a:rPr>
              <a:t>Let T</a:t>
            </a:r>
            <a:r>
              <a:rPr lang="en-US" sz="2000" u="none" baseline="-25000">
                <a:latin typeface="Comic Sans MS" pitchFamily="66" charset="0"/>
              </a:rPr>
              <a:t>i</a:t>
            </a:r>
            <a:r>
              <a:rPr lang="en-US" sz="2000" u="none">
                <a:latin typeface="Comic Sans MS" pitchFamily="66" charset="0"/>
              </a:rPr>
              <a:t> be the task with the last job with a deadline after t</a:t>
            </a:r>
            <a:r>
              <a:rPr lang="en-US" sz="2000" u="none" baseline="-25000">
                <a:latin typeface="Comic Sans MS" pitchFamily="66" charset="0"/>
              </a:rPr>
              <a:t>d</a:t>
            </a:r>
            <a:r>
              <a:rPr lang="en-US" sz="2000" u="none">
                <a:latin typeface="Comic Sans MS" pitchFamily="66" charset="0"/>
              </a:rPr>
              <a:t> that is</a:t>
            </a:r>
          </a:p>
          <a:p>
            <a:pPr algn="l"/>
            <a:r>
              <a:rPr lang="en-US" sz="2000" u="none">
                <a:latin typeface="Comic Sans MS" pitchFamily="66" charset="0"/>
              </a:rPr>
              <a:t>scheduled prior to t</a:t>
            </a:r>
            <a:r>
              <a:rPr lang="en-US" sz="2000" u="none" baseline="-25000">
                <a:latin typeface="Comic Sans MS" pitchFamily="66" charset="0"/>
              </a:rPr>
              <a:t>d</a:t>
            </a:r>
            <a:r>
              <a:rPr lang="en-US" sz="2000" u="none">
                <a:latin typeface="Comic Sans MS" pitchFamily="66" charset="0"/>
              </a:rPr>
              <a:t>.  Then, we have the following:</a:t>
            </a:r>
          </a:p>
        </p:txBody>
      </p:sp>
      <p:grpSp>
        <p:nvGrpSpPr>
          <p:cNvPr id="22532" name="Group 20"/>
          <p:cNvGrpSpPr>
            <a:grpSpLocks/>
          </p:cNvGrpSpPr>
          <p:nvPr/>
        </p:nvGrpSpPr>
        <p:grpSpPr bwMode="auto">
          <a:xfrm>
            <a:off x="1033463" y="2971800"/>
            <a:ext cx="6743700" cy="1792288"/>
            <a:chOff x="651" y="1755"/>
            <a:chExt cx="4248" cy="1129"/>
          </a:xfrm>
        </p:grpSpPr>
        <p:sp>
          <p:nvSpPr>
            <p:cNvPr id="22534" name="Rectangle 18"/>
            <p:cNvSpPr>
              <a:spLocks noChangeArrowheads="1"/>
            </p:cNvSpPr>
            <p:nvPr/>
          </p:nvSpPr>
          <p:spPr bwMode="auto">
            <a:xfrm>
              <a:off x="3818" y="1813"/>
              <a:ext cx="727" cy="128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5" name="Line 4"/>
            <p:cNvSpPr>
              <a:spLocks noChangeShapeType="1"/>
            </p:cNvSpPr>
            <p:nvPr/>
          </p:nvSpPr>
          <p:spPr bwMode="auto">
            <a:xfrm>
              <a:off x="1218" y="2494"/>
              <a:ext cx="368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6" name="Line 5"/>
            <p:cNvSpPr>
              <a:spLocks noChangeShapeType="1"/>
            </p:cNvSpPr>
            <p:nvPr/>
          </p:nvSpPr>
          <p:spPr bwMode="auto">
            <a:xfrm>
              <a:off x="1827" y="2494"/>
              <a:ext cx="0" cy="1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7" name="Line 6"/>
            <p:cNvSpPr>
              <a:spLocks noChangeShapeType="1"/>
            </p:cNvSpPr>
            <p:nvPr/>
          </p:nvSpPr>
          <p:spPr bwMode="auto">
            <a:xfrm>
              <a:off x="4222" y="2499"/>
              <a:ext cx="0" cy="1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8" name="Line 7"/>
            <p:cNvSpPr>
              <a:spLocks noChangeShapeType="1"/>
            </p:cNvSpPr>
            <p:nvPr/>
          </p:nvSpPr>
          <p:spPr bwMode="auto">
            <a:xfrm>
              <a:off x="1545" y="2340"/>
              <a:ext cx="31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9" name="Line 8"/>
            <p:cNvSpPr>
              <a:spLocks noChangeShapeType="1"/>
            </p:cNvSpPr>
            <p:nvPr/>
          </p:nvSpPr>
          <p:spPr bwMode="auto">
            <a:xfrm flipV="1">
              <a:off x="1545" y="2158"/>
              <a:ext cx="0" cy="18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0" name="Line 9"/>
            <p:cNvSpPr>
              <a:spLocks noChangeShapeType="1"/>
            </p:cNvSpPr>
            <p:nvPr/>
          </p:nvSpPr>
          <p:spPr bwMode="auto">
            <a:xfrm flipV="1">
              <a:off x="4713" y="2154"/>
              <a:ext cx="0" cy="18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1" name="Line 10"/>
            <p:cNvSpPr>
              <a:spLocks noChangeShapeType="1"/>
            </p:cNvSpPr>
            <p:nvPr/>
          </p:nvSpPr>
          <p:spPr bwMode="auto">
            <a:xfrm>
              <a:off x="2405" y="1941"/>
              <a:ext cx="18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2" name="Line 11"/>
            <p:cNvSpPr>
              <a:spLocks noChangeShapeType="1"/>
            </p:cNvSpPr>
            <p:nvPr/>
          </p:nvSpPr>
          <p:spPr bwMode="auto">
            <a:xfrm flipV="1">
              <a:off x="4228" y="1768"/>
              <a:ext cx="0" cy="18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3" name="Line 12"/>
            <p:cNvSpPr>
              <a:spLocks noChangeShapeType="1"/>
            </p:cNvSpPr>
            <p:nvPr/>
          </p:nvSpPr>
          <p:spPr bwMode="auto">
            <a:xfrm flipV="1">
              <a:off x="2406" y="1755"/>
              <a:ext cx="0" cy="18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4" name="Text Box 13"/>
            <p:cNvSpPr txBox="1">
              <a:spLocks noChangeArrowheads="1"/>
            </p:cNvSpPr>
            <p:nvPr/>
          </p:nvSpPr>
          <p:spPr bwMode="auto">
            <a:xfrm>
              <a:off x="1750" y="2590"/>
              <a:ext cx="205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u="none"/>
                <a:t>t</a:t>
              </a:r>
              <a:r>
                <a:rPr lang="en-US" u="none" baseline="-25000"/>
                <a:t>i</a:t>
              </a:r>
              <a:endParaRPr lang="en-US" u="none"/>
            </a:p>
          </p:txBody>
        </p:sp>
        <p:sp>
          <p:nvSpPr>
            <p:cNvPr id="22545" name="Text Box 14"/>
            <p:cNvSpPr txBox="1">
              <a:spLocks noChangeArrowheads="1"/>
            </p:cNvSpPr>
            <p:nvPr/>
          </p:nvSpPr>
          <p:spPr bwMode="auto">
            <a:xfrm>
              <a:off x="4141" y="2596"/>
              <a:ext cx="233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u="none"/>
                <a:t>t</a:t>
              </a:r>
              <a:r>
                <a:rPr lang="en-US" u="none" baseline="-25000"/>
                <a:t>d</a:t>
              </a:r>
              <a:endParaRPr lang="en-US" u="none"/>
            </a:p>
          </p:txBody>
        </p:sp>
        <p:sp>
          <p:nvSpPr>
            <p:cNvPr id="22546" name="Text Box 15"/>
            <p:cNvSpPr txBox="1">
              <a:spLocks noChangeArrowheads="1"/>
            </p:cNvSpPr>
            <p:nvPr/>
          </p:nvSpPr>
          <p:spPr bwMode="auto">
            <a:xfrm>
              <a:off x="651" y="2344"/>
              <a:ext cx="520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u="none"/>
                <a:t>Time</a:t>
              </a:r>
            </a:p>
          </p:txBody>
        </p:sp>
        <p:sp>
          <p:nvSpPr>
            <p:cNvPr id="22547" name="Text Box 16"/>
            <p:cNvSpPr txBox="1">
              <a:spLocks noChangeArrowheads="1"/>
            </p:cNvSpPr>
            <p:nvPr/>
          </p:nvSpPr>
          <p:spPr bwMode="auto">
            <a:xfrm>
              <a:off x="1178" y="2099"/>
              <a:ext cx="269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u="none"/>
                <a:t>T</a:t>
              </a:r>
              <a:r>
                <a:rPr lang="en-US" u="none" baseline="-25000"/>
                <a:t>i</a:t>
              </a:r>
              <a:endParaRPr lang="en-US" u="none"/>
            </a:p>
          </p:txBody>
        </p:sp>
        <p:sp>
          <p:nvSpPr>
            <p:cNvPr id="22548" name="Rectangle 17"/>
            <p:cNvSpPr>
              <a:spLocks noChangeArrowheads="1"/>
            </p:cNvSpPr>
            <p:nvPr/>
          </p:nvSpPr>
          <p:spPr bwMode="auto">
            <a:xfrm>
              <a:off x="1827" y="2195"/>
              <a:ext cx="1009" cy="14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533" name="Text Box 19"/>
          <p:cNvSpPr txBox="1">
            <a:spLocks noChangeArrowheads="1"/>
          </p:cNvSpPr>
          <p:nvPr/>
        </p:nvSpPr>
        <p:spPr bwMode="auto">
          <a:xfrm>
            <a:off x="417513" y="4800600"/>
            <a:ext cx="8540750" cy="16160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/>
            <a:r>
              <a:rPr lang="en-US" sz="2000" u="none">
                <a:latin typeface="Comic Sans MS" pitchFamily="66" charset="0"/>
              </a:rPr>
              <a:t>If there is any idle time in [t</a:t>
            </a:r>
            <a:r>
              <a:rPr lang="en-US" sz="2000" u="none" baseline="-25000">
                <a:latin typeface="Comic Sans MS" pitchFamily="66" charset="0"/>
              </a:rPr>
              <a:t>i</a:t>
            </a:r>
            <a:r>
              <a:rPr lang="en-US" sz="2000" u="none">
                <a:latin typeface="Comic Sans MS" pitchFamily="66" charset="0"/>
              </a:rPr>
              <a:t>, t</a:t>
            </a:r>
            <a:r>
              <a:rPr lang="en-US" sz="2000" u="none" baseline="-25000">
                <a:latin typeface="Comic Sans MS" pitchFamily="66" charset="0"/>
              </a:rPr>
              <a:t>d</a:t>
            </a:r>
            <a:r>
              <a:rPr lang="en-US" sz="2000" u="none">
                <a:latin typeface="Comic Sans MS" pitchFamily="66" charset="0"/>
              </a:rPr>
              <a:t>], then there exists an idle instant at or after T</a:t>
            </a:r>
            <a:r>
              <a:rPr lang="en-US" sz="2000" u="none" baseline="-25000">
                <a:latin typeface="Comic Sans MS" pitchFamily="66" charset="0"/>
              </a:rPr>
              <a:t>i</a:t>
            </a:r>
            <a:r>
              <a:rPr lang="en-US" sz="2000" u="none">
                <a:latin typeface="Comic Sans MS" pitchFamily="66" charset="0"/>
              </a:rPr>
              <a:t>’s job finishes and at/before t</a:t>
            </a:r>
            <a:r>
              <a:rPr lang="en-US" sz="2000" u="none" baseline="-25000">
                <a:latin typeface="Comic Sans MS" pitchFamily="66" charset="0"/>
              </a:rPr>
              <a:t>d </a:t>
            </a:r>
            <a:r>
              <a:rPr lang="en-US" sz="2000" u="none">
                <a:latin typeface="Comic Sans MS" pitchFamily="66" charset="0"/>
                <a:sym typeface="Wingdings" pitchFamily="82" charset="2"/>
              </a:rPr>
              <a:t>  reason as </a:t>
            </a:r>
            <a:r>
              <a:rPr lang="en-US" sz="2000" u="none">
                <a:latin typeface="Comic Sans MS" pitchFamily="66" charset="0"/>
              </a:rPr>
              <a:t>in Case 1.</a:t>
            </a:r>
          </a:p>
          <a:p>
            <a:pPr algn="l"/>
            <a:endParaRPr lang="en-US" sz="2000" u="none">
              <a:latin typeface="Comic Sans MS" pitchFamily="66" charset="0"/>
            </a:endParaRPr>
          </a:p>
          <a:p>
            <a:pPr algn="l"/>
            <a:r>
              <a:rPr lang="en-US" sz="2000" u="none">
                <a:latin typeface="Comic Sans MS" pitchFamily="66" charset="0"/>
              </a:rPr>
              <a:t>So, assume there is no idle time in [t</a:t>
            </a:r>
            <a:r>
              <a:rPr lang="en-US" sz="2000" u="none" baseline="-25000">
                <a:latin typeface="Comic Sans MS" pitchFamily="66" charset="0"/>
              </a:rPr>
              <a:t>i</a:t>
            </a:r>
            <a:r>
              <a:rPr lang="en-US" sz="2000" u="none">
                <a:latin typeface="Comic Sans MS" pitchFamily="66" charset="0"/>
              </a:rPr>
              <a:t>, t</a:t>
            </a:r>
            <a:r>
              <a:rPr lang="en-US" sz="2000" u="none" baseline="-25000">
                <a:latin typeface="Comic Sans MS" pitchFamily="66" charset="0"/>
              </a:rPr>
              <a:t>d</a:t>
            </a:r>
            <a:r>
              <a:rPr lang="en-US" sz="2000" u="none">
                <a:latin typeface="Comic Sans MS" pitchFamily="66" charset="0"/>
              </a:rPr>
              <a:t>].  Let us bound the processor</a:t>
            </a:r>
          </a:p>
          <a:p>
            <a:pPr algn="l"/>
            <a:r>
              <a:rPr lang="en-US" sz="2000" u="none">
                <a:latin typeface="Comic Sans MS" pitchFamily="66" charset="0"/>
              </a:rPr>
              <a:t>demand in [t</a:t>
            </a:r>
            <a:r>
              <a:rPr lang="en-US" sz="2000" u="none" baseline="-25000">
                <a:latin typeface="Comic Sans MS" pitchFamily="66" charset="0"/>
              </a:rPr>
              <a:t>i</a:t>
            </a:r>
            <a:r>
              <a:rPr lang="en-US" sz="2000" u="none">
                <a:latin typeface="Comic Sans MS" pitchFamily="66" charset="0"/>
              </a:rPr>
              <a:t>, t</a:t>
            </a:r>
            <a:r>
              <a:rPr lang="en-US" sz="2000" u="none" baseline="-25000">
                <a:latin typeface="Comic Sans MS" pitchFamily="66" charset="0"/>
              </a:rPr>
              <a:t>d</a:t>
            </a:r>
            <a:r>
              <a:rPr lang="en-US" sz="2000" u="none">
                <a:latin typeface="Comic Sans MS" pitchFamily="66" charset="0"/>
              </a:rPr>
              <a:t>] …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312738"/>
            <a:ext cx="8280400" cy="908050"/>
          </a:xfrm>
        </p:spPr>
        <p:txBody>
          <a:bodyPr/>
          <a:lstStyle/>
          <a:p>
            <a:r>
              <a:rPr lang="en-US" smtClean="0"/>
              <a:t>Proof (Continued)</a:t>
            </a:r>
          </a:p>
        </p:txBody>
      </p:sp>
      <p:sp>
        <p:nvSpPr>
          <p:cNvPr id="4311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04800" y="1476375"/>
            <a:ext cx="8458200" cy="4876800"/>
          </a:xfrm>
        </p:spPr>
        <p:txBody>
          <a:bodyPr/>
          <a:lstStyle/>
          <a:p>
            <a:r>
              <a:rPr lang="en-US" smtClean="0"/>
              <a:t>Observe the following:</a:t>
            </a:r>
          </a:p>
          <a:p>
            <a:pPr lvl="1"/>
            <a:r>
              <a:rPr lang="en-US" smtClean="0">
                <a:solidFill>
                  <a:schemeClr val="tx2"/>
                </a:solidFill>
              </a:rPr>
              <a:t>p</a:t>
            </a:r>
            <a:r>
              <a:rPr lang="en-US" baseline="-25000" smtClean="0">
                <a:solidFill>
                  <a:schemeClr val="tx2"/>
                </a:solidFill>
              </a:rPr>
              <a:t>i</a:t>
            </a:r>
            <a:r>
              <a:rPr lang="en-US" smtClean="0">
                <a:solidFill>
                  <a:schemeClr val="tx2"/>
                </a:solidFill>
              </a:rPr>
              <a:t> &gt; t</a:t>
            </a:r>
            <a:r>
              <a:rPr lang="en-US" baseline="-25000" smtClean="0">
                <a:solidFill>
                  <a:schemeClr val="tx2"/>
                </a:solidFill>
              </a:rPr>
              <a:t>d</a:t>
            </a:r>
            <a:r>
              <a:rPr lang="en-US" smtClean="0">
                <a:solidFill>
                  <a:schemeClr val="tx2"/>
                </a:solidFill>
              </a:rPr>
              <a:t> </a:t>
            </a:r>
            <a:r>
              <a:rPr lang="en-US" smtClean="0">
                <a:solidFill>
                  <a:schemeClr val="tx2"/>
                </a:solidFill>
                <a:sym typeface="Symbol" pitchFamily="82" charset="2"/>
              </a:rPr>
              <a:t> t</a:t>
            </a:r>
            <a:r>
              <a:rPr lang="en-US" baseline="-25000" smtClean="0">
                <a:solidFill>
                  <a:schemeClr val="tx2"/>
                </a:solidFill>
                <a:sym typeface="Symbol" pitchFamily="82" charset="2"/>
              </a:rPr>
              <a:t>i</a:t>
            </a:r>
            <a:r>
              <a:rPr lang="en-US" smtClean="0">
                <a:solidFill>
                  <a:schemeClr val="tx2"/>
                </a:solidFill>
                <a:sym typeface="Symbol" pitchFamily="82" charset="2"/>
              </a:rPr>
              <a:t>.</a:t>
            </a:r>
            <a:endParaRPr lang="en-US" smtClean="0">
              <a:sym typeface="Symbol" pitchFamily="82" charset="2"/>
            </a:endParaRPr>
          </a:p>
          <a:p>
            <a:pPr lvl="2"/>
            <a:r>
              <a:rPr lang="en-US" smtClean="0">
                <a:solidFill>
                  <a:srgbClr val="CC0000"/>
                </a:solidFill>
              </a:rPr>
              <a:t>This follows from the fact that the job of task T</a:t>
            </a:r>
            <a:r>
              <a:rPr lang="en-US" baseline="-25000" smtClean="0">
                <a:solidFill>
                  <a:srgbClr val="CC0000"/>
                </a:solidFill>
              </a:rPr>
              <a:t>i</a:t>
            </a:r>
            <a:r>
              <a:rPr lang="en-US" smtClean="0">
                <a:solidFill>
                  <a:srgbClr val="CC0000"/>
                </a:solidFill>
              </a:rPr>
              <a:t> scheduled at time t</a:t>
            </a:r>
            <a:r>
              <a:rPr lang="en-US" baseline="-25000" smtClean="0">
                <a:solidFill>
                  <a:srgbClr val="CC0000"/>
                </a:solidFill>
              </a:rPr>
              <a:t>i</a:t>
            </a:r>
            <a:r>
              <a:rPr lang="en-US" smtClean="0">
                <a:solidFill>
                  <a:srgbClr val="CC0000"/>
                </a:solidFill>
              </a:rPr>
              <a:t> had a deadline after t</a:t>
            </a:r>
            <a:r>
              <a:rPr lang="en-US" baseline="-25000" smtClean="0">
                <a:solidFill>
                  <a:srgbClr val="CC0000"/>
                </a:solidFill>
              </a:rPr>
              <a:t>d</a:t>
            </a:r>
            <a:r>
              <a:rPr lang="en-US" smtClean="0">
                <a:solidFill>
                  <a:srgbClr val="CC0000"/>
                </a:solidFill>
              </a:rPr>
              <a:t>.</a:t>
            </a:r>
          </a:p>
          <a:p>
            <a:pPr lvl="1"/>
            <a:r>
              <a:rPr lang="en-US" smtClean="0">
                <a:solidFill>
                  <a:schemeClr val="tx2"/>
                </a:solidFill>
              </a:rPr>
              <a:t>No task with index greater than i is scheduled in the interval [t</a:t>
            </a:r>
            <a:r>
              <a:rPr lang="en-US" baseline="-25000" smtClean="0">
                <a:solidFill>
                  <a:schemeClr val="tx2"/>
                </a:solidFill>
              </a:rPr>
              <a:t>i</a:t>
            </a:r>
            <a:r>
              <a:rPr lang="en-US" smtClean="0">
                <a:solidFill>
                  <a:schemeClr val="tx2"/>
                </a:solidFill>
              </a:rPr>
              <a:t>, t</a:t>
            </a:r>
            <a:r>
              <a:rPr lang="en-US" baseline="-25000" smtClean="0">
                <a:solidFill>
                  <a:schemeClr val="tx2"/>
                </a:solidFill>
              </a:rPr>
              <a:t>d</a:t>
            </a:r>
            <a:r>
              <a:rPr lang="en-US" smtClean="0">
                <a:solidFill>
                  <a:schemeClr val="tx2"/>
                </a:solidFill>
              </a:rPr>
              <a:t>].</a:t>
            </a:r>
          </a:p>
          <a:p>
            <a:pPr lvl="1"/>
            <a:r>
              <a:rPr lang="en-US" smtClean="0">
                <a:solidFill>
                  <a:schemeClr val="tx2"/>
                </a:solidFill>
              </a:rPr>
              <a:t>Other than a job of task T</a:t>
            </a:r>
            <a:r>
              <a:rPr lang="en-US" baseline="-25000" smtClean="0">
                <a:solidFill>
                  <a:schemeClr val="tx2"/>
                </a:solidFill>
              </a:rPr>
              <a:t>i</a:t>
            </a:r>
            <a:r>
              <a:rPr lang="en-US" smtClean="0">
                <a:solidFill>
                  <a:schemeClr val="tx2"/>
                </a:solidFill>
              </a:rPr>
              <a:t>, no job scheduled in      [t</a:t>
            </a:r>
            <a:r>
              <a:rPr lang="en-US" baseline="-25000" smtClean="0">
                <a:solidFill>
                  <a:schemeClr val="tx2"/>
                </a:solidFill>
              </a:rPr>
              <a:t>i</a:t>
            </a:r>
            <a:r>
              <a:rPr lang="en-US" smtClean="0">
                <a:solidFill>
                  <a:schemeClr val="tx2"/>
                </a:solidFill>
              </a:rPr>
              <a:t>, t</a:t>
            </a:r>
            <a:r>
              <a:rPr lang="en-US" baseline="-25000" smtClean="0">
                <a:solidFill>
                  <a:schemeClr val="tx2"/>
                </a:solidFill>
              </a:rPr>
              <a:t>d</a:t>
            </a:r>
            <a:r>
              <a:rPr lang="en-US" smtClean="0">
                <a:solidFill>
                  <a:schemeClr val="tx2"/>
                </a:solidFill>
              </a:rPr>
              <a:t>] could have been released at time t</a:t>
            </a:r>
            <a:r>
              <a:rPr lang="en-US" baseline="-25000" smtClean="0">
                <a:solidFill>
                  <a:schemeClr val="tx2"/>
                </a:solidFill>
              </a:rPr>
              <a:t>i</a:t>
            </a:r>
            <a:r>
              <a:rPr lang="en-US" smtClean="0">
                <a:solidFill>
                  <a:schemeClr val="tx2"/>
                </a:solidFill>
              </a:rPr>
              <a:t>.</a:t>
            </a:r>
          </a:p>
          <a:p>
            <a:pPr lvl="1"/>
            <a:r>
              <a:rPr lang="en-US" smtClean="0">
                <a:solidFill>
                  <a:schemeClr val="tx2"/>
                </a:solidFill>
              </a:rPr>
              <a:t>There is no idle time in the interval [t</a:t>
            </a:r>
            <a:r>
              <a:rPr lang="en-US" baseline="-25000" smtClean="0">
                <a:solidFill>
                  <a:schemeClr val="tx2"/>
                </a:solidFill>
              </a:rPr>
              <a:t>i</a:t>
            </a:r>
            <a:r>
              <a:rPr lang="en-US" smtClean="0">
                <a:solidFill>
                  <a:schemeClr val="tx2"/>
                </a:solidFill>
              </a:rPr>
              <a:t>, t</a:t>
            </a:r>
            <a:r>
              <a:rPr lang="en-US" baseline="-25000" smtClean="0">
                <a:solidFill>
                  <a:schemeClr val="tx2"/>
                </a:solidFill>
              </a:rPr>
              <a:t>d</a:t>
            </a:r>
            <a:r>
              <a:rPr lang="en-US" smtClean="0">
                <a:solidFill>
                  <a:schemeClr val="tx2"/>
                </a:solidFill>
              </a:rPr>
              <a:t>].</a:t>
            </a:r>
          </a:p>
          <a:p>
            <a:pPr lvl="1"/>
            <a:r>
              <a:rPr lang="en-US" smtClean="0">
                <a:solidFill>
                  <a:schemeClr val="tx2"/>
                </a:solidFill>
              </a:rPr>
              <a:t>There is a least one job that is released in [t</a:t>
            </a:r>
            <a:r>
              <a:rPr lang="en-US" baseline="-25000" smtClean="0">
                <a:solidFill>
                  <a:schemeClr val="tx2"/>
                </a:solidFill>
              </a:rPr>
              <a:t>i</a:t>
            </a:r>
            <a:r>
              <a:rPr lang="en-US" smtClean="0">
                <a:solidFill>
                  <a:schemeClr val="tx2"/>
                </a:solidFill>
              </a:rPr>
              <a:t>+1, t</a:t>
            </a:r>
            <a:r>
              <a:rPr lang="en-US" baseline="-25000" smtClean="0">
                <a:solidFill>
                  <a:schemeClr val="tx2"/>
                </a:solidFill>
              </a:rPr>
              <a:t>d</a:t>
            </a:r>
            <a:r>
              <a:rPr lang="en-US" smtClean="0">
                <a:solidFill>
                  <a:schemeClr val="tx2"/>
                </a:solidFill>
              </a:rPr>
              <a:t>] with a deadline at or before time t</a:t>
            </a:r>
            <a:r>
              <a:rPr lang="en-US" baseline="-25000" smtClean="0">
                <a:solidFill>
                  <a:schemeClr val="tx2"/>
                </a:solidFill>
              </a:rPr>
              <a:t>d</a:t>
            </a:r>
            <a:r>
              <a:rPr lang="en-US" smtClean="0">
                <a:solidFill>
                  <a:schemeClr val="tx2"/>
                </a:solidFill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08" grpId="0" build="p" bldLvl="2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327025"/>
            <a:ext cx="8280400" cy="908050"/>
          </a:xfrm>
        </p:spPr>
        <p:txBody>
          <a:bodyPr/>
          <a:lstStyle/>
          <a:p>
            <a:r>
              <a:rPr lang="en-US" smtClean="0"/>
              <a:t>Proof (Continued)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598488" y="1466850"/>
            <a:ext cx="5842000" cy="44735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en-US" u="none">
                <a:latin typeface="Comic Sans MS" pitchFamily="66" charset="0"/>
              </a:rPr>
              <a:t>From these facts, we conclude</a:t>
            </a:r>
          </a:p>
          <a:p>
            <a:pPr algn="l"/>
            <a:endParaRPr lang="en-US" u="none">
              <a:latin typeface="Comic Sans MS" pitchFamily="66" charset="0"/>
            </a:endParaRPr>
          </a:p>
          <a:p>
            <a:pPr algn="l"/>
            <a:endParaRPr lang="en-US" u="none">
              <a:latin typeface="Comic Sans MS" pitchFamily="66" charset="0"/>
            </a:endParaRPr>
          </a:p>
          <a:p>
            <a:pPr algn="l"/>
            <a:endParaRPr lang="en-US" u="none">
              <a:latin typeface="Comic Sans MS" pitchFamily="66" charset="0"/>
            </a:endParaRPr>
          </a:p>
          <a:p>
            <a:pPr algn="l"/>
            <a:endParaRPr lang="en-US" u="none">
              <a:latin typeface="Comic Sans MS" pitchFamily="66" charset="0"/>
            </a:endParaRPr>
          </a:p>
          <a:p>
            <a:pPr algn="l"/>
            <a:r>
              <a:rPr lang="en-US" u="none">
                <a:latin typeface="Comic Sans MS" pitchFamily="66" charset="0"/>
              </a:rPr>
              <a:t>and p</a:t>
            </a:r>
            <a:r>
              <a:rPr lang="en-US" u="none" baseline="-25000">
                <a:latin typeface="Comic Sans MS" pitchFamily="66" charset="0"/>
              </a:rPr>
              <a:t>1</a:t>
            </a:r>
            <a:r>
              <a:rPr lang="en-US" u="none">
                <a:latin typeface="Comic Sans MS" pitchFamily="66" charset="0"/>
              </a:rPr>
              <a:t> &lt; t</a:t>
            </a:r>
            <a:r>
              <a:rPr lang="en-US" u="none" baseline="-25000">
                <a:latin typeface="Comic Sans MS" pitchFamily="66" charset="0"/>
              </a:rPr>
              <a:t>d</a:t>
            </a:r>
            <a:r>
              <a:rPr lang="en-US" u="none">
                <a:latin typeface="Comic Sans MS" pitchFamily="66" charset="0"/>
              </a:rPr>
              <a:t> </a:t>
            </a:r>
            <a:r>
              <a:rPr lang="en-US" u="none">
                <a:latin typeface="Comic Sans MS" pitchFamily="66" charset="0"/>
                <a:sym typeface="Symbol" pitchFamily="82" charset="2"/>
              </a:rPr>
              <a:t> t</a:t>
            </a:r>
            <a:r>
              <a:rPr lang="en-US" u="none" baseline="-25000">
                <a:latin typeface="Comic Sans MS" pitchFamily="66" charset="0"/>
                <a:sym typeface="Symbol" pitchFamily="82" charset="2"/>
              </a:rPr>
              <a:t>i</a:t>
            </a:r>
            <a:r>
              <a:rPr lang="en-US" u="none">
                <a:latin typeface="Comic Sans MS" pitchFamily="66" charset="0"/>
              </a:rPr>
              <a:t> &lt; p</a:t>
            </a:r>
            <a:r>
              <a:rPr lang="en-US" u="none" baseline="-25000">
                <a:latin typeface="Comic Sans MS" pitchFamily="66" charset="0"/>
              </a:rPr>
              <a:t>i</a:t>
            </a:r>
            <a:r>
              <a:rPr lang="en-US" u="none">
                <a:latin typeface="Comic Sans MS" pitchFamily="66" charset="0"/>
              </a:rPr>
              <a:t>.  Let L = t</a:t>
            </a:r>
            <a:r>
              <a:rPr lang="en-US" u="none" baseline="-25000">
                <a:latin typeface="Comic Sans MS" pitchFamily="66" charset="0"/>
              </a:rPr>
              <a:t>d</a:t>
            </a:r>
            <a:r>
              <a:rPr lang="en-US" u="none">
                <a:latin typeface="Comic Sans MS" pitchFamily="66" charset="0"/>
              </a:rPr>
              <a:t> </a:t>
            </a:r>
            <a:r>
              <a:rPr lang="en-US" u="none">
                <a:latin typeface="Comic Sans MS" pitchFamily="66" charset="0"/>
                <a:sym typeface="Symbol" pitchFamily="82" charset="2"/>
              </a:rPr>
              <a:t> t</a:t>
            </a:r>
            <a:r>
              <a:rPr lang="en-US" u="none" baseline="-25000">
                <a:latin typeface="Comic Sans MS" pitchFamily="66" charset="0"/>
                <a:sym typeface="Symbol" pitchFamily="82" charset="2"/>
              </a:rPr>
              <a:t>i</a:t>
            </a:r>
            <a:r>
              <a:rPr lang="en-US" u="none">
                <a:latin typeface="Comic Sans MS" pitchFamily="66" charset="0"/>
                <a:sym typeface="Symbol" pitchFamily="82" charset="2"/>
              </a:rPr>
              <a:t>.  Then,</a:t>
            </a:r>
          </a:p>
          <a:p>
            <a:pPr algn="l"/>
            <a:endParaRPr lang="en-US" u="none">
              <a:latin typeface="Comic Sans MS" pitchFamily="66" charset="0"/>
              <a:sym typeface="Symbol" pitchFamily="82" charset="2"/>
            </a:endParaRPr>
          </a:p>
          <a:p>
            <a:pPr algn="l"/>
            <a:endParaRPr lang="en-US" u="none">
              <a:latin typeface="Comic Sans MS" pitchFamily="66" charset="0"/>
              <a:sym typeface="Symbol" pitchFamily="82" charset="2"/>
            </a:endParaRPr>
          </a:p>
          <a:p>
            <a:pPr algn="l"/>
            <a:endParaRPr lang="en-US" u="none">
              <a:latin typeface="Comic Sans MS" pitchFamily="66" charset="0"/>
              <a:sym typeface="Symbol" pitchFamily="82" charset="2"/>
            </a:endParaRPr>
          </a:p>
          <a:p>
            <a:pPr algn="l"/>
            <a:endParaRPr lang="en-US" u="none">
              <a:latin typeface="Comic Sans MS" pitchFamily="66" charset="0"/>
              <a:sym typeface="Symbol" pitchFamily="82" charset="2"/>
            </a:endParaRPr>
          </a:p>
          <a:p>
            <a:pPr algn="l"/>
            <a:endParaRPr lang="en-US" u="none">
              <a:latin typeface="Comic Sans MS" pitchFamily="66" charset="0"/>
              <a:sym typeface="Symbol" pitchFamily="82" charset="2"/>
            </a:endParaRPr>
          </a:p>
          <a:p>
            <a:pPr algn="l"/>
            <a:r>
              <a:rPr lang="en-US" u="none">
                <a:solidFill>
                  <a:srgbClr val="CC0000"/>
                </a:solidFill>
                <a:latin typeface="Comic Sans MS" pitchFamily="66" charset="0"/>
                <a:sym typeface="Symbol" pitchFamily="82" charset="2"/>
              </a:rPr>
              <a:t>This contradicts condition (2).</a:t>
            </a:r>
          </a:p>
        </p:txBody>
      </p:sp>
      <p:pic>
        <p:nvPicPr>
          <p:cNvPr id="24580" name="Picture 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7263" y="1868488"/>
            <a:ext cx="7227887" cy="31273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327025"/>
            <a:ext cx="8280400" cy="908050"/>
          </a:xfrm>
        </p:spPr>
        <p:txBody>
          <a:bodyPr/>
          <a:lstStyle/>
          <a:p>
            <a:r>
              <a:rPr lang="en-US" smtClean="0"/>
              <a:t>Notes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1479550"/>
            <a:ext cx="8359775" cy="4876800"/>
          </a:xfrm>
        </p:spPr>
        <p:txBody>
          <a:bodyPr/>
          <a:lstStyle/>
          <a:p>
            <a:r>
              <a:rPr lang="en-US" smtClean="0"/>
              <a:t>Note that this scheduling condition requires </a:t>
            </a:r>
            <a:r>
              <a:rPr lang="en-US" smtClean="0">
                <a:solidFill>
                  <a:schemeClr val="tx2"/>
                </a:solidFill>
              </a:rPr>
              <a:t>pseudo-polynomial time</a:t>
            </a:r>
            <a:r>
              <a:rPr lang="en-US" smtClean="0"/>
              <a:t> to evaluate.  </a:t>
            </a:r>
            <a:r>
              <a:rPr lang="en-US" b="1" smtClean="0">
                <a:solidFill>
                  <a:srgbClr val="CC0000"/>
                </a:solidFill>
              </a:rPr>
              <a:t>(Why?)</a:t>
            </a:r>
            <a:endParaRPr lang="en-US" smtClean="0"/>
          </a:p>
          <a:p>
            <a:r>
              <a:rPr lang="en-US" smtClean="0"/>
              <a:t>Using “real-world” terminology, this condition is </a:t>
            </a:r>
            <a:r>
              <a:rPr lang="en-US" smtClean="0">
                <a:solidFill>
                  <a:schemeClr val="tx2"/>
                </a:solidFill>
              </a:rPr>
              <a:t>necessary and sufficient</a:t>
            </a:r>
            <a:r>
              <a:rPr lang="en-US" smtClean="0"/>
              <a:t> for sporadic and non-concrete periodic task systems.  </a:t>
            </a:r>
            <a:r>
              <a:rPr lang="en-US" b="1" smtClean="0">
                <a:solidFill>
                  <a:srgbClr val="CC0000"/>
                </a:solidFill>
              </a:rPr>
              <a:t>(Why?)</a:t>
            </a:r>
          </a:p>
          <a:p>
            <a:pPr lvl="2"/>
            <a:r>
              <a:rPr lang="en-US" smtClean="0"/>
              <a:t>“</a:t>
            </a:r>
            <a:r>
              <a:rPr lang="en-US" b="1" smtClean="0">
                <a:solidFill>
                  <a:srgbClr val="CC0000"/>
                </a:solidFill>
              </a:rPr>
              <a:t>Concrete</a:t>
            </a:r>
            <a:r>
              <a:rPr lang="en-US" smtClean="0"/>
              <a:t>” = fixed release times (though maybe not all 0).</a:t>
            </a:r>
          </a:p>
          <a:p>
            <a:pPr lvl="2"/>
            <a:r>
              <a:rPr lang="en-US" smtClean="0"/>
              <a:t>For a non-concrete task system to be feasible, it must be schedulable for any initial phasing.</a:t>
            </a:r>
          </a:p>
          <a:p>
            <a:r>
              <a:rPr lang="en-US" smtClean="0"/>
              <a:t>In the rest of the paper, it is shown that </a:t>
            </a:r>
            <a:r>
              <a:rPr lang="en-US" smtClean="0">
                <a:solidFill>
                  <a:schemeClr val="tx2"/>
                </a:solidFill>
              </a:rPr>
              <a:t>the feasibility problem for non-preemptive concrete periodic task systems is NP-hard in the strong sense</a:t>
            </a:r>
            <a:r>
              <a:rPr lang="en-US" smtClean="0"/>
              <a:t>.</a:t>
            </a:r>
          </a:p>
          <a:p>
            <a:pPr lvl="2"/>
            <a:r>
              <a:rPr lang="en-US" smtClean="0"/>
              <a:t>Implies that a pseudo-polynomial-time feasibility test is unlikely for such systems.  (We cover this result later when we consider intractability.)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Pseudocode</a:t>
            </a:r>
            <a:r>
              <a:rPr lang="en-US" dirty="0" smtClean="0"/>
              <a:t> for Tasks </a:t>
            </a:r>
            <a:r>
              <a:rPr lang="en-US" smtClean="0"/>
              <a:t>as POSIX </a:t>
            </a:r>
            <a:r>
              <a:rPr lang="en-US" dirty="0" smtClean="0"/>
              <a:t>Threads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9100" y="1516063"/>
            <a:ext cx="4083050" cy="5067300"/>
          </a:xfrm>
        </p:spPr>
        <p:txBody>
          <a:bodyPr/>
          <a:lstStyle/>
          <a:p>
            <a:r>
              <a:rPr lang="en-US" sz="1800" dirty="0" smtClean="0"/>
              <a:t>Scheduler implements policy (preemptive or not)</a:t>
            </a:r>
          </a:p>
          <a:p>
            <a:r>
              <a:rPr lang="en-US" sz="1800" dirty="0" smtClean="0"/>
              <a:t>Tasks can be implemented as threads</a:t>
            </a:r>
          </a:p>
          <a:p>
            <a:r>
              <a:rPr lang="en-US" sz="1800" dirty="0" smtClean="0"/>
              <a:t>Jobs are successive executions (of a loop body) w/ </a:t>
            </a:r>
            <a:r>
              <a:rPr lang="en-US" sz="1800" dirty="0" smtClean="0">
                <a:solidFill>
                  <a:srgbClr val="CC0000"/>
                </a:solidFill>
              </a:rPr>
              <a:t>absolute</a:t>
            </a:r>
            <a:r>
              <a:rPr lang="en-US" sz="1800" dirty="0" smtClean="0"/>
              <a:t> waits</a:t>
            </a:r>
          </a:p>
          <a:p>
            <a:pPr lvl="1"/>
            <a:r>
              <a:rPr lang="en-US" sz="1800" dirty="0" smtClean="0"/>
              <a:t>Why is this important?</a:t>
            </a:r>
          </a:p>
          <a:p>
            <a:r>
              <a:rPr lang="en-US" sz="1800" dirty="0" smtClean="0"/>
              <a:t>Works for static and dynamic priority scheduling</a:t>
            </a:r>
          </a:p>
          <a:p>
            <a:r>
              <a:rPr lang="en-US" sz="1800" dirty="0" smtClean="0"/>
              <a:t>Can add phasing:</a:t>
            </a:r>
          </a:p>
          <a:p>
            <a:pPr lvl="1"/>
            <a:r>
              <a:rPr lang="en-US" sz="1800" dirty="0" smtClean="0"/>
              <a:t>Keep 1 start time per task</a:t>
            </a:r>
          </a:p>
          <a:p>
            <a:pPr lvl="1"/>
            <a:r>
              <a:rPr lang="en-US" sz="1800" dirty="0" smtClean="0"/>
              <a:t>Add phase offset (</a:t>
            </a:r>
            <a:r>
              <a:rPr lang="en-US" sz="1800" dirty="0" err="1" smtClean="0"/>
              <a:t>plustime</a:t>
            </a:r>
            <a:r>
              <a:rPr lang="en-US" sz="1800" dirty="0" smtClean="0"/>
              <a:t>)</a:t>
            </a:r>
          </a:p>
          <a:p>
            <a:r>
              <a:rPr lang="en-US" sz="1800" dirty="0" smtClean="0"/>
              <a:t>Code would be easier w/ absolute waits (commonly not part of API)</a:t>
            </a:r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54550" y="1587500"/>
            <a:ext cx="4256088" cy="5067300"/>
          </a:xfrm>
        </p:spPr>
        <p:txBody>
          <a:bodyPr/>
          <a:lstStyle/>
          <a:p>
            <a:pPr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Font typeface="Wingdings" pitchFamily="82" charset="2"/>
              <a:buNone/>
            </a:pPr>
            <a:r>
              <a:rPr lang="en-US" sz="1800" dirty="0" err="1" smtClean="0">
                <a:latin typeface="Arial" charset="0"/>
              </a:rPr>
              <a:t>struct</a:t>
            </a:r>
            <a:r>
              <a:rPr lang="en-US" sz="1800" dirty="0" smtClean="0">
                <a:latin typeface="Arial" charset="0"/>
              </a:rPr>
              <a:t> </a:t>
            </a:r>
            <a:r>
              <a:rPr lang="en-US" sz="1800" dirty="0" err="1" smtClean="0">
                <a:latin typeface="Arial" charset="0"/>
              </a:rPr>
              <a:t>timeval</a:t>
            </a:r>
            <a:r>
              <a:rPr lang="en-US" sz="1800" dirty="0" smtClean="0">
                <a:latin typeface="Arial" charset="0"/>
              </a:rPr>
              <a:t> </a:t>
            </a:r>
            <a:r>
              <a:rPr lang="en-US" sz="1800" dirty="0" err="1" smtClean="0">
                <a:latin typeface="Arial" charset="0"/>
              </a:rPr>
              <a:t>starttime</a:t>
            </a:r>
            <a:r>
              <a:rPr lang="en-US" sz="1800" dirty="0" smtClean="0">
                <a:latin typeface="Arial" charset="0"/>
              </a:rPr>
              <a:t>; // all tasks start</a:t>
            </a:r>
          </a:p>
          <a:p>
            <a:pPr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Font typeface="Wingdings" pitchFamily="82" charset="2"/>
              <a:buNone/>
            </a:pPr>
            <a:r>
              <a:rPr lang="en-US" sz="1800" dirty="0" err="1" smtClean="0">
                <a:latin typeface="Arial" charset="0"/>
              </a:rPr>
              <a:t>int</a:t>
            </a:r>
            <a:r>
              <a:rPr lang="en-US" sz="1800" dirty="0" smtClean="0">
                <a:latin typeface="Arial" charset="0"/>
              </a:rPr>
              <a:t> main(…) {</a:t>
            </a:r>
          </a:p>
          <a:p>
            <a:pPr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Font typeface="Wingdings" pitchFamily="82" charset="2"/>
              <a:buNone/>
            </a:pPr>
            <a:r>
              <a:rPr lang="en-US" sz="1800" dirty="0" smtClean="0">
                <a:latin typeface="Arial" charset="0"/>
              </a:rPr>
              <a:t>  </a:t>
            </a:r>
            <a:r>
              <a:rPr lang="en-US" sz="1800" dirty="0" err="1" smtClean="0">
                <a:latin typeface="Arial" charset="0"/>
              </a:rPr>
              <a:t>gettimeofday</a:t>
            </a:r>
            <a:r>
              <a:rPr lang="en-US" sz="1800" dirty="0" smtClean="0">
                <a:latin typeface="Arial" charset="0"/>
              </a:rPr>
              <a:t>(&amp;</a:t>
            </a:r>
            <a:r>
              <a:rPr lang="en-US" sz="1800" dirty="0" err="1" smtClean="0">
                <a:latin typeface="Arial" charset="0"/>
              </a:rPr>
              <a:t>starttime</a:t>
            </a:r>
            <a:r>
              <a:rPr lang="en-US" sz="1800" dirty="0" smtClean="0">
                <a:latin typeface="Arial" charset="0"/>
              </a:rPr>
              <a:t>);</a:t>
            </a:r>
          </a:p>
          <a:p>
            <a:pPr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Font typeface="Wingdings" pitchFamily="82" charset="2"/>
              <a:buNone/>
            </a:pPr>
            <a:r>
              <a:rPr lang="en-US" sz="1800" dirty="0" smtClean="0">
                <a:latin typeface="Arial" charset="0"/>
              </a:rPr>
              <a:t>  </a:t>
            </a:r>
            <a:r>
              <a:rPr lang="en-US" sz="1800" dirty="0" err="1" smtClean="0">
                <a:latin typeface="Arial" charset="0"/>
              </a:rPr>
              <a:t>plustime</a:t>
            </a:r>
            <a:r>
              <a:rPr lang="en-US" sz="1800" dirty="0" smtClean="0">
                <a:latin typeface="Arial" charset="0"/>
              </a:rPr>
              <a:t>(&amp;</a:t>
            </a:r>
            <a:r>
              <a:rPr lang="en-US" sz="1800" dirty="0" err="1" smtClean="0">
                <a:latin typeface="Arial" charset="0"/>
              </a:rPr>
              <a:t>starttime</a:t>
            </a:r>
            <a:r>
              <a:rPr lang="en-US" sz="1800" dirty="0" smtClean="0">
                <a:latin typeface="Arial" charset="0"/>
              </a:rPr>
              <a:t>, 1); // +1 sec</a:t>
            </a:r>
          </a:p>
          <a:p>
            <a:pPr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Font typeface="Wingdings" pitchFamily="82" charset="2"/>
              <a:buNone/>
            </a:pPr>
            <a:r>
              <a:rPr lang="en-US" sz="1800" dirty="0" smtClean="0">
                <a:latin typeface="Arial" charset="0"/>
              </a:rPr>
              <a:t>  </a:t>
            </a:r>
            <a:r>
              <a:rPr lang="en-US" sz="1800" dirty="0" err="1" smtClean="0">
                <a:latin typeface="Arial" charset="0"/>
              </a:rPr>
              <a:t>pthread_create</a:t>
            </a:r>
            <a:r>
              <a:rPr lang="en-US" sz="1800" dirty="0" smtClean="0">
                <a:latin typeface="Arial" charset="0"/>
              </a:rPr>
              <a:t>(&amp;t1, t1code, …);</a:t>
            </a:r>
          </a:p>
          <a:p>
            <a:pPr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Font typeface="Wingdings" pitchFamily="82" charset="2"/>
              <a:buNone/>
            </a:pPr>
            <a:r>
              <a:rPr lang="en-US" sz="1800" dirty="0" smtClean="0">
                <a:latin typeface="Arial" charset="0"/>
              </a:rPr>
              <a:t>  …</a:t>
            </a:r>
          </a:p>
          <a:p>
            <a:pPr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Font typeface="Wingdings" pitchFamily="82" charset="2"/>
              <a:buNone/>
            </a:pPr>
            <a:r>
              <a:rPr lang="en-US" sz="1800" dirty="0" smtClean="0">
                <a:latin typeface="Arial" charset="0"/>
              </a:rPr>
              <a:t>}</a:t>
            </a:r>
          </a:p>
          <a:p>
            <a:pPr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Font typeface="Wingdings" pitchFamily="82" charset="2"/>
              <a:buNone/>
            </a:pPr>
            <a:endParaRPr lang="en-US" sz="1800" dirty="0" smtClean="0">
              <a:latin typeface="Arial" charset="0"/>
            </a:endParaRPr>
          </a:p>
          <a:p>
            <a:pPr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Font typeface="Wingdings" pitchFamily="82" charset="2"/>
              <a:buNone/>
            </a:pPr>
            <a:r>
              <a:rPr lang="en-US" sz="1800" dirty="0" smtClean="0">
                <a:latin typeface="Arial" charset="0"/>
              </a:rPr>
              <a:t>void *t1code(</a:t>
            </a:r>
            <a:r>
              <a:rPr lang="en-US" sz="1800" dirty="0" err="1" smtClean="0">
                <a:latin typeface="Arial" charset="0"/>
              </a:rPr>
              <a:t>int</a:t>
            </a:r>
            <a:r>
              <a:rPr lang="en-US" sz="1800" dirty="0" smtClean="0">
                <a:latin typeface="Arial" charset="0"/>
              </a:rPr>
              <a:t> *</a:t>
            </a:r>
            <a:r>
              <a:rPr lang="en-US" sz="1800" dirty="0" err="1" smtClean="0">
                <a:latin typeface="Arial" charset="0"/>
              </a:rPr>
              <a:t>args</a:t>
            </a:r>
            <a:r>
              <a:rPr lang="en-US" sz="1800" dirty="0" smtClean="0">
                <a:latin typeface="Arial" charset="0"/>
              </a:rPr>
              <a:t>) {</a:t>
            </a:r>
          </a:p>
          <a:p>
            <a:pPr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Font typeface="Wingdings" pitchFamily="82" charset="2"/>
              <a:buNone/>
            </a:pPr>
            <a:r>
              <a:rPr lang="en-US" sz="1800" dirty="0" smtClean="0">
                <a:latin typeface="Arial" charset="0"/>
              </a:rPr>
              <a:t>  </a:t>
            </a:r>
            <a:r>
              <a:rPr lang="en-US" sz="1800" dirty="0" err="1" smtClean="0">
                <a:latin typeface="Arial" charset="0"/>
              </a:rPr>
              <a:t>struct</a:t>
            </a:r>
            <a:r>
              <a:rPr lang="en-US" sz="1800" dirty="0" smtClean="0">
                <a:latin typeface="Arial" charset="0"/>
              </a:rPr>
              <a:t> </a:t>
            </a:r>
            <a:r>
              <a:rPr lang="en-US" sz="1800" dirty="0" err="1" smtClean="0">
                <a:latin typeface="Arial" charset="0"/>
              </a:rPr>
              <a:t>timeval</a:t>
            </a:r>
            <a:r>
              <a:rPr lang="en-US" sz="1800" dirty="0" smtClean="0">
                <a:latin typeface="Arial" charset="0"/>
              </a:rPr>
              <a:t> wait, now, release;</a:t>
            </a:r>
          </a:p>
          <a:p>
            <a:pPr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Font typeface="Wingdings" pitchFamily="82" charset="2"/>
              <a:buNone/>
            </a:pPr>
            <a:r>
              <a:rPr lang="en-US" sz="1800" dirty="0" smtClean="0">
                <a:latin typeface="Arial" charset="0"/>
              </a:rPr>
              <a:t>  release = </a:t>
            </a:r>
            <a:r>
              <a:rPr lang="en-US" sz="1800" dirty="0" err="1" smtClean="0">
                <a:latin typeface="Arial" charset="0"/>
              </a:rPr>
              <a:t>starttime</a:t>
            </a:r>
            <a:r>
              <a:rPr lang="en-US" sz="1800" dirty="0" smtClean="0">
                <a:latin typeface="Arial" charset="0"/>
              </a:rPr>
              <a:t>;</a:t>
            </a:r>
          </a:p>
          <a:p>
            <a:pPr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Font typeface="Wingdings" pitchFamily="82" charset="2"/>
              <a:buNone/>
            </a:pPr>
            <a:r>
              <a:rPr lang="en-US" sz="1800" dirty="0" smtClean="0">
                <a:latin typeface="Arial" charset="0"/>
              </a:rPr>
              <a:t>  t1init();</a:t>
            </a:r>
          </a:p>
          <a:p>
            <a:pPr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Font typeface="Wingdings" pitchFamily="82" charset="2"/>
              <a:buNone/>
            </a:pPr>
            <a:r>
              <a:rPr lang="en-US" sz="1800" dirty="0" smtClean="0">
                <a:latin typeface="Arial" charset="0"/>
              </a:rPr>
              <a:t>  do {</a:t>
            </a:r>
          </a:p>
          <a:p>
            <a:pPr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Font typeface="Wingdings" pitchFamily="82" charset="2"/>
              <a:buNone/>
            </a:pPr>
            <a:r>
              <a:rPr lang="en-US" sz="1800" dirty="0" smtClean="0">
                <a:latin typeface="Arial" charset="0"/>
              </a:rPr>
              <a:t>    </a:t>
            </a:r>
            <a:r>
              <a:rPr lang="en-US" sz="1800" dirty="0" err="1" smtClean="0">
                <a:latin typeface="Arial" charset="0"/>
              </a:rPr>
              <a:t>gettimeofday</a:t>
            </a:r>
            <a:r>
              <a:rPr lang="en-US" sz="1800" dirty="0" smtClean="0">
                <a:latin typeface="Arial" charset="0"/>
              </a:rPr>
              <a:t>(&amp;now);</a:t>
            </a:r>
          </a:p>
          <a:p>
            <a:pPr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Font typeface="Wingdings" pitchFamily="82" charset="2"/>
              <a:buNone/>
            </a:pPr>
            <a:r>
              <a:rPr lang="en-US" sz="1800" dirty="0" smtClean="0">
                <a:latin typeface="Arial" charset="0"/>
              </a:rPr>
              <a:t>    // wait = release – now </a:t>
            </a:r>
            <a:r>
              <a:rPr lang="en-US" sz="1800" dirty="0" smtClean="0">
                <a:latin typeface="Arial" charset="0"/>
                <a:sym typeface="Wingdings" pitchFamily="82" charset="2"/>
              </a:rPr>
              <a:t> abs. wait !!!</a:t>
            </a:r>
            <a:endParaRPr lang="en-US" sz="1800" dirty="0" smtClean="0">
              <a:latin typeface="Arial" charset="0"/>
            </a:endParaRPr>
          </a:p>
          <a:p>
            <a:pPr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Font typeface="Wingdings" pitchFamily="82" charset="2"/>
              <a:buNone/>
            </a:pPr>
            <a:r>
              <a:rPr lang="en-US" sz="1800" dirty="0" smtClean="0">
                <a:latin typeface="Arial" charset="0"/>
              </a:rPr>
              <a:t>    </a:t>
            </a:r>
            <a:r>
              <a:rPr lang="en-US" sz="1800" dirty="0" err="1" smtClean="0">
                <a:latin typeface="Arial" charset="0"/>
              </a:rPr>
              <a:t>minustime</a:t>
            </a:r>
            <a:r>
              <a:rPr lang="en-US" sz="1800" dirty="0" smtClean="0">
                <a:latin typeface="Arial" charset="0"/>
              </a:rPr>
              <a:t>(&amp;wait, &amp;release, &amp;now);</a:t>
            </a:r>
          </a:p>
          <a:p>
            <a:pPr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Font typeface="Wingdings" pitchFamily="82" charset="2"/>
              <a:buNone/>
            </a:pPr>
            <a:r>
              <a:rPr lang="en-US" sz="1800" dirty="0" smtClean="0">
                <a:latin typeface="Arial" charset="0"/>
              </a:rPr>
              <a:t>    </a:t>
            </a:r>
            <a:r>
              <a:rPr lang="en-US" sz="1800" dirty="0" err="1" smtClean="0">
                <a:latin typeface="Arial" charset="0"/>
              </a:rPr>
              <a:t>nanosleep</a:t>
            </a:r>
            <a:r>
              <a:rPr lang="en-US" sz="1800" dirty="0" smtClean="0">
                <a:latin typeface="Arial" charset="0"/>
              </a:rPr>
              <a:t>(&amp;wait, &amp;wait);</a:t>
            </a:r>
          </a:p>
          <a:p>
            <a:pPr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Font typeface="Wingdings" pitchFamily="82" charset="2"/>
              <a:buNone/>
            </a:pPr>
            <a:r>
              <a:rPr lang="en-US" sz="1800" dirty="0" smtClean="0">
                <a:latin typeface="Arial" charset="0"/>
              </a:rPr>
              <a:t>    t1job();</a:t>
            </a:r>
          </a:p>
          <a:p>
            <a:pPr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Font typeface="Wingdings" pitchFamily="82" charset="2"/>
              <a:buNone/>
            </a:pPr>
            <a:r>
              <a:rPr lang="en-US" sz="1800" dirty="0" smtClean="0">
                <a:latin typeface="Arial" charset="0"/>
              </a:rPr>
              <a:t>    </a:t>
            </a:r>
            <a:r>
              <a:rPr lang="en-US" sz="1800" dirty="0" err="1" smtClean="0">
                <a:latin typeface="Arial" charset="0"/>
              </a:rPr>
              <a:t>plustime</a:t>
            </a:r>
            <a:r>
              <a:rPr lang="en-US" sz="1800" dirty="0" smtClean="0">
                <a:latin typeface="Arial" charset="0"/>
              </a:rPr>
              <a:t>(&amp;release, &amp;t1_period);</a:t>
            </a:r>
          </a:p>
          <a:p>
            <a:pPr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Font typeface="Wingdings" pitchFamily="82" charset="2"/>
              <a:buNone/>
            </a:pPr>
            <a:r>
              <a:rPr lang="en-US" sz="1800" dirty="0" smtClean="0">
                <a:latin typeface="Arial" charset="0"/>
              </a:rPr>
              <a:t>  } while (TRUE); // forever</a:t>
            </a:r>
          </a:p>
          <a:p>
            <a:pPr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Font typeface="Wingdings" pitchFamily="82" charset="2"/>
              <a:buNone/>
            </a:pPr>
            <a:r>
              <a:rPr lang="en-US" sz="1800" dirty="0" smtClean="0">
                <a:latin typeface="Arial" charset="0"/>
              </a:rPr>
              <a:t>}</a:t>
            </a:r>
          </a:p>
          <a:p>
            <a:pPr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Font typeface="Wingdings" pitchFamily="82" charset="2"/>
              <a:buNone/>
            </a:pPr>
            <a:r>
              <a:rPr lang="en-US" sz="1800" dirty="0" smtClean="0">
                <a:latin typeface="Arial" charset="0"/>
              </a:rPr>
              <a:t> </a:t>
            </a:r>
          </a:p>
        </p:txBody>
      </p:sp>
      <p:pic>
        <p:nvPicPr>
          <p:cNvPr id="5" name="Picture 4" descr="tmp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14117" y="0"/>
            <a:ext cx="1936594" cy="6899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Linux SCHED_DEADLINE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450340"/>
            <a:ext cx="8724900" cy="5067300"/>
          </a:xfrm>
        </p:spPr>
        <p:txBody>
          <a:bodyPr/>
          <a:lstStyle/>
          <a:p>
            <a:r>
              <a:rPr lang="en-US" dirty="0" smtClean="0"/>
              <a:t>POSIX has real-time threading support for </a:t>
            </a:r>
            <a:r>
              <a:rPr lang="en-US" dirty="0" smtClean="0">
                <a:solidFill>
                  <a:srgbClr val="FF0000"/>
                </a:solidFill>
              </a:rPr>
              <a:t>dynamic</a:t>
            </a:r>
            <a:r>
              <a:rPr lang="en-US" dirty="0" smtClean="0"/>
              <a:t> </a:t>
            </a:r>
            <a:r>
              <a:rPr lang="en-US" dirty="0" err="1" smtClean="0"/>
              <a:t>prio</a:t>
            </a:r>
            <a:r>
              <a:rPr lang="en-US" dirty="0" smtClean="0"/>
              <a:t> scheduling</a:t>
            </a:r>
          </a:p>
          <a:p>
            <a:pPr lvl="1"/>
            <a:r>
              <a:rPr lang="en-US" dirty="0" smtClean="0"/>
              <a:t>Linux: called SCHED_DEADLINE, implemented via CBS+GRUB</a:t>
            </a:r>
          </a:p>
        </p:txBody>
      </p:sp>
      <p:sp>
        <p:nvSpPr>
          <p:cNvPr id="4" name="Content Placeholder 5"/>
          <p:cNvSpPr txBox="1">
            <a:spLocks/>
          </p:cNvSpPr>
          <p:nvPr/>
        </p:nvSpPr>
        <p:spPr bwMode="auto">
          <a:xfrm>
            <a:off x="571500" y="2118360"/>
            <a:ext cx="8724900" cy="36982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marL="292100" marR="0" lvl="0" indent="-292100" algn="l" defTabSz="914400" rtl="0" eaLnBrk="0" fontAlgn="base" latinLnBrk="0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clock_gettime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(CLOCK_REALTIME, &amp;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starttime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);</a:t>
            </a:r>
          </a:p>
          <a:p>
            <a:pPr marL="292100" marR="0" lvl="0" indent="-292100" algn="l" defTabSz="914400" rtl="0" eaLnBrk="0" fontAlgn="base" latinLnBrk="0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 (k = 0; k &lt; MAXTHREADS; k++)</a:t>
            </a:r>
          </a:p>
          <a:p>
            <a:pPr marL="292100" marR="0" lvl="0" indent="-292100" algn="l" defTabSz="914400" rtl="0" eaLnBrk="0" fontAlgn="base" latinLnBrk="0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 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pthread_create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(&amp;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th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[k].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thread_id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, &amp;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attr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, task, &amp;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th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[k]);</a:t>
            </a:r>
          </a:p>
          <a:p>
            <a:pPr marL="292100" marR="0" lvl="0" indent="-292100" algn="l" defTabSz="914400" rtl="0" eaLnBrk="0" fontAlgn="base" latinLnBrk="0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ct val="75000"/>
              <a:buFont typeface="Wingdings" pitchFamily="2" charset="2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92100" marR="0" lvl="0" indent="-292100" algn="l" defTabSz="914400" rtl="0" eaLnBrk="0" fontAlgn="base" latinLnBrk="0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void *task(void *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arg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) {</a:t>
            </a:r>
          </a:p>
          <a:p>
            <a:pPr marL="292100" marR="0" lvl="0" indent="-292100" algn="l" defTabSz="914400" rtl="0" eaLnBrk="0" fontAlgn="base" latinLnBrk="0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 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struct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thread_info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*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tinfo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= 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arg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;</a:t>
            </a:r>
          </a:p>
          <a:p>
            <a:pPr marL="292100" marR="0" lvl="0" indent="-292100" algn="l" defTabSz="914400" rtl="0" eaLnBrk="0" fontAlgn="base" latinLnBrk="0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 // core pinning omitted due to lack of space, see SCHED_FIFO slides</a:t>
            </a:r>
          </a:p>
          <a:p>
            <a:pPr marL="292100" marR="0" lvl="0" indent="-292100" algn="l" defTabSz="914400" rtl="0" eaLnBrk="0" fontAlgn="base" latinLnBrk="0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 if (policy == SCHED_DEADLINE) {</a:t>
            </a:r>
          </a:p>
          <a:p>
            <a:pPr marL="292100" marR="0" lvl="0" indent="-292100" algn="l" defTabSz="914400" rtl="0" eaLnBrk="0" fontAlgn="base" latinLnBrk="0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sattr.size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= 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sizeof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(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sattr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);</a:t>
            </a:r>
          </a:p>
          <a:p>
            <a:pPr marL="292100" marR="0" lvl="0" indent="-292100" algn="l" defTabSz="914400" rtl="0" eaLnBrk="0" fontAlgn="base" latinLnBrk="0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sattr.sched_flags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= 0; 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sattr.sched_nice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= 0; 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sattr.sched_priority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= 0;</a:t>
            </a:r>
          </a:p>
          <a:p>
            <a:pPr marL="292100" marR="0" lvl="0" indent="-292100" algn="l" defTabSz="914400" rtl="0" eaLnBrk="0" fontAlgn="base" latinLnBrk="0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sattr.sched_policy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= SCHED_DEADLINE; // EDF</a:t>
            </a:r>
          </a:p>
          <a:p>
            <a:pPr marL="292100" marR="0" lvl="0" indent="-292100" algn="l" defTabSz="914400" rtl="0" eaLnBrk="0" fontAlgn="base" latinLnBrk="0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sattr.sched_runtime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= 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tinfo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-&gt;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runtime.tv_sec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* 1000000000 + 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tinfo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-&gt;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runtime.tv_nsec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; </a:t>
            </a:r>
          </a:p>
          <a:p>
            <a:pPr marL="292100" marR="0" lvl="0" indent="-292100" algn="l" defTabSz="914400" rtl="0" eaLnBrk="0" fontAlgn="base" latinLnBrk="0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sattr.sched_period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= 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tinfo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-&gt;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period.tv_sec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* 1000000000 + 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tinfo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-&gt;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period.tv_nsec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; </a:t>
            </a:r>
          </a:p>
          <a:p>
            <a:pPr marL="292100" marR="0" lvl="0" indent="-292100" algn="l" defTabSz="914400" rtl="0" eaLnBrk="0" fontAlgn="base" latinLnBrk="0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sattr.sched_deadline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= 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tinfo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-&gt;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deadline.tv_sec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* 1000000000 + 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tinfo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-&gt;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deadline.tv_nsec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; </a:t>
            </a:r>
          </a:p>
          <a:p>
            <a:pPr marL="292100" marR="0" lvl="0" indent="-292100" algn="l" defTabSz="914400" rtl="0" eaLnBrk="0" fontAlgn="base" latinLnBrk="0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   ret = 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sched_setattr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(0, &amp;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sattr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, 0); // 0=self, o/w use 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gettid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()</a:t>
            </a:r>
          </a:p>
          <a:p>
            <a:pPr marL="292100" marR="0" lvl="0" indent="-292100" algn="l" defTabSz="914400" rtl="0" eaLnBrk="0" fontAlgn="base" latinLnBrk="0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 }</a:t>
            </a:r>
          </a:p>
          <a:p>
            <a:pPr marL="292100" marR="0" lvl="0" indent="-292100" algn="l" defTabSz="914400" rtl="0" eaLnBrk="0" fontAlgn="base" latinLnBrk="0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 PLUS_NTIME(release, 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starttime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, 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tinfo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-&gt;phase);</a:t>
            </a:r>
          </a:p>
          <a:p>
            <a:pPr marL="292100" marR="0" lvl="0" indent="-292100" algn="l" defTabSz="914400" rtl="0" eaLnBrk="0" fontAlgn="base" latinLnBrk="0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 do {</a:t>
            </a:r>
          </a:p>
          <a:p>
            <a:pPr marL="292100" lvl="0" indent="-29210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ct val="75000"/>
              <a:defRPr/>
            </a:pPr>
            <a:r>
              <a:rPr lang="en-US" sz="1600" u="none" kern="0" dirty="0" smtClean="0">
                <a:latin typeface="+mj-lt"/>
              </a:rPr>
              <a:t>    </a:t>
            </a:r>
            <a:r>
              <a:rPr lang="en-US" sz="1600" u="none" kern="0" dirty="0" err="1" smtClean="0">
                <a:latin typeface="+mj-lt"/>
              </a:rPr>
              <a:t>clock_nanosleep</a:t>
            </a:r>
            <a:r>
              <a:rPr lang="en-US" sz="1600" u="none" kern="0" dirty="0" smtClean="0">
                <a:latin typeface="+mj-lt"/>
              </a:rPr>
              <a:t>(CLOCK_REALTIME, TIMER_ABSTIME, &amp;release, &amp;remain);</a:t>
            </a:r>
          </a:p>
          <a:p>
            <a:pPr marL="292100" lvl="0" indent="-29210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ct val="75000"/>
              <a:defRPr/>
            </a:pPr>
            <a:r>
              <a:rPr lang="en-US" sz="1600" u="none" kern="0" dirty="0" smtClean="0">
                <a:latin typeface="+mj-lt"/>
              </a:rPr>
              <a:t>    PLUS_NTIME(release, release, </a:t>
            </a:r>
            <a:r>
              <a:rPr lang="en-US" sz="1600" u="none" kern="0" dirty="0" err="1" smtClean="0">
                <a:latin typeface="+mj-lt"/>
              </a:rPr>
              <a:t>tinfo</a:t>
            </a:r>
            <a:r>
              <a:rPr lang="en-US" sz="1600" u="none" kern="0" dirty="0" smtClean="0">
                <a:latin typeface="+mj-lt"/>
              </a:rPr>
              <a:t>-&gt;period);</a:t>
            </a:r>
          </a:p>
          <a:p>
            <a:pPr marL="292100" lvl="0" indent="-29210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ct val="75000"/>
              <a:defRPr/>
            </a:pPr>
            <a:r>
              <a:rPr lang="en-US" sz="1600" u="none" kern="0" dirty="0" smtClean="0">
                <a:latin typeface="+mj-lt"/>
              </a:rPr>
              <a:t>    body(</a:t>
            </a:r>
            <a:r>
              <a:rPr lang="en-US" sz="1600" u="none" kern="0" dirty="0" err="1" smtClean="0">
                <a:latin typeface="+mj-lt"/>
              </a:rPr>
              <a:t>tinfo</a:t>
            </a:r>
            <a:r>
              <a:rPr lang="en-US" sz="1600" u="none" kern="0" dirty="0" smtClean="0">
                <a:latin typeface="+mj-lt"/>
              </a:rPr>
              <a:t>-&gt;</a:t>
            </a:r>
            <a:r>
              <a:rPr lang="en-US" sz="1600" u="none" kern="0" dirty="0" err="1" smtClean="0">
                <a:latin typeface="+mj-lt"/>
              </a:rPr>
              <a:t>thread_num</a:t>
            </a:r>
            <a:r>
              <a:rPr lang="en-US" sz="1600" u="none" kern="0" dirty="0" smtClean="0">
                <a:latin typeface="+mj-lt"/>
              </a:rPr>
              <a:t>);</a:t>
            </a:r>
          </a:p>
          <a:p>
            <a:pPr marL="292100" lvl="0" indent="-29210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ct val="75000"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  } while (TRUE);</a:t>
            </a:r>
          </a:p>
          <a:p>
            <a:pPr marL="292100" marR="0" lvl="0" indent="-292100" algn="l" defTabSz="914400" rtl="0" eaLnBrk="0" fontAlgn="base" latinLnBrk="0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}</a:t>
            </a:r>
          </a:p>
        </p:txBody>
      </p:sp>
      <p:pic>
        <p:nvPicPr>
          <p:cNvPr id="8" name="Picture 7" descr="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355" y="2405062"/>
            <a:ext cx="1428750" cy="1704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lain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plain">
      <a:majorFont>
        <a:latin typeface="Arial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lai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i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ai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i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i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i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i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Settings\mueller\My Documents\tex\ncsu\classes\rt\readings\plain.pot</Template>
  <TotalTime>35770</TotalTime>
  <Words>2589</Words>
  <Application>Microsoft PowerPoint</Application>
  <PresentationFormat>On-screen Show (4:3)</PresentationFormat>
  <Paragraphs>327</Paragraphs>
  <Slides>27</Slides>
  <Notes>5</Notes>
  <HiddenSlides>8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plain</vt:lpstr>
      <vt:lpstr>Dynamic-priority Scheduling (Jaffay et al.+Chapter 6)</vt:lpstr>
      <vt:lpstr>Outline</vt:lpstr>
      <vt:lpstr>Notation of Real-Time Tasks</vt:lpstr>
      <vt:lpstr>Optimality of EDF</vt:lpstr>
      <vt:lpstr>Proof of Theorem 4-1</vt:lpstr>
      <vt:lpstr>Proof (Continued)</vt:lpstr>
      <vt:lpstr>LLF Scheduling</vt:lpstr>
      <vt:lpstr>Optimality of LLF</vt:lpstr>
      <vt:lpstr>Preemptive vs. Nonpreemptive EDF</vt:lpstr>
      <vt:lpstr>Proof (Continued)</vt:lpstr>
      <vt:lpstr>Utilization-based Schedulability Test for (Preemptive) EDF</vt:lpstr>
      <vt:lpstr>Setting Up the Proof</vt:lpstr>
      <vt:lpstr>Proof (Continued)</vt:lpstr>
      <vt:lpstr>Proof (Continued)</vt:lpstr>
      <vt:lpstr>EDF with Deadlines &lt; Periods</vt:lpstr>
      <vt:lpstr>Deadlines &lt; Periods (Continued)</vt:lpstr>
      <vt:lpstr>Proof of Non-tightness</vt:lpstr>
      <vt:lpstr>Non-preemptive EDF (Jeffay et al.)</vt:lpstr>
      <vt:lpstr>Explanation</vt:lpstr>
      <vt:lpstr>Second Condition (Continued)</vt:lpstr>
      <vt:lpstr>Proof of Theorem</vt:lpstr>
      <vt:lpstr>Proof (Continued)</vt:lpstr>
      <vt:lpstr>Proof (Continued)</vt:lpstr>
      <vt:lpstr>Proof (Continued)</vt:lpstr>
      <vt:lpstr>Notes</vt:lpstr>
      <vt:lpstr>Pseudocode for Tasks as POSIX Threads</vt:lpstr>
      <vt:lpstr>Linux SCHED_DEADLINE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Dynamic-priority Scheduling</dc:title>
  <dc:subject>Comp 232</dc:subject>
  <dc:creator>James H. Anderson</dc:creator>
  <cp:lastModifiedBy>mueller</cp:lastModifiedBy>
  <cp:revision>819</cp:revision>
  <cp:lastPrinted>1998-09-05T03:00:48Z</cp:lastPrinted>
  <dcterms:created xsi:type="dcterms:W3CDTF">1995-06-17T23:31:02Z</dcterms:created>
  <dcterms:modified xsi:type="dcterms:W3CDTF">2026-01-22T01:30:37Z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3</vt:i4>
  </property>
  <property fmtid="{D5CDD505-2E9C-101B-9397-08002B2CF9AE}" pid="7" name="MailAddress">
    <vt:lpwstr>moir@cs.pitt.edu</vt:lpwstr>
  </property>
  <property fmtid="{D5CDD505-2E9C-101B-9397-08002B2CF9AE}" pid="8" name="HomePage">
    <vt:lpwstr>http://www.cs.pitt.edu/~moir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8454143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D:\My Documents</vt:lpwstr>
  </property>
</Properties>
</file>