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9"/>
  </p:notesMasterIdLst>
  <p:handoutMasterIdLst>
    <p:handoutMasterId r:id="rId40"/>
  </p:handoutMasterIdLst>
  <p:sldIdLst>
    <p:sldId id="332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410" r:id="rId32"/>
    <p:sldId id="411" r:id="rId33"/>
    <p:sldId id="412" r:id="rId34"/>
    <p:sldId id="413" r:id="rId35"/>
    <p:sldId id="414" r:id="rId36"/>
    <p:sldId id="415" r:id="rId37"/>
    <p:sldId id="416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CCECFF"/>
    <a:srgbClr val="99CCFF"/>
    <a:srgbClr val="CCFF99"/>
    <a:srgbClr val="FFFFCC"/>
    <a:srgbClr val="CC0000"/>
    <a:srgbClr val="008000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31" autoAdjust="0"/>
    <p:restoredTop sz="90989" autoAdjust="0"/>
  </p:normalViewPr>
  <p:slideViewPr>
    <p:cSldViewPr snapToGrid="0">
      <p:cViewPr varScale="1">
        <p:scale>
          <a:sx n="103" d="100"/>
          <a:sy n="103" d="100"/>
        </p:scale>
        <p:origin x="-1290" y="-96"/>
      </p:cViewPr>
      <p:guideLst>
        <p:guide orient="horz" pos="2864"/>
        <p:guide pos="232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317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-317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t" anchorCtr="0" compatLnSpc="1">
            <a:prstTxWarp prst="textNoShape">
              <a:avLst/>
            </a:prstTxWarp>
          </a:bodyPr>
          <a:lstStyle>
            <a:lvl1pPr algn="r"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5700" y="698500"/>
            <a:ext cx="4548188" cy="34115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3400"/>
            <a:ext cx="5032375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59" tIns="46135" rIns="93859" bIns="461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b" anchorCtr="0" compatLnSpc="1">
            <a:prstTxWarp prst="textNoShape">
              <a:avLst/>
            </a:prstTxWarp>
          </a:bodyPr>
          <a:lstStyle>
            <a:lvl1pPr algn="r"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fld id="{07C2AE44-588E-4666-83C2-00526AD10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1963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2392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8747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49438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4AFC7A-B431-42EC-83A6-E9CB91F56625}" type="slidenum">
              <a:rPr lang="en-US" smtClean="0"/>
              <a:pPr>
                <a:defRPr/>
              </a:pPr>
              <a:t>1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C2AE44-588E-4666-83C2-00526AD1007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75" y="298450"/>
            <a:ext cx="2079625" cy="6356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9100" y="298450"/>
            <a:ext cx="6086475" cy="63563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298450"/>
            <a:ext cx="8280400" cy="9080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79248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9243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243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298450"/>
            <a:ext cx="8280400" cy="908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587500"/>
            <a:ext cx="8318500" cy="506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375812" name="Rectangle 4"/>
          <p:cNvSpPr>
            <a:spLocks noChangeArrowheads="1"/>
          </p:cNvSpPr>
          <p:nvPr/>
        </p:nvSpPr>
        <p:spPr bwMode="auto">
          <a:xfrm>
            <a:off x="8007350" y="6650038"/>
            <a:ext cx="666750" cy="136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r" eaLnBrk="0" hangingPunct="0">
              <a:defRPr/>
            </a:pPr>
            <a:r>
              <a:rPr lang="en-US" sz="900" b="0">
                <a:latin typeface="Arial" pitchFamily="34" charset="0"/>
                <a:cs typeface="+mn-cs"/>
              </a:rPr>
              <a:t> </a:t>
            </a:r>
            <a:fld id="{F88EAAD2-8098-4F7E-A238-A047FE813AB4}" type="slidenum">
              <a:rPr lang="en-US" sz="900" b="0">
                <a:latin typeface="Arial" pitchFamily="34" charset="0"/>
                <a:cs typeface="+mn-cs"/>
              </a:rPr>
              <a:pPr algn="r" eaLnBrk="0" hangingPunct="0">
                <a:defRPr/>
              </a:pPr>
              <a:t>‹#›</a:t>
            </a:fld>
            <a:endParaRPr lang="en-US" sz="900" b="0">
              <a:latin typeface="Arial" pitchFamily="34" charset="0"/>
              <a:cs typeface="+mn-cs"/>
            </a:endParaRPr>
          </a:p>
        </p:txBody>
      </p:sp>
      <p:grpSp>
        <p:nvGrpSpPr>
          <p:cNvPr id="1030" name="Group 6"/>
          <p:cNvGrpSpPr>
            <a:grpSpLocks/>
          </p:cNvGrpSpPr>
          <p:nvPr/>
        </p:nvGrpSpPr>
        <p:grpSpPr bwMode="auto">
          <a:xfrm>
            <a:off x="419100" y="1250950"/>
            <a:ext cx="8305800" cy="196850"/>
            <a:chOff x="264" y="788"/>
            <a:chExt cx="5232" cy="124"/>
          </a:xfrm>
        </p:grpSpPr>
        <p:sp>
          <p:nvSpPr>
            <p:cNvPr id="375815" name="Rectangle 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12C2E9">
                    <a:gamma/>
                    <a:shade val="80000"/>
                    <a:invGamma/>
                  </a:srgbClr>
                </a:gs>
                <a:gs pos="50000">
                  <a:srgbClr val="12C2E9"/>
                </a:gs>
                <a:gs pos="100000">
                  <a:srgbClr val="12C2E9">
                    <a:gamma/>
                    <a:shade val="80000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75816" name="Rectangle 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FF00FF">
                    <a:gamma/>
                    <a:shade val="69804"/>
                    <a:invGamma/>
                  </a:srgbClr>
                </a:gs>
                <a:gs pos="50000">
                  <a:srgbClr val="FF00FF"/>
                </a:gs>
                <a:gs pos="100000">
                  <a:srgbClr val="FF00FF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marL="292100" indent="-292100" algn="l" rtl="0" eaLnBrk="0" fontAlgn="base" hangingPunct="0">
        <a:lnSpc>
          <a:spcPts val="2400"/>
        </a:lnSpc>
        <a:spcBef>
          <a:spcPts val="600"/>
        </a:spcBef>
        <a:spcAft>
          <a:spcPts val="400"/>
        </a:spcAft>
        <a:buClr>
          <a:srgbClr val="0C7B9C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—"/>
        <a:defRPr sz="2000">
          <a:solidFill>
            <a:schemeClr val="tx1"/>
          </a:solidFill>
          <a:latin typeface="+mn-lt"/>
        </a:defRPr>
      </a:lvl2pPr>
      <a:lvl3pPr marL="9144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 algn="ctr">
              <a:buSzPct val="88000"/>
            </a:pPr>
            <a:r>
              <a:rPr lang="en-US" dirty="0" smtClean="0"/>
              <a:t>Modeling Synchronous Systems</a:t>
            </a:r>
            <a:endParaRPr lang="en-GB" dirty="0" smtClean="0"/>
          </a:p>
        </p:txBody>
      </p:sp>
      <p:pic>
        <p:nvPicPr>
          <p:cNvPr id="6" name="Picture 5" descr="t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873" y="1939562"/>
            <a:ext cx="3314700" cy="2952750"/>
          </a:xfrm>
          <a:prstGeom prst="rect">
            <a:avLst/>
          </a:prstGeom>
        </p:spPr>
      </p:pic>
      <p:pic>
        <p:nvPicPr>
          <p:cNvPr id="7" name="Picture 6" descr="tm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47503" y="2050869"/>
            <a:ext cx="2847702" cy="2847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0698" y="3051948"/>
            <a:ext cx="4281487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Model-Based Design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3581400"/>
            <a:ext cx="8839200" cy="30506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Block Diagrams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Widely used in industrial design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Tools: </a:t>
            </a:r>
            <a:r>
              <a:rPr lang="en-US" sz="2000" dirty="0" err="1" smtClean="0">
                <a:latin typeface="Comic Sans MS" pitchFamily="66" charset="0"/>
              </a:rPr>
              <a:t>Simulink</a:t>
            </a:r>
            <a:r>
              <a:rPr lang="en-US" sz="2000" dirty="0" smtClean="0">
                <a:latin typeface="Comic Sans MS" pitchFamily="66" charset="0"/>
              </a:rPr>
              <a:t>, </a:t>
            </a:r>
            <a:r>
              <a:rPr lang="en-US" sz="2000" dirty="0" err="1" smtClean="0">
                <a:latin typeface="Comic Sans MS" pitchFamily="66" charset="0"/>
              </a:rPr>
              <a:t>Modelica</a:t>
            </a:r>
            <a:r>
              <a:rPr lang="en-US" sz="2000" dirty="0" smtClean="0">
                <a:latin typeface="Comic Sans MS" pitchFamily="66" charset="0"/>
              </a:rPr>
              <a:t>, </a:t>
            </a:r>
            <a:br>
              <a:rPr lang="en-US" sz="2000" dirty="0" smtClean="0">
                <a:latin typeface="Comic Sans MS" pitchFamily="66" charset="0"/>
              </a:rPr>
            </a:br>
            <a:r>
              <a:rPr lang="en-US" sz="2000" dirty="0" err="1" smtClean="0">
                <a:latin typeface="Comic Sans MS" pitchFamily="66" charset="0"/>
              </a:rPr>
              <a:t>LabView</a:t>
            </a:r>
            <a:r>
              <a:rPr lang="en-US" sz="2000" dirty="0" smtClean="0">
                <a:latin typeface="Comic Sans MS" pitchFamily="66" charset="0"/>
              </a:rPr>
              <a:t>, </a:t>
            </a:r>
            <a:r>
              <a:rPr lang="en-US" sz="2000" dirty="0" err="1" smtClean="0">
                <a:latin typeface="Comic Sans MS" pitchFamily="66" charset="0"/>
              </a:rPr>
              <a:t>RationalRose</a:t>
            </a:r>
            <a:r>
              <a:rPr lang="en-US" sz="2000" dirty="0" smtClean="0">
                <a:latin typeface="Comic Sans MS" pitchFamily="66" charset="0"/>
              </a:rPr>
              <a:t>…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Key question: what is the execution semantics?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What is a base component?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How do we compose components to form complex components?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004840"/>
            <a:ext cx="12192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971800" y="1776240"/>
            <a:ext cx="1219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971800" y="2614440"/>
            <a:ext cx="1219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 flipV="1">
            <a:off x="2362200" y="2042940"/>
            <a:ext cx="609600" cy="304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191000" y="192864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191000" y="215724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191000" y="264335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1"/>
          </p:cNvCxnSpPr>
          <p:nvPr/>
        </p:nvCxnSpPr>
        <p:spPr>
          <a:xfrm>
            <a:off x="2362200" y="2614440"/>
            <a:ext cx="609600" cy="2667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28600" y="223344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28600" y="246204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38200" y="2995440"/>
            <a:ext cx="21336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38200" y="2462040"/>
            <a:ext cx="0" cy="5334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/>
          <p:nvPr/>
        </p:nvGrpSpPr>
        <p:grpSpPr>
          <a:xfrm>
            <a:off x="6096000" y="2081040"/>
            <a:ext cx="2819400" cy="914400"/>
            <a:chOff x="6096000" y="1828800"/>
            <a:chExt cx="2819400" cy="914400"/>
          </a:xfrm>
        </p:grpSpPr>
        <p:sp>
          <p:nvSpPr>
            <p:cNvPr id="28" name="Rectangle 27"/>
            <p:cNvSpPr/>
            <p:nvPr/>
          </p:nvSpPr>
          <p:spPr>
            <a:xfrm>
              <a:off x="6705600" y="1828800"/>
              <a:ext cx="16002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8305800" y="19812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8305800" y="22860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8305800" y="25908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6096000" y="21336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6096000" y="25146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/>
          <p:cNvSpPr/>
          <p:nvPr/>
        </p:nvSpPr>
        <p:spPr>
          <a:xfrm>
            <a:off x="533400" y="1471440"/>
            <a:ext cx="40386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Functional vs. Reactive Computation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 smtClean="0">
                <a:latin typeface="Comic Sans MS" pitchFamily="66" charset="0"/>
              </a:rPr>
              <a:t>Classical model of computation: Functional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Given inputs, a program produces outputs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Desired functionality described by a mathematical function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Example: Sorting of names, Shortest paths in a weighted graph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Theory of computation provides foundation for this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Canonical model: Turing machines</a:t>
            </a:r>
          </a:p>
          <a:p>
            <a:pPr lvl="1">
              <a:buFont typeface="Wingdings" pitchFamily="2" charset="2"/>
              <a:buChar char="§"/>
            </a:pPr>
            <a:endParaRPr lang="en-US" sz="18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200" dirty="0" smtClean="0">
                <a:latin typeface="Comic Sans MS" pitchFamily="66" charset="0"/>
              </a:rPr>
              <a:t>Reactive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System interacts with its environment via inputs and outputs in an ongoing manner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Desired behaviors: which sequences of observed input/output interactions are acceptable?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Example: Cruise controller in a car</a:t>
            </a:r>
          </a:p>
        </p:txBody>
      </p:sp>
      <p:pic>
        <p:nvPicPr>
          <p:cNvPr id="63492" name="Picture 4" descr="Alan Tur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2590800"/>
            <a:ext cx="1085110" cy="136786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Sequential vs. Concurrent Computation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 smtClean="0">
                <a:latin typeface="Comic Sans MS" pitchFamily="66" charset="0"/>
              </a:rPr>
              <a:t>Classical model of computation: Sequential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A computation is a sequence of instructions executed one at a time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latin typeface="Comic Sans MS" pitchFamily="66" charset="0"/>
              </a:rPr>
              <a:t>Well understood and canonical model: Turing machines</a:t>
            </a:r>
          </a:p>
          <a:p>
            <a:pPr lvl="1">
              <a:buFont typeface="Wingdings" pitchFamily="2" charset="2"/>
              <a:buChar char="§"/>
            </a:pPr>
            <a:endParaRPr lang="en-US" sz="18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200" dirty="0" smtClean="0">
                <a:latin typeface="Comic Sans MS" pitchFamily="66" charset="0"/>
              </a:rPr>
              <a:t>Concurrent Computation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Multiple components/processes exchanging information and evolving concurrently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Logical vs. physical concurrency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Broad range of formal models for concurrent computation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Key distinction: Synchronous </a:t>
            </a:r>
            <a:r>
              <a:rPr lang="en-US" sz="2000" dirty="0" err="1" smtClean="0">
                <a:latin typeface="Comic Sans MS" pitchFamily="66" charset="0"/>
              </a:rPr>
              <a:t>vs</a:t>
            </a:r>
            <a:r>
              <a:rPr lang="en-US" sz="2000" dirty="0" smtClean="0">
                <a:latin typeface="Comic Sans MS" pitchFamily="66" charset="0"/>
              </a:rPr>
              <a:t> Asynchronous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Synchronous Models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981200"/>
            <a:ext cx="9144000" cy="3886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All components execute in a sequence of (logical) rounds in lock-step 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Example: Component blocks in digital hardware circuit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Clock drives all components in a synchronized manner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Key idea in synchronous languages: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Design system using such a synchronous round-based computation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Benefit: Design is simpler (why?)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Challenge: Ensure synchronous execution even if implementation platform is not single-chip hardware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>
              <a:latin typeface="Comic Sans MS" pitchFamily="66" charset="0"/>
            </a:endParaRPr>
          </a:p>
        </p:txBody>
      </p:sp>
      <p:pic>
        <p:nvPicPr>
          <p:cNvPr id="12" name="Picture 4" descr="http://www.intechopen.com/source/html/41709/media/image1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76200"/>
            <a:ext cx="2971800" cy="1704109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First Example: Delay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2895600"/>
            <a:ext cx="7391400" cy="533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Input variable: in of type Boolean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2800" y="160020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943600" y="20574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438400" y="20574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38400" y="167640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6019800" y="167640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3352800" y="1905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7600" y="160020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657600" y="2057400"/>
            <a:ext cx="130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out:=x ; x:= in</a:t>
            </a:r>
            <a:endParaRPr lang="en-US" sz="1600" dirty="0"/>
          </a:p>
        </p:txBody>
      </p:sp>
      <p:sp>
        <p:nvSpPr>
          <p:cNvPr id="41" name="Content Placeholder 3"/>
          <p:cNvSpPr txBox="1">
            <a:spLocks/>
          </p:cNvSpPr>
          <p:nvPr/>
        </p:nvSpPr>
        <p:spPr>
          <a:xfrm>
            <a:off x="228600" y="3429000"/>
            <a:ext cx="7391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Output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variable: </a:t>
            </a:r>
            <a:r>
              <a:rPr lang="en-US" sz="2000" dirty="0" smtClean="0">
                <a:latin typeface="Comic Sans MS" pitchFamily="66" charset="0"/>
              </a:rPr>
              <a:t>out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of type Boolean</a:t>
            </a:r>
          </a:p>
        </p:txBody>
      </p:sp>
      <p:sp>
        <p:nvSpPr>
          <p:cNvPr id="43" name="Content Placeholder 3"/>
          <p:cNvSpPr txBox="1">
            <a:spLocks/>
          </p:cNvSpPr>
          <p:nvPr/>
        </p:nvSpPr>
        <p:spPr>
          <a:xfrm>
            <a:off x="228600" y="3962400"/>
            <a:ext cx="7391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State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variable: x of type Boolean</a:t>
            </a:r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228600" y="4495800"/>
            <a:ext cx="7391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Initialization of state variables: assignment x:=0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228600" y="5029200"/>
            <a:ext cx="7696200" cy="68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200" dirty="0" smtClean="0">
                <a:latin typeface="Comic Sans MS" pitchFamily="66" charset="0"/>
              </a:rPr>
              <a:t>In each round, in response to an input, produce output and update state by executing the update code:  out:=x; x:=in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6" grpId="0"/>
      <p:bldP spid="31" grpId="0"/>
      <p:bldP spid="34" grpId="0"/>
      <p:bldP spid="36" grpId="0"/>
      <p:bldP spid="41" grpId="0" build="p"/>
      <p:bldP spid="43" grpId="0" build="p"/>
      <p:bldP spid="44" grpId="0" build="p"/>
      <p:bldP spid="4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Delay: Round-based Execution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2819400"/>
            <a:ext cx="7391400" cy="533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Initialize state to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2800" y="160020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943600" y="20574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438400" y="20574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38400" y="167640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3352800" y="1905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7600" y="160020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657600" y="2057400"/>
            <a:ext cx="130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out:=x ; x:= in</a:t>
            </a:r>
            <a:endParaRPr lang="en-US" sz="1600" dirty="0"/>
          </a:p>
        </p:txBody>
      </p:sp>
      <p:sp>
        <p:nvSpPr>
          <p:cNvPr id="43" name="Content Placeholder 3"/>
          <p:cNvSpPr txBox="1">
            <a:spLocks/>
          </p:cNvSpPr>
          <p:nvPr/>
        </p:nvSpPr>
        <p:spPr>
          <a:xfrm>
            <a:off x="228600" y="3429000"/>
            <a:ext cx="85344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Repeatedly execute rounds. In each round: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		Choose a value for the input variable in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>
                <a:latin typeface="Comic Sans MS" pitchFamily="66" charset="0"/>
              </a:rPr>
              <a:t>	</a:t>
            </a:r>
            <a:r>
              <a:rPr lang="en-US" sz="2000" dirty="0" smtClean="0">
                <a:latin typeface="Comic Sans MS" pitchFamily="66" charset="0"/>
              </a:rPr>
              <a:t>	Execute update code to produce output out and change state</a:t>
            </a:r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228600" y="4800600"/>
            <a:ext cx="8736724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Sample execution:		</a:t>
            </a:r>
            <a:r>
              <a:rPr lang="en-US" sz="2000" b="0" noProof="0" dirty="0" smtClean="0">
                <a:latin typeface="Comic Sans MS" pitchFamily="66" charset="0"/>
              </a:rPr>
              <a:t>notation:  old state 		</a:t>
            </a:r>
            <a:r>
              <a:rPr lang="en-US" sz="2000" b="0" noProof="0" dirty="0" smtClean="0">
                <a:latin typeface="Comic Sans MS" pitchFamily="66" charset="0"/>
                <a:sym typeface="Wingdings" pitchFamily="2" charset="2"/>
              </a:rPr>
              <a:t> new state</a:t>
            </a:r>
            <a:endParaRPr lang="en-US" sz="2000" b="0" noProof="0" dirty="0" smtClean="0"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0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3" name="Group 20"/>
          <p:cNvGrpSpPr/>
          <p:nvPr/>
        </p:nvGrpSpPr>
        <p:grpSpPr>
          <a:xfrm>
            <a:off x="942108" y="5299363"/>
            <a:ext cx="924110" cy="628710"/>
            <a:chOff x="1676400" y="5638800"/>
            <a:chExt cx="924110" cy="628710"/>
          </a:xfrm>
        </p:grpSpPr>
        <p:sp>
          <p:nvSpPr>
            <p:cNvPr id="31" name="TextBox 30"/>
            <p:cNvSpPr txBox="1"/>
            <p:nvPr/>
          </p:nvSpPr>
          <p:spPr>
            <a:xfrm>
              <a:off x="1676400" y="5638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/ 0</a:t>
              </a:r>
              <a:endParaRPr lang="en-US" sz="1600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1676400" y="60198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286000" y="586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1932708" y="5299363"/>
            <a:ext cx="924110" cy="628710"/>
            <a:chOff x="1676400" y="5638800"/>
            <a:chExt cx="924110" cy="628710"/>
          </a:xfrm>
        </p:grpSpPr>
        <p:sp>
          <p:nvSpPr>
            <p:cNvPr id="23" name="TextBox 22"/>
            <p:cNvSpPr txBox="1"/>
            <p:nvPr/>
          </p:nvSpPr>
          <p:spPr>
            <a:xfrm>
              <a:off x="1676400" y="5638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/ 1</a:t>
              </a:r>
              <a:endParaRPr lang="en-US" sz="1600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676400" y="60198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286000" y="586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2923308" y="5299363"/>
            <a:ext cx="924110" cy="628710"/>
            <a:chOff x="1676400" y="5638800"/>
            <a:chExt cx="924110" cy="628710"/>
          </a:xfrm>
        </p:grpSpPr>
        <p:sp>
          <p:nvSpPr>
            <p:cNvPr id="29" name="TextBox 28"/>
            <p:cNvSpPr txBox="1"/>
            <p:nvPr/>
          </p:nvSpPr>
          <p:spPr>
            <a:xfrm>
              <a:off x="1676400" y="5638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  <a:r>
                <a:rPr lang="en-US" sz="1600" dirty="0" smtClean="0"/>
                <a:t> / 1</a:t>
              </a:r>
              <a:endParaRPr lang="en-US" sz="1600" dirty="0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1676400" y="60198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286000" y="586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0</a:t>
              </a:r>
              <a:endParaRPr lang="en-US" sz="2000" dirty="0"/>
            </a:p>
          </p:txBody>
        </p:sp>
      </p:grpSp>
      <p:grpSp>
        <p:nvGrpSpPr>
          <p:cNvPr id="7" name="Group 34"/>
          <p:cNvGrpSpPr/>
          <p:nvPr/>
        </p:nvGrpSpPr>
        <p:grpSpPr>
          <a:xfrm>
            <a:off x="3990108" y="5299363"/>
            <a:ext cx="924110" cy="628710"/>
            <a:chOff x="1676400" y="5638800"/>
            <a:chExt cx="924110" cy="628710"/>
          </a:xfrm>
        </p:grpSpPr>
        <p:sp>
          <p:nvSpPr>
            <p:cNvPr id="38" name="TextBox 37"/>
            <p:cNvSpPr txBox="1"/>
            <p:nvPr/>
          </p:nvSpPr>
          <p:spPr>
            <a:xfrm>
              <a:off x="1676400" y="5638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  <a:r>
                <a:rPr lang="en-US" sz="1600" dirty="0" smtClean="0"/>
                <a:t> / 0</a:t>
              </a:r>
              <a:endParaRPr lang="en-US" sz="1600" dirty="0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1676400" y="60198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286000" y="586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0</a:t>
              </a:r>
              <a:endParaRPr lang="en-US" sz="2000" dirty="0"/>
            </a:p>
          </p:txBody>
        </p:sp>
      </p:grpSp>
      <p:grpSp>
        <p:nvGrpSpPr>
          <p:cNvPr id="8" name="Group 45"/>
          <p:cNvGrpSpPr/>
          <p:nvPr/>
        </p:nvGrpSpPr>
        <p:grpSpPr>
          <a:xfrm>
            <a:off x="4980708" y="5299363"/>
            <a:ext cx="924110" cy="628710"/>
            <a:chOff x="1676400" y="5638800"/>
            <a:chExt cx="924110" cy="628710"/>
          </a:xfrm>
        </p:grpSpPr>
        <p:sp>
          <p:nvSpPr>
            <p:cNvPr id="47" name="TextBox 46"/>
            <p:cNvSpPr txBox="1"/>
            <p:nvPr/>
          </p:nvSpPr>
          <p:spPr>
            <a:xfrm>
              <a:off x="1676400" y="5638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/ 0</a:t>
              </a:r>
              <a:endParaRPr lang="en-US" sz="1600" dirty="0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1676400" y="60198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286000" y="586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</p:grpSp>
      <p:cxnSp>
        <p:nvCxnSpPr>
          <p:cNvPr id="53" name="Straight Arrow Connector 52"/>
          <p:cNvCxnSpPr/>
          <p:nvPr/>
        </p:nvCxnSpPr>
        <p:spPr>
          <a:xfrm>
            <a:off x="6123708" y="5718463"/>
            <a:ext cx="990600" cy="0"/>
          </a:xfrm>
          <a:prstGeom prst="straightConnector1">
            <a:avLst/>
          </a:prstGeom>
          <a:ln w="2540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19800" y="167640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6211588" y="4593023"/>
            <a:ext cx="1650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smtClean="0">
                <a:latin typeface="Comic Sans MS" pitchFamily="66" charset="0"/>
              </a:rPr>
              <a:t>input/output</a:t>
            </a:r>
            <a:endParaRPr lang="en-US" sz="1800" dirty="0"/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6369267" y="5034502"/>
            <a:ext cx="12192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sm" len="sm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3" grpId="0" build="p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Synchrony Hypothesis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828800"/>
            <a:ext cx="8839200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Assumption: Time needed to execute the update code is negligible compared to delay between successive input arrivals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Logical abstraction: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Execution of update code takes zero time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Production of outputs and reception of inputs occurs at same time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When multiple components are composed, all execute synchronously and simultaneously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Implementation must ensure that this design-time assumption is valid</a:t>
            </a:r>
          </a:p>
        </p:txBody>
      </p:sp>
      <p:pic>
        <p:nvPicPr>
          <p:cNvPr id="12" name="Picture 4" descr="http://www.intechopen.com/source/html/41709/media/image1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76200"/>
            <a:ext cx="2971800" cy="1704109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Components in an Automobile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3502560"/>
            <a:ext cx="9144000" cy="2895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Components need to communicate and coordinate over a shared bus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Design abstraction: Synchronous </a:t>
            </a:r>
            <a:r>
              <a:rPr lang="en-US" sz="2000" dirty="0" smtClean="0">
                <a:solidFill>
                  <a:srgbClr val="C00000"/>
                </a:solidFill>
                <a:latin typeface="Comic Sans MS" pitchFamily="66" charset="0"/>
              </a:rPr>
              <a:t>time-triggered communication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Time is divided into slots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In each slot, exactly one component sends a message over the bus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CAN protocol implements time-triggered communication (via TDMA)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1290" y="1487200"/>
            <a:ext cx="2971800" cy="1936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Synchronous Reactive Component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" name="Group 40"/>
          <p:cNvGrpSpPr/>
          <p:nvPr/>
        </p:nvGrpSpPr>
        <p:grpSpPr>
          <a:xfrm>
            <a:off x="2337108" y="1657990"/>
            <a:ext cx="4469785" cy="1371600"/>
            <a:chOff x="2438400" y="1143000"/>
            <a:chExt cx="4469785" cy="1371600"/>
          </a:xfrm>
        </p:grpSpPr>
        <p:sp>
          <p:nvSpPr>
            <p:cNvPr id="9" name="Rectangle 8"/>
            <p:cNvSpPr/>
            <p:nvPr/>
          </p:nvSpPr>
          <p:spPr>
            <a:xfrm>
              <a:off x="3352800" y="1600200"/>
              <a:ext cx="25908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5943600" y="20574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438400" y="21336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438400" y="1752600"/>
              <a:ext cx="756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in</a:t>
              </a:r>
              <a:endParaRPr lang="en-US" sz="16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352800" y="1905000"/>
              <a:ext cx="259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657600" y="1600200"/>
              <a:ext cx="1045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x := 0</a:t>
              </a:r>
              <a:endParaRPr lang="en-US" sz="1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57600" y="2057400"/>
              <a:ext cx="13083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out:=x ; x:= in</a:t>
              </a:r>
              <a:endParaRPr lang="en-US" sz="16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19800" y="1676400"/>
              <a:ext cx="8883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52800" y="1143000"/>
              <a:ext cx="6473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Delay</a:t>
              </a:r>
              <a:endParaRPr lang="en-US" sz="1600" dirty="0"/>
            </a:p>
          </p:txBody>
        </p:sp>
      </p:grpSp>
      <p:grpSp>
        <p:nvGrpSpPr>
          <p:cNvPr id="4" name="Group 37"/>
          <p:cNvGrpSpPr/>
          <p:nvPr/>
        </p:nvGrpSpPr>
        <p:grpSpPr>
          <a:xfrm>
            <a:off x="1741134" y="3867790"/>
            <a:ext cx="5661733" cy="1905000"/>
            <a:chOff x="1981200" y="3352800"/>
            <a:chExt cx="5661733" cy="1905000"/>
          </a:xfrm>
        </p:grpSpPr>
        <p:sp>
          <p:nvSpPr>
            <p:cNvPr id="17" name="Rectangle 16"/>
            <p:cNvSpPr/>
            <p:nvPr/>
          </p:nvSpPr>
          <p:spPr>
            <a:xfrm>
              <a:off x="3352800" y="3429000"/>
              <a:ext cx="2971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31"/>
            <p:cNvGrpSpPr/>
            <p:nvPr/>
          </p:nvGrpSpPr>
          <p:grpSpPr>
            <a:xfrm>
              <a:off x="3352800" y="3505200"/>
              <a:ext cx="2971800" cy="609600"/>
              <a:chOff x="3352800" y="3505200"/>
              <a:chExt cx="2971800" cy="609600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4114800"/>
                <a:ext cx="2971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3352800" y="3505200"/>
                <a:ext cx="258570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State variables:</a:t>
                </a:r>
              </a:p>
              <a:p>
                <a:r>
                  <a:rPr lang="en-US" sz="1600" dirty="0" smtClean="0"/>
                  <a:t>     Declaration + Initialization</a:t>
                </a:r>
                <a:endParaRPr lang="en-US" sz="1600" dirty="0"/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3352800" y="4267200"/>
              <a:ext cx="28535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Update code:</a:t>
              </a:r>
            </a:p>
            <a:p>
              <a:r>
                <a:rPr lang="en-US" sz="1600" dirty="0" smtClean="0"/>
                <a:t>     To be executed in each round</a:t>
              </a:r>
              <a:endParaRPr lang="en-US" sz="1600" dirty="0"/>
            </a:p>
          </p:txBody>
        </p:sp>
        <p:grpSp>
          <p:nvGrpSpPr>
            <p:cNvPr id="6" name="Group 29"/>
            <p:cNvGrpSpPr/>
            <p:nvPr/>
          </p:nvGrpSpPr>
          <p:grpSpPr>
            <a:xfrm>
              <a:off x="1981200" y="3352800"/>
              <a:ext cx="1371600" cy="1676400"/>
              <a:chOff x="1981200" y="3352800"/>
              <a:chExt cx="1371600" cy="1676400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>
                <a:off x="24384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24384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2438400" y="50292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1981200" y="3352800"/>
                <a:ext cx="7072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Inputs</a:t>
                </a:r>
                <a:endParaRPr lang="en-US" sz="1600" dirty="0"/>
              </a:p>
            </p:txBody>
          </p:sp>
        </p:grpSp>
        <p:grpSp>
          <p:nvGrpSpPr>
            <p:cNvPr id="7" name="Group 30"/>
            <p:cNvGrpSpPr/>
            <p:nvPr/>
          </p:nvGrpSpPr>
          <p:grpSpPr>
            <a:xfrm>
              <a:off x="6324600" y="3352800"/>
              <a:ext cx="1318333" cy="1371600"/>
              <a:chOff x="6324600" y="3352800"/>
              <a:chExt cx="1318333" cy="1371600"/>
            </a:xfrm>
          </p:grpSpPr>
          <p:cxnSp>
            <p:nvCxnSpPr>
              <p:cNvPr id="21" name="Straight Arrow Connector 20"/>
              <p:cNvCxnSpPr/>
              <p:nvPr/>
            </p:nvCxnSpPr>
            <p:spPr>
              <a:xfrm>
                <a:off x="63246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63246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6324600" y="47244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781800" y="3352800"/>
                <a:ext cx="8611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Outputs</a:t>
                </a:r>
                <a:endParaRPr lang="en-US" sz="1600" dirty="0"/>
              </a:p>
            </p:txBody>
          </p:sp>
        </p:grpSp>
        <p:cxnSp>
          <p:nvCxnSpPr>
            <p:cNvPr id="35" name="Straight Connector 34"/>
            <p:cNvCxnSpPr/>
            <p:nvPr/>
          </p:nvCxnSpPr>
          <p:spPr>
            <a:xfrm>
              <a:off x="2819400" y="4191000"/>
              <a:ext cx="0" cy="6096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705600" y="4114800"/>
              <a:ext cx="0" cy="4572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Model Definition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19100" y="1587500"/>
            <a:ext cx="8598776" cy="50673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Syntax: How to describe a component?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Variable declarations, types, code describing update …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Semantics: What does the description mean?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Defined using mathematical concepts such as sets, functions …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Formal: Semantics is defined precisely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Necessary for tools for analysis, compilation, verification …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Defining formal semantics for a “real” language is challenging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But concepts can be illustrated on a “toy” modeling language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Our modeling language: Synchronous Reactive Components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Representative of many “academic” proposals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Industrial-strength synchronous languages</a:t>
            </a:r>
          </a:p>
          <a:p>
            <a:pPr lvl="1">
              <a:buNone/>
            </a:pPr>
            <a:r>
              <a:rPr lang="en-US" sz="2000" dirty="0">
                <a:latin typeface="Comic Sans MS" pitchFamily="66" charset="0"/>
              </a:rPr>
              <a:t>	</a:t>
            </a:r>
            <a:r>
              <a:rPr lang="en-US" sz="2000" dirty="0" err="1" smtClean="0">
                <a:latin typeface="Comic Sans MS" pitchFamily="66" charset="0"/>
              </a:rPr>
              <a:t>Esterel</a:t>
            </a:r>
            <a:r>
              <a:rPr lang="en-US" sz="2000" dirty="0" smtClean="0">
                <a:latin typeface="Comic Sans MS" pitchFamily="66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Comic Sans MS" pitchFamily="66" charset="0"/>
              </a:rPr>
              <a:t>Lustre</a:t>
            </a:r>
            <a:r>
              <a:rPr lang="en-US" sz="2000" dirty="0" smtClean="0">
                <a:latin typeface="Comic Sans MS" pitchFamily="66" charset="0"/>
              </a:rPr>
              <a:t>, VHDL, </a:t>
            </a:r>
            <a:r>
              <a:rPr lang="en-US" sz="2000" dirty="0" err="1" smtClean="0">
                <a:latin typeface="Comic Sans MS" pitchFamily="66" charset="0"/>
              </a:rPr>
              <a:t>Verilog</a:t>
            </a:r>
            <a:r>
              <a:rPr lang="en-US" sz="2000" dirty="0" smtClean="0">
                <a:latin typeface="Comic Sans MS" pitchFamily="66" charset="0"/>
              </a:rPr>
              <a:t>, </a:t>
            </a:r>
            <a:r>
              <a:rPr lang="en-US" sz="2000" dirty="0" err="1" smtClean="0">
                <a:latin typeface="Comic Sans MS" pitchFamily="66" charset="0"/>
              </a:rPr>
              <a:t>Stateflow</a:t>
            </a:r>
            <a:r>
              <a:rPr lang="en-US" sz="2000" dirty="0" smtClean="0">
                <a:latin typeface="Comic Sans MS" pitchFamily="66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SRC Definition (1): Inputs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1177130" y="1857690"/>
            <a:ext cx="3505200" cy="762000"/>
            <a:chOff x="2438400" y="1600200"/>
            <a:chExt cx="3505200" cy="762000"/>
          </a:xfrm>
        </p:grpSpPr>
        <p:sp>
          <p:nvSpPr>
            <p:cNvPr id="28" name="Rectangle 27"/>
            <p:cNvSpPr/>
            <p:nvPr/>
          </p:nvSpPr>
          <p:spPr>
            <a:xfrm>
              <a:off x="3352800" y="1600200"/>
              <a:ext cx="1676400" cy="762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5029200" y="19812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2438400" y="20574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514600" y="1676400"/>
              <a:ext cx="756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in</a:t>
              </a:r>
              <a:endParaRPr lang="en-US" sz="1600" dirty="0"/>
            </a:p>
          </p:txBody>
        </p:sp>
      </p:grp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114300" y="2743200"/>
            <a:ext cx="8915400" cy="3505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Each component has a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set I of input variables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Variables have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types</a:t>
            </a:r>
            <a:r>
              <a:rPr lang="en-US" sz="2000" dirty="0" smtClean="0">
                <a:latin typeface="Comic Sans MS" pitchFamily="66" charset="0"/>
              </a:rPr>
              <a:t>. E.g.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r>
              <a:rPr lang="en-US" sz="2000" dirty="0" smtClean="0">
                <a:latin typeface="Comic Sans MS" pitchFamily="66" charset="0"/>
              </a:rPr>
              <a:t>, </a:t>
            </a:r>
            <a:r>
              <a:rPr lang="en-US" sz="2000" dirty="0" err="1" smtClean="0">
                <a:latin typeface="Comic Sans MS" pitchFamily="66" charset="0"/>
              </a:rPr>
              <a:t>int</a:t>
            </a:r>
            <a:r>
              <a:rPr lang="en-US" sz="2000" dirty="0" smtClean="0">
                <a:latin typeface="Comic Sans MS" pitchFamily="66" charset="0"/>
              </a:rPr>
              <a:t>, </a:t>
            </a:r>
            <a:r>
              <a:rPr lang="en-US" sz="2000" dirty="0" err="1" smtClean="0">
                <a:latin typeface="Comic Sans MS" pitchFamily="66" charset="0"/>
              </a:rPr>
              <a:t>nat</a:t>
            </a:r>
            <a:r>
              <a:rPr lang="en-US" sz="2000" dirty="0" smtClean="0">
                <a:latin typeface="Comic Sans MS" pitchFamily="66" charset="0"/>
              </a:rPr>
              <a:t>, real, {on, off} …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Input: Valuation of all the input variables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of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inputs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denoted Q</a:t>
            </a:r>
            <a:r>
              <a:rPr lang="en-US" sz="2000" baseline="-25000" dirty="0" smtClean="0">
                <a:solidFill>
                  <a:srgbClr val="0070C0"/>
                </a:solidFill>
                <a:latin typeface="Comic Sans MS" pitchFamily="66" charset="0"/>
              </a:rPr>
              <a:t>I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For Delay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I contains a single variable in of type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endParaRPr lang="en-US" sz="2000" dirty="0" smtClean="0">
              <a:latin typeface="Comic Sans MS" pitchFamily="66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of inputs is {0, 1}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Example: I contains two variables: </a:t>
            </a:r>
            <a:r>
              <a:rPr lang="en-US" sz="2000" dirty="0" err="1" smtClean="0">
                <a:latin typeface="Comic Sans MS" pitchFamily="66" charset="0"/>
              </a:rPr>
              <a:t>int</a:t>
            </a:r>
            <a:r>
              <a:rPr lang="en-US" sz="2000" dirty="0" smtClean="0">
                <a:latin typeface="Comic Sans MS" pitchFamily="66" charset="0"/>
              </a:rPr>
              <a:t> x ,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r>
              <a:rPr lang="en-US" sz="2000" dirty="0" smtClean="0">
                <a:latin typeface="Comic Sans MS" pitchFamily="66" charset="0"/>
              </a:rPr>
              <a:t> 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Each input is a pair: (integer value for x and 0/1 value for y)  </a:t>
            </a:r>
          </a:p>
        </p:txBody>
      </p:sp>
      <p:grpSp>
        <p:nvGrpSpPr>
          <p:cNvPr id="4" name="Group 14"/>
          <p:cNvGrpSpPr/>
          <p:nvPr/>
        </p:nvGrpSpPr>
        <p:grpSpPr>
          <a:xfrm>
            <a:off x="5063330" y="1552890"/>
            <a:ext cx="3750469" cy="1371600"/>
            <a:chOff x="1981200" y="3352800"/>
            <a:chExt cx="5257800" cy="1905000"/>
          </a:xfrm>
        </p:grpSpPr>
        <p:sp>
          <p:nvSpPr>
            <p:cNvPr id="16" name="Rectangle 15"/>
            <p:cNvSpPr/>
            <p:nvPr/>
          </p:nvSpPr>
          <p:spPr>
            <a:xfrm>
              <a:off x="3352800" y="3429000"/>
              <a:ext cx="2971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5" name="Group 29"/>
            <p:cNvGrpSpPr/>
            <p:nvPr/>
          </p:nvGrpSpPr>
          <p:grpSpPr>
            <a:xfrm>
              <a:off x="1981200" y="3352800"/>
              <a:ext cx="1371600" cy="1676400"/>
              <a:chOff x="1981200" y="3352800"/>
              <a:chExt cx="1371600" cy="1676400"/>
            </a:xfrm>
          </p:grpSpPr>
          <p:cxnSp>
            <p:nvCxnSpPr>
              <p:cNvPr id="29" name="Straight Arrow Connector 28"/>
              <p:cNvCxnSpPr/>
              <p:nvPr/>
            </p:nvCxnSpPr>
            <p:spPr>
              <a:xfrm>
                <a:off x="24384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24384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438400" y="50292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1981200" y="3352800"/>
                <a:ext cx="991490" cy="470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Inputs</a:t>
                </a:r>
                <a:endParaRPr lang="en-US" sz="1600" dirty="0"/>
              </a:p>
            </p:txBody>
          </p:sp>
        </p:grpSp>
        <p:grpSp>
          <p:nvGrpSpPr>
            <p:cNvPr id="6" name="Group 30"/>
            <p:cNvGrpSpPr/>
            <p:nvPr/>
          </p:nvGrpSpPr>
          <p:grpSpPr>
            <a:xfrm>
              <a:off x="6324600" y="3810000"/>
              <a:ext cx="914400" cy="914400"/>
              <a:chOff x="6324600" y="3810000"/>
              <a:chExt cx="914400" cy="914400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63246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63246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6324600" y="47244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Connector 20"/>
            <p:cNvCxnSpPr/>
            <p:nvPr/>
          </p:nvCxnSpPr>
          <p:spPr>
            <a:xfrm>
              <a:off x="2819400" y="4191000"/>
              <a:ext cx="0" cy="6096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705600" y="4114800"/>
              <a:ext cx="0" cy="4572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2091530" y="147669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SRC Definition (2): Outputs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381000" y="2743200"/>
            <a:ext cx="8382000" cy="3505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Each component has a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set O of typed output variables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Output: Valuation of all the output variables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of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outputs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denoted Q</a:t>
            </a:r>
            <a:r>
              <a:rPr lang="en-US" sz="2000" baseline="-25000" dirty="0">
                <a:solidFill>
                  <a:srgbClr val="0070C0"/>
                </a:solidFill>
                <a:latin typeface="Comic Sans MS" pitchFamily="66" charset="0"/>
              </a:rPr>
              <a:t>O</a:t>
            </a:r>
            <a:endParaRPr lang="en-US" sz="2000" baseline="-25000" dirty="0" smtClean="0">
              <a:solidFill>
                <a:srgbClr val="0070C0"/>
              </a:solidFill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For Delay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Comic Sans MS" pitchFamily="66" charset="0"/>
              </a:rPr>
              <a:t>O</a:t>
            </a:r>
            <a:r>
              <a:rPr lang="en-US" sz="2000" dirty="0" smtClean="0">
                <a:latin typeface="Comic Sans MS" pitchFamily="66" charset="0"/>
              </a:rPr>
              <a:t> contains a single variable out of type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endParaRPr lang="en-US" sz="2000" dirty="0" smtClean="0">
              <a:latin typeface="Comic Sans MS" pitchFamily="66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of outputs is {0, 1}</a:t>
            </a:r>
          </a:p>
        </p:txBody>
      </p:sp>
      <p:grpSp>
        <p:nvGrpSpPr>
          <p:cNvPr id="3" name="Group 13"/>
          <p:cNvGrpSpPr/>
          <p:nvPr/>
        </p:nvGrpSpPr>
        <p:grpSpPr>
          <a:xfrm>
            <a:off x="735710" y="1731570"/>
            <a:ext cx="3479185" cy="762000"/>
            <a:chOff x="2438400" y="1600200"/>
            <a:chExt cx="3479185" cy="762000"/>
          </a:xfrm>
        </p:grpSpPr>
        <p:sp>
          <p:nvSpPr>
            <p:cNvPr id="15" name="Rectangle 14"/>
            <p:cNvSpPr/>
            <p:nvPr/>
          </p:nvSpPr>
          <p:spPr>
            <a:xfrm>
              <a:off x="3352800" y="1600200"/>
              <a:ext cx="1600200" cy="762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4953000" y="19812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438400" y="19812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029200" y="1600200"/>
              <a:ext cx="8883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4621910" y="1426770"/>
            <a:ext cx="3959347" cy="1371600"/>
            <a:chOff x="2438400" y="3352800"/>
            <a:chExt cx="5550628" cy="1905000"/>
          </a:xfrm>
        </p:grpSpPr>
        <p:sp>
          <p:nvSpPr>
            <p:cNvPr id="24" name="Rectangle 23"/>
            <p:cNvSpPr/>
            <p:nvPr/>
          </p:nvSpPr>
          <p:spPr>
            <a:xfrm>
              <a:off x="3352800" y="3429000"/>
              <a:ext cx="2971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5" name="Group 29"/>
            <p:cNvGrpSpPr/>
            <p:nvPr/>
          </p:nvGrpSpPr>
          <p:grpSpPr>
            <a:xfrm>
              <a:off x="2438400" y="3810000"/>
              <a:ext cx="914400" cy="1219200"/>
              <a:chOff x="2438400" y="3810000"/>
              <a:chExt cx="914400" cy="1219200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24384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24384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2438400" y="50292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30"/>
            <p:cNvGrpSpPr/>
            <p:nvPr/>
          </p:nvGrpSpPr>
          <p:grpSpPr>
            <a:xfrm>
              <a:off x="6324600" y="3352800"/>
              <a:ext cx="1664428" cy="1371600"/>
              <a:chOff x="6324600" y="3352800"/>
              <a:chExt cx="1664428" cy="1371600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63246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>
                <a:off x="63246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6324600" y="47244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6781801" y="3352800"/>
                <a:ext cx="1207227" cy="470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Outputs</a:t>
                </a:r>
                <a:endParaRPr lang="en-US" sz="1600" dirty="0"/>
              </a:p>
            </p:txBody>
          </p:sp>
        </p:grpSp>
        <p:cxnSp>
          <p:nvCxnSpPr>
            <p:cNvPr id="31" name="Straight Connector 30"/>
            <p:cNvCxnSpPr/>
            <p:nvPr/>
          </p:nvCxnSpPr>
          <p:spPr>
            <a:xfrm>
              <a:off x="2819400" y="4191000"/>
              <a:ext cx="0" cy="6096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705600" y="4114800"/>
              <a:ext cx="0" cy="4572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1650110" y="135057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SRC Definition (3): States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381000" y="2895600"/>
            <a:ext cx="8382000" cy="3505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Each component has a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set S of typed state variables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State: Valuation of all the state variables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The set of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states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denoted Q</a:t>
            </a:r>
            <a:r>
              <a:rPr lang="en-US" sz="2000" baseline="-25000" dirty="0" smtClean="0">
                <a:solidFill>
                  <a:srgbClr val="0070C0"/>
                </a:solidFill>
                <a:latin typeface="Comic Sans MS" pitchFamily="66" charset="0"/>
              </a:rPr>
              <a:t>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For Delay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 contains a single variable x of type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endParaRPr lang="en-US" sz="2000" dirty="0" smtClean="0">
              <a:latin typeface="Comic Sans MS" pitchFamily="66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of states is {0, 1}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State is internal and maintained across rounds</a:t>
            </a:r>
          </a:p>
        </p:txBody>
      </p:sp>
      <p:grpSp>
        <p:nvGrpSpPr>
          <p:cNvPr id="3" name="Group 13"/>
          <p:cNvGrpSpPr/>
          <p:nvPr/>
        </p:nvGrpSpPr>
        <p:grpSpPr>
          <a:xfrm>
            <a:off x="504490" y="1847180"/>
            <a:ext cx="3048000" cy="762000"/>
            <a:chOff x="2667000" y="1600200"/>
            <a:chExt cx="3048000" cy="762000"/>
          </a:xfrm>
        </p:grpSpPr>
        <p:sp>
          <p:nvSpPr>
            <p:cNvPr id="15" name="Rectangle 14"/>
            <p:cNvSpPr/>
            <p:nvPr/>
          </p:nvSpPr>
          <p:spPr>
            <a:xfrm>
              <a:off x="3352800" y="1600200"/>
              <a:ext cx="1828800" cy="762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5181600" y="2057400"/>
              <a:ext cx="533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667000" y="2057400"/>
              <a:ext cx="6858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1905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57600" y="1600200"/>
              <a:ext cx="737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x </a:t>
              </a:r>
              <a:endParaRPr lang="en-US" sz="1600" dirty="0"/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4466890" y="1542380"/>
            <a:ext cx="3424341" cy="1316736"/>
            <a:chOff x="2438400" y="3429000"/>
            <a:chExt cx="4800600" cy="1828800"/>
          </a:xfrm>
        </p:grpSpPr>
        <p:sp>
          <p:nvSpPr>
            <p:cNvPr id="24" name="Rectangle 23"/>
            <p:cNvSpPr/>
            <p:nvPr/>
          </p:nvSpPr>
          <p:spPr>
            <a:xfrm>
              <a:off x="3352800" y="3429000"/>
              <a:ext cx="2971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5" name="Group 31"/>
            <p:cNvGrpSpPr/>
            <p:nvPr/>
          </p:nvGrpSpPr>
          <p:grpSpPr>
            <a:xfrm>
              <a:off x="3352800" y="3505200"/>
              <a:ext cx="2988927" cy="905933"/>
              <a:chOff x="3352800" y="3505200"/>
              <a:chExt cx="2988927" cy="905933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3369927" y="4411133"/>
                <a:ext cx="2971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3352800" y="3505200"/>
                <a:ext cx="2036466" cy="812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State variables:</a:t>
                </a:r>
              </a:p>
              <a:p>
                <a:r>
                  <a:rPr lang="en-US" sz="1600" dirty="0" smtClean="0"/>
                  <a:t>     Declaration </a:t>
                </a:r>
                <a:endParaRPr lang="en-US" sz="1600" dirty="0"/>
              </a:p>
            </p:txBody>
          </p:sp>
        </p:grpSp>
        <p:grpSp>
          <p:nvGrpSpPr>
            <p:cNvPr id="6" name="Group 29"/>
            <p:cNvGrpSpPr/>
            <p:nvPr/>
          </p:nvGrpSpPr>
          <p:grpSpPr>
            <a:xfrm>
              <a:off x="2438400" y="3810000"/>
              <a:ext cx="914400" cy="1219200"/>
              <a:chOff x="2438400" y="3810000"/>
              <a:chExt cx="914400" cy="1219200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24384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24384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2438400" y="50292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30"/>
            <p:cNvGrpSpPr/>
            <p:nvPr/>
          </p:nvGrpSpPr>
          <p:grpSpPr>
            <a:xfrm>
              <a:off x="6324600" y="3810000"/>
              <a:ext cx="914400" cy="914400"/>
              <a:chOff x="6324600" y="3810000"/>
              <a:chExt cx="914400" cy="914400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63246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>
                <a:off x="63246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6324600" y="47244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/>
            <p:cNvCxnSpPr/>
            <p:nvPr/>
          </p:nvCxnSpPr>
          <p:spPr>
            <a:xfrm>
              <a:off x="2819400" y="4191000"/>
              <a:ext cx="0" cy="6096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705600" y="4114800"/>
              <a:ext cx="0" cy="4572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1190290" y="146618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SRC Definition (4): Initialization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228600" y="2743200"/>
            <a:ext cx="8686800" cy="3505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Initialization of state variables specified by Init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Sequence of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assignments to state variables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Semantics of initialization: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set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[Init] of initial states</a:t>
            </a:r>
            <a:r>
              <a:rPr lang="en-US" sz="2000" dirty="0" smtClean="0">
                <a:latin typeface="Comic Sans MS" pitchFamily="66" charset="0"/>
              </a:rPr>
              <a:t>, which is a subset of Q</a:t>
            </a:r>
            <a:r>
              <a:rPr lang="en-US" sz="2000" baseline="-25000" dirty="0" smtClean="0">
                <a:latin typeface="Comic Sans MS" pitchFamily="66" charset="0"/>
              </a:rPr>
              <a:t>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For Delay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Init is given by the code fragment x:=0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[Init] of initial states is {0}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Component can have multiple initial states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Example: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r>
              <a:rPr lang="en-US" sz="2000" dirty="0" smtClean="0">
                <a:latin typeface="Comic Sans MS" pitchFamily="66" charset="0"/>
              </a:rPr>
              <a:t> x := choose {0, 1}</a:t>
            </a:r>
          </a:p>
        </p:txBody>
      </p:sp>
      <p:grpSp>
        <p:nvGrpSpPr>
          <p:cNvPr id="3" name="Group 13"/>
          <p:cNvGrpSpPr/>
          <p:nvPr/>
        </p:nvGrpSpPr>
        <p:grpSpPr>
          <a:xfrm>
            <a:off x="712060" y="1870830"/>
            <a:ext cx="3505200" cy="762000"/>
            <a:chOff x="2819400" y="1600200"/>
            <a:chExt cx="3505200" cy="762000"/>
          </a:xfrm>
        </p:grpSpPr>
        <p:sp>
          <p:nvSpPr>
            <p:cNvPr id="15" name="Rectangle 14"/>
            <p:cNvSpPr/>
            <p:nvPr/>
          </p:nvSpPr>
          <p:spPr>
            <a:xfrm>
              <a:off x="3352800" y="1600200"/>
              <a:ext cx="2362200" cy="762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5715000" y="20574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819400" y="2057400"/>
              <a:ext cx="533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1905000"/>
              <a:ext cx="2362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57600" y="1600200"/>
              <a:ext cx="1045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x := 0</a:t>
              </a:r>
              <a:endParaRPr lang="en-US" sz="1600" dirty="0"/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4522060" y="1489830"/>
            <a:ext cx="3733800" cy="1316736"/>
            <a:chOff x="2438400" y="3429000"/>
            <a:chExt cx="4800600" cy="1828800"/>
          </a:xfrm>
        </p:grpSpPr>
        <p:sp>
          <p:nvSpPr>
            <p:cNvPr id="24" name="Rectangle 23"/>
            <p:cNvSpPr/>
            <p:nvPr/>
          </p:nvSpPr>
          <p:spPr>
            <a:xfrm>
              <a:off x="3352800" y="3429000"/>
              <a:ext cx="2971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5" name="Group 31"/>
            <p:cNvGrpSpPr/>
            <p:nvPr/>
          </p:nvGrpSpPr>
          <p:grpSpPr>
            <a:xfrm>
              <a:off x="3320143" y="3505200"/>
              <a:ext cx="3246235" cy="876300"/>
              <a:chOff x="3320143" y="3505200"/>
              <a:chExt cx="3246235" cy="87630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3320143" y="4381500"/>
                <a:ext cx="29717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3352800" y="3505200"/>
                <a:ext cx="3213578" cy="726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State variables:</a:t>
                </a:r>
              </a:p>
              <a:p>
                <a:r>
                  <a:rPr lang="en-US" sz="1400" dirty="0" smtClean="0"/>
                  <a:t>     Declaration + Initialization</a:t>
                </a:r>
                <a:endParaRPr lang="en-US" sz="1400" dirty="0"/>
              </a:p>
            </p:txBody>
          </p:sp>
        </p:grpSp>
        <p:grpSp>
          <p:nvGrpSpPr>
            <p:cNvPr id="6" name="Group 29"/>
            <p:cNvGrpSpPr/>
            <p:nvPr/>
          </p:nvGrpSpPr>
          <p:grpSpPr>
            <a:xfrm>
              <a:off x="2438400" y="3810000"/>
              <a:ext cx="914400" cy="1219200"/>
              <a:chOff x="2438400" y="3810000"/>
              <a:chExt cx="914400" cy="1219200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24384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24384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2438400" y="50292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30"/>
            <p:cNvGrpSpPr/>
            <p:nvPr/>
          </p:nvGrpSpPr>
          <p:grpSpPr>
            <a:xfrm>
              <a:off x="6324600" y="3810000"/>
              <a:ext cx="914400" cy="914400"/>
              <a:chOff x="6324600" y="3810000"/>
              <a:chExt cx="914400" cy="914400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63246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>
                <a:off x="63246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6324600" y="47244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/>
            <p:cNvCxnSpPr/>
            <p:nvPr/>
          </p:nvCxnSpPr>
          <p:spPr>
            <a:xfrm>
              <a:off x="2819400" y="4191000"/>
              <a:ext cx="0" cy="6096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705600" y="4114800"/>
              <a:ext cx="0" cy="4572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1245460" y="148983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SRC Definition (5): Reactions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114300" y="2816760"/>
            <a:ext cx="8915400" cy="3657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Execution in each round given by code fragment React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Sequence of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assignments and conditionals </a:t>
            </a:r>
            <a:r>
              <a:rPr lang="en-US" sz="2000" dirty="0" smtClean="0">
                <a:latin typeface="Comic Sans MS" pitchFamily="66" charset="0"/>
              </a:rPr>
              <a:t>that assign output variables and update state variables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Semantics of update: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The set [React] of reactions, where each reaction is of the form (old) state -- input / output 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  <a:sym typeface="Wingdings" pitchFamily="2" charset="2"/>
              </a:rPr>
              <a:t> (new) state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[React] is a subset of Q</a:t>
            </a:r>
            <a:r>
              <a:rPr lang="en-US" sz="2000" baseline="-25000" dirty="0" smtClean="0">
                <a:latin typeface="Comic Sans MS" pitchFamily="66" charset="0"/>
                <a:sym typeface="Wingdings" pitchFamily="2" charset="2"/>
              </a:rPr>
              <a:t>S</a:t>
            </a: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 x Q</a:t>
            </a:r>
            <a:r>
              <a:rPr lang="en-US" sz="2000" baseline="-25000" dirty="0" smtClean="0">
                <a:latin typeface="Comic Sans MS" pitchFamily="66" charset="0"/>
                <a:sym typeface="Wingdings" pitchFamily="2" charset="2"/>
              </a:rPr>
              <a:t>I</a:t>
            </a: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 x Q</a:t>
            </a:r>
            <a:r>
              <a:rPr lang="en-US" sz="2000" baseline="-25000" dirty="0" smtClean="0">
                <a:latin typeface="Comic Sans MS" pitchFamily="66" charset="0"/>
                <a:sym typeface="Wingdings" pitchFamily="2" charset="2"/>
              </a:rPr>
              <a:t>O</a:t>
            </a: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 x Q</a:t>
            </a:r>
            <a:r>
              <a:rPr lang="en-US" sz="2000" baseline="-25000" dirty="0" smtClean="0">
                <a:latin typeface="Comic Sans MS" pitchFamily="66" charset="0"/>
                <a:sym typeface="Wingdings" pitchFamily="2" charset="2"/>
              </a:rPr>
              <a:t>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For Delay: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React is given by the code fragment out:=x; x:=in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There are 4 reactions: 0 -0/0</a:t>
            </a: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-&gt;</a:t>
            </a:r>
            <a:r>
              <a:rPr lang="en-US" sz="2000" dirty="0" smtClean="0">
                <a:latin typeface="Comic Sans MS" pitchFamily="66" charset="0"/>
              </a:rPr>
              <a:t> 0; 0 -1/0-&gt; 1; 1 -0/1-&gt; 0; 1 -1/1-&gt; 1</a:t>
            </a:r>
          </a:p>
        </p:txBody>
      </p:sp>
      <p:grpSp>
        <p:nvGrpSpPr>
          <p:cNvPr id="3" name="Group 13"/>
          <p:cNvGrpSpPr/>
          <p:nvPr/>
        </p:nvGrpSpPr>
        <p:grpSpPr>
          <a:xfrm>
            <a:off x="1505570" y="1713170"/>
            <a:ext cx="3124200" cy="838200"/>
            <a:chOff x="2743956" y="1600200"/>
            <a:chExt cx="3124200" cy="838200"/>
          </a:xfrm>
        </p:grpSpPr>
        <p:sp>
          <p:nvSpPr>
            <p:cNvPr id="15" name="Rectangle 14"/>
            <p:cNvSpPr/>
            <p:nvPr/>
          </p:nvSpPr>
          <p:spPr>
            <a:xfrm>
              <a:off x="3352800" y="1600200"/>
              <a:ext cx="1905756" cy="838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5258556" y="20574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743956" y="2057400"/>
              <a:ext cx="608844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352800" y="1905000"/>
              <a:ext cx="19057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05956" y="2057400"/>
              <a:ext cx="13083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out:=x ; x:= in</a:t>
              </a:r>
              <a:endParaRPr lang="en-US" sz="1600" dirty="0"/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5467970" y="1560770"/>
            <a:ext cx="3424341" cy="1316736"/>
            <a:chOff x="2438400" y="3429000"/>
            <a:chExt cx="4800600" cy="1828800"/>
          </a:xfrm>
        </p:grpSpPr>
        <p:sp>
          <p:nvSpPr>
            <p:cNvPr id="24" name="Rectangle 23"/>
            <p:cNvSpPr/>
            <p:nvPr/>
          </p:nvSpPr>
          <p:spPr>
            <a:xfrm>
              <a:off x="3352800" y="3429000"/>
              <a:ext cx="2971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3370986" y="3987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477811" y="3987801"/>
              <a:ext cx="2681427" cy="1154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Update code:</a:t>
              </a:r>
            </a:p>
            <a:p>
              <a:r>
                <a:rPr lang="en-US" sz="1600" dirty="0" smtClean="0"/>
                <a:t>     To be executed in </a:t>
              </a:r>
            </a:p>
            <a:p>
              <a:r>
                <a:rPr lang="en-US" sz="1600" dirty="0" smtClean="0"/>
                <a:t>     each round</a:t>
              </a:r>
              <a:endParaRPr lang="en-US" sz="1600" dirty="0"/>
            </a:p>
          </p:txBody>
        </p:sp>
        <p:grpSp>
          <p:nvGrpSpPr>
            <p:cNvPr id="5" name="Group 29"/>
            <p:cNvGrpSpPr/>
            <p:nvPr/>
          </p:nvGrpSpPr>
          <p:grpSpPr>
            <a:xfrm>
              <a:off x="2438400" y="3810000"/>
              <a:ext cx="914400" cy="1219200"/>
              <a:chOff x="2438400" y="3810000"/>
              <a:chExt cx="914400" cy="1219200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24384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24384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2438400" y="50292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30"/>
            <p:cNvGrpSpPr/>
            <p:nvPr/>
          </p:nvGrpSpPr>
          <p:grpSpPr>
            <a:xfrm>
              <a:off x="6324600" y="3810000"/>
              <a:ext cx="914400" cy="914400"/>
              <a:chOff x="6324600" y="3810000"/>
              <a:chExt cx="914400" cy="914400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6324600" y="38100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>
                <a:off x="6324600" y="40386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6324600" y="4724400"/>
                <a:ext cx="914400" cy="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/>
            <p:cNvCxnSpPr/>
            <p:nvPr/>
          </p:nvCxnSpPr>
          <p:spPr>
            <a:xfrm>
              <a:off x="2819400" y="4191000"/>
              <a:ext cx="0" cy="6096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705600" y="4114800"/>
              <a:ext cx="0" cy="45720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2115170" y="133217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Multiple Reactions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76600" y="152662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867400" y="198382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62200" y="198382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62200" y="160282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3276600" y="183142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29000" y="152662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429000" y="1983820"/>
            <a:ext cx="2310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out:=x ; x:= choose { in, x}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5943600" y="160282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190500" y="2438400"/>
            <a:ext cx="8763000" cy="3657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During update, either x is updated to input in, or left unchanged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Motivation: models that an input may be “lost”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Nondeterministic reactions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Given (old) state and input, output/new state need not be unique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[React] of reactions now contains</a:t>
            </a:r>
          </a:p>
          <a:p>
            <a:pPr lvl="1">
              <a:buNone/>
            </a:pPr>
            <a:r>
              <a:rPr lang="en-US" sz="2000" dirty="0" smtClean="0">
                <a:latin typeface="Comic Sans MS" pitchFamily="66" charset="0"/>
              </a:rPr>
              <a:t>		0 -0/0-&gt; 0</a:t>
            </a:r>
          </a:p>
          <a:p>
            <a:pPr lvl="1">
              <a:buNone/>
            </a:pPr>
            <a:r>
              <a:rPr lang="en-US" sz="2000" dirty="0" smtClean="0">
                <a:latin typeface="Comic Sans MS" pitchFamily="66" charset="0"/>
              </a:rPr>
              <a:t>		0 -1/0-&gt; 1;  0 -1/0-&gt; 0</a:t>
            </a:r>
          </a:p>
          <a:p>
            <a:pPr lvl="1">
              <a:buNone/>
            </a:pPr>
            <a:r>
              <a:rPr lang="en-US" sz="2000" dirty="0" smtClean="0">
                <a:latin typeface="Comic Sans MS" pitchFamily="66" charset="0"/>
              </a:rPr>
              <a:t>		1 -0/1-&gt; 0;  1 -0/1-&gt; 1</a:t>
            </a:r>
          </a:p>
          <a:p>
            <a:pPr lvl="1">
              <a:buNone/>
            </a:pPr>
            <a:r>
              <a:rPr lang="en-US" sz="2000" dirty="0" smtClean="0">
                <a:latin typeface="Comic Sans MS" pitchFamily="66" charset="0"/>
              </a:rPr>
              <a:t>		1 -1/1-&gt;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Multiple Reactions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76600" y="151611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867400" y="197331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62200" y="197331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62200" y="159231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3276600" y="182091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81400" y="151611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207326" y="1973310"/>
            <a:ext cx="2529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if x != in then { out:=x; x:=in}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5943600" y="159231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228600" y="2438400"/>
            <a:ext cx="8915400" cy="3657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A component may not accept all inputs in all states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Motivation: “blocking” communication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Possible set of reactions in certain state/input combinations may be empty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set </a:t>
            </a:r>
            <a:r>
              <a:rPr lang="en-US" sz="2000" dirty="0" smtClean="0">
                <a:latin typeface="Comic Sans MS" pitchFamily="66" charset="0"/>
              </a:rPr>
              <a:t>[React] of reactions now contains</a:t>
            </a:r>
          </a:p>
          <a:p>
            <a:pPr lvl="1">
              <a:buNone/>
            </a:pPr>
            <a:r>
              <a:rPr lang="en-US" sz="2000" dirty="0" smtClean="0">
                <a:latin typeface="Comic Sans MS" pitchFamily="66" charset="0"/>
              </a:rPr>
              <a:t>		0 -1/0-&gt; 1</a:t>
            </a:r>
          </a:p>
          <a:p>
            <a:pPr lvl="1">
              <a:buNone/>
            </a:pPr>
            <a:r>
              <a:rPr lang="en-US" sz="2000" dirty="0" smtClean="0">
                <a:latin typeface="Comic Sans MS" pitchFamily="66" charset="0"/>
              </a:rPr>
              <a:t>		1 -0/1-&gt;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Syntax Errors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76600" y="149509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867400" y="195229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62200" y="195229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62200" y="157129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3276600" y="179989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81400" y="149509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581400" y="1952290"/>
            <a:ext cx="1552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x := out; out:= in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5943600" y="157129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190500" y="2438400"/>
            <a:ext cx="8763000" cy="3657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If update code cannot be executed, then no reaction possible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In above: set [React] of reactions is the empty set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Update code expected to satisfy a number of requirements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Types of variables and expressions should match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Output variables must first be written before being read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Output variable must be explicitly assigned a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Semantic Equivalence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4" name="Content Placeholder 3"/>
          <p:cNvSpPr>
            <a:spLocks noGrp="1"/>
          </p:cNvSpPr>
          <p:nvPr>
            <p:ph idx="1"/>
          </p:nvPr>
        </p:nvSpPr>
        <p:spPr>
          <a:xfrm>
            <a:off x="304800" y="3455290"/>
            <a:ext cx="8382000" cy="205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Both have identical sets of reactions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Syntactically different but semantically equivalent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Comic Sans MS" pitchFamily="66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Compiler can optimize code as long as semantics is preserved!</a:t>
            </a:r>
          </a:p>
        </p:txBody>
      </p:sp>
      <p:grpSp>
        <p:nvGrpSpPr>
          <p:cNvPr id="3" name="Group 16"/>
          <p:cNvGrpSpPr/>
          <p:nvPr/>
        </p:nvGrpSpPr>
        <p:grpSpPr>
          <a:xfrm>
            <a:off x="533400" y="1977250"/>
            <a:ext cx="3733800" cy="1405354"/>
            <a:chOff x="533400" y="1676400"/>
            <a:chExt cx="3733800" cy="1405354"/>
          </a:xfrm>
        </p:grpSpPr>
        <p:sp>
          <p:nvSpPr>
            <p:cNvPr id="28" name="Rectangle 27"/>
            <p:cNvSpPr/>
            <p:nvPr/>
          </p:nvSpPr>
          <p:spPr>
            <a:xfrm>
              <a:off x="1447800" y="2057400"/>
              <a:ext cx="19050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3352800" y="25146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533400" y="23622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33400" y="19812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in1</a:t>
              </a:r>
              <a:endParaRPr lang="en-US" sz="16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24000" y="2362200"/>
              <a:ext cx="15696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out := in1</a:t>
              </a:r>
              <a:r>
                <a:rPr lang="en-US" sz="1600" baseline="30000" dirty="0" smtClean="0"/>
                <a:t>2</a:t>
              </a:r>
              <a:r>
                <a:rPr lang="en-US" sz="1600" dirty="0" smtClean="0"/>
                <a:t> – in2</a:t>
              </a:r>
              <a:r>
                <a:rPr lang="en-US" sz="1600" baseline="30000" dirty="0" smtClean="0"/>
                <a:t>2</a:t>
              </a:r>
              <a:endParaRPr lang="en-US" sz="1600" baseline="300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29000" y="2133600"/>
              <a:ext cx="7373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533400" y="26670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33400" y="27432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in2</a:t>
              </a:r>
              <a:endParaRPr lang="en-US" sz="16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47800" y="1676400"/>
              <a:ext cx="1060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DiffSquare</a:t>
              </a:r>
              <a:endParaRPr lang="en-US" sz="1600" dirty="0"/>
            </a:p>
          </p:txBody>
        </p:sp>
      </p:grpSp>
      <p:grpSp>
        <p:nvGrpSpPr>
          <p:cNvPr id="4" name="Group 34"/>
          <p:cNvGrpSpPr/>
          <p:nvPr/>
        </p:nvGrpSpPr>
        <p:grpSpPr>
          <a:xfrm>
            <a:off x="5029200" y="1558150"/>
            <a:ext cx="3733800" cy="1790700"/>
            <a:chOff x="5029200" y="1295400"/>
            <a:chExt cx="3733800" cy="1790700"/>
          </a:xfrm>
        </p:grpSpPr>
        <p:sp>
          <p:nvSpPr>
            <p:cNvPr id="19" name="Rectangle 18"/>
            <p:cNvSpPr/>
            <p:nvPr/>
          </p:nvSpPr>
          <p:spPr>
            <a:xfrm>
              <a:off x="5943600" y="1676400"/>
              <a:ext cx="1905000" cy="1409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7848600" y="24003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5029200" y="22479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029200" y="18669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in1</a:t>
              </a:r>
              <a:endParaRPr lang="en-US"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19800" y="1790700"/>
              <a:ext cx="1459054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local </a:t>
              </a:r>
              <a:r>
                <a:rPr lang="en-US" sz="1600" dirty="0" err="1" smtClean="0"/>
                <a:t>int</a:t>
              </a:r>
              <a:r>
                <a:rPr lang="en-US" sz="1600" dirty="0" smtClean="0"/>
                <a:t> x, y;</a:t>
              </a:r>
            </a:p>
            <a:p>
              <a:r>
                <a:rPr lang="en-US" sz="1600" baseline="30000" dirty="0" smtClean="0"/>
                <a:t> </a:t>
              </a:r>
              <a:r>
                <a:rPr lang="en-US" sz="1600" dirty="0" smtClean="0"/>
                <a:t>   x := in1 + in2;</a:t>
              </a:r>
            </a:p>
            <a:p>
              <a:r>
                <a:rPr lang="en-US" sz="1600" dirty="0" smtClean="0"/>
                <a:t>    y := in1 –in2;</a:t>
              </a:r>
            </a:p>
            <a:p>
              <a:r>
                <a:rPr lang="en-US" sz="1600" dirty="0" smtClean="0"/>
                <a:t>    out := x  * y </a:t>
              </a:r>
              <a:endParaRPr lang="en-US" sz="1600" baseline="30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924800" y="2019300"/>
              <a:ext cx="7373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5029200" y="25527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029200" y="26289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in2</a:t>
              </a:r>
              <a:endParaRPr lang="en-US"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43600" y="1295400"/>
              <a:ext cx="11642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DiffSquare1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Synchronous Reactive Component Definition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Set I of typed input variables: gives set Q</a:t>
            </a:r>
            <a:r>
              <a:rPr lang="en-US" sz="2000" baseline="-25000" dirty="0" smtClean="0">
                <a:latin typeface="Comic Sans MS" pitchFamily="66" charset="0"/>
              </a:rPr>
              <a:t>I</a:t>
            </a:r>
            <a:r>
              <a:rPr lang="en-US" sz="2000" dirty="0" smtClean="0">
                <a:latin typeface="Comic Sans MS" pitchFamily="66" charset="0"/>
              </a:rPr>
              <a:t> of inputs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Set O of typed output variables: gives set Q</a:t>
            </a:r>
            <a:r>
              <a:rPr lang="en-US" sz="2000" baseline="-25000" dirty="0" smtClean="0">
                <a:latin typeface="Comic Sans MS" pitchFamily="66" charset="0"/>
              </a:rPr>
              <a:t>O</a:t>
            </a:r>
            <a:r>
              <a:rPr lang="en-US" sz="2000" dirty="0" smtClean="0">
                <a:latin typeface="Comic Sans MS" pitchFamily="66" charset="0"/>
              </a:rPr>
              <a:t> of outputs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Set S of typed state variables: gives set Q</a:t>
            </a:r>
            <a:r>
              <a:rPr lang="en-US" sz="2000" baseline="-25000" dirty="0" smtClean="0">
                <a:latin typeface="Comic Sans MS" pitchFamily="66" charset="0"/>
              </a:rPr>
              <a:t>S</a:t>
            </a:r>
            <a:r>
              <a:rPr lang="en-US" sz="2000" dirty="0" smtClean="0">
                <a:latin typeface="Comic Sans MS" pitchFamily="66" charset="0"/>
              </a:rPr>
              <a:t> of states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Initialization code Init: defines set [Init] of initial states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Reaction description React: defines set [React] of reactions of the form s –i/o-&gt; t, where s, t are states, I is an input, and o is an output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688410" y="4317110"/>
            <a:ext cx="8458200" cy="17525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noProof="0" dirty="0" smtClean="0">
                <a:solidFill>
                  <a:srgbClr val="C00000"/>
                </a:solidFill>
                <a:latin typeface="Comic Sans MS" pitchFamily="66" charset="0"/>
              </a:rPr>
              <a:t>Synchronous languages in practice: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Richer syntactic features</a:t>
            </a:r>
            <a:r>
              <a:rPr kumimoji="0" lang="en-US" sz="2000" b="0" i="0" u="none" strike="noStrike" kern="1200" cap="none" spc="0" normalizeH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to describe React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aseline="0" dirty="0" smtClean="0">
                <a:solidFill>
                  <a:srgbClr val="C00000"/>
                </a:solidFill>
                <a:latin typeface="Comic Sans MS" pitchFamily="66" charset="0"/>
              </a:rPr>
              <a:t>	Key</a:t>
            </a:r>
            <a:r>
              <a:rPr lang="en-US" sz="2000" dirty="0" smtClean="0">
                <a:solidFill>
                  <a:srgbClr val="C00000"/>
                </a:solidFill>
                <a:latin typeface="Comic Sans MS" pitchFamily="66" charset="0"/>
              </a:rPr>
              <a:t> to understanding: what </a:t>
            </a: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happens in a single reaction?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noProof="0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noProof="0" dirty="0" smtClean="0">
                <a:solidFill>
                  <a:srgbClr val="0070C0"/>
                </a:solidFill>
                <a:latin typeface="Comic Sans MS" pitchFamily="66" charset="0"/>
              </a:rPr>
              <a:t>Formal semantics: Necessary for development of tools!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Definition of Executions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2057400"/>
            <a:ext cx="7391400" cy="533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Initialize state to some state s</a:t>
            </a:r>
            <a:r>
              <a:rPr lang="en-US" sz="2000" baseline="-25000" dirty="0" smtClean="0">
                <a:latin typeface="Comic Sans MS" pitchFamily="66" charset="0"/>
              </a:rPr>
              <a:t>0</a:t>
            </a:r>
            <a:r>
              <a:rPr lang="en-US" sz="2000" dirty="0" smtClean="0">
                <a:latin typeface="Comic Sans MS" pitchFamily="66" charset="0"/>
              </a:rPr>
              <a:t> in [Init]</a:t>
            </a:r>
          </a:p>
        </p:txBody>
      </p:sp>
      <p:sp>
        <p:nvSpPr>
          <p:cNvPr id="43" name="Content Placeholder 3"/>
          <p:cNvSpPr txBox="1">
            <a:spLocks/>
          </p:cNvSpPr>
          <p:nvPr/>
        </p:nvSpPr>
        <p:spPr>
          <a:xfrm>
            <a:off x="304800" y="2667000"/>
            <a:ext cx="8610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Repeatedly execute rounds</a:t>
            </a:r>
            <a:r>
              <a:rPr lang="en-US" sz="2000" dirty="0" smtClean="0">
                <a:latin typeface="Comic Sans MS" pitchFamily="66" charset="0"/>
              </a:rPr>
              <a:t>. In each round n=1,2,3,…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	 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Choose an input value i</a:t>
            </a:r>
            <a:r>
              <a:rPr lang="en-US" sz="2000" baseline="-25000" dirty="0" smtClean="0">
                <a:solidFill>
                  <a:srgbClr val="0070C0"/>
                </a:solidFill>
                <a:latin typeface="Comic Sans MS" pitchFamily="66" charset="0"/>
              </a:rPr>
              <a:t>n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 in Q</a:t>
            </a:r>
            <a:r>
              <a:rPr lang="en-US" sz="2000" baseline="-25000" dirty="0" smtClean="0">
                <a:solidFill>
                  <a:srgbClr val="0070C0"/>
                </a:solidFill>
                <a:latin typeface="Comic Sans MS" pitchFamily="66" charset="0"/>
              </a:rPr>
              <a:t>I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>
                <a:latin typeface="Comic Sans MS" pitchFamily="66" charset="0"/>
              </a:rPr>
              <a:t>	</a:t>
            </a:r>
            <a:r>
              <a:rPr lang="en-US" sz="2000" dirty="0" smtClean="0">
                <a:latin typeface="Comic Sans MS" pitchFamily="66" charset="0"/>
              </a:rPr>
              <a:t> 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Execute React </a:t>
            </a:r>
            <a:r>
              <a:rPr lang="en-US" sz="2000" dirty="0" smtClean="0">
                <a:latin typeface="Comic Sans MS" pitchFamily="66" charset="0"/>
              </a:rPr>
              <a:t>to produce output o</a:t>
            </a:r>
            <a:r>
              <a:rPr lang="en-US" sz="2000" baseline="-25000" dirty="0" smtClean="0">
                <a:latin typeface="Comic Sans MS" pitchFamily="66" charset="0"/>
              </a:rPr>
              <a:t>n</a:t>
            </a:r>
            <a:r>
              <a:rPr lang="en-US" sz="2000" dirty="0" smtClean="0">
                <a:latin typeface="Comic Sans MS" pitchFamily="66" charset="0"/>
              </a:rPr>
              <a:t> and change state to </a:t>
            </a:r>
            <a:r>
              <a:rPr lang="en-US" sz="2000" dirty="0" err="1" smtClean="0">
                <a:latin typeface="Comic Sans MS" pitchFamily="66" charset="0"/>
              </a:rPr>
              <a:t>s</a:t>
            </a:r>
            <a:r>
              <a:rPr lang="en-US" sz="2000" baseline="-25000" dirty="0" err="1" smtClean="0">
                <a:latin typeface="Comic Sans MS" pitchFamily="66" charset="0"/>
              </a:rPr>
              <a:t>n</a:t>
            </a:r>
            <a:endParaRPr lang="en-US" sz="2000" baseline="-25000" dirty="0" smtClean="0"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aseline="-25000" dirty="0" smtClean="0">
                <a:latin typeface="Comic Sans MS" pitchFamily="66" charset="0"/>
              </a:rPr>
              <a:t>	    	</a:t>
            </a:r>
            <a:r>
              <a:rPr lang="en-US" sz="2000" dirty="0" smtClean="0">
                <a:latin typeface="Comic Sans MS" pitchFamily="66" charset="0"/>
              </a:rPr>
              <a:t>that is, s</a:t>
            </a:r>
            <a:r>
              <a:rPr lang="en-US" sz="2000" baseline="-25000" dirty="0" smtClean="0">
                <a:latin typeface="Comic Sans MS" pitchFamily="66" charset="0"/>
              </a:rPr>
              <a:t>n-1</a:t>
            </a:r>
            <a:r>
              <a:rPr lang="en-US" sz="2000" dirty="0" smtClean="0">
                <a:latin typeface="Comic Sans MS" pitchFamily="66" charset="0"/>
              </a:rPr>
              <a:t> – i</a:t>
            </a:r>
            <a:r>
              <a:rPr lang="en-US" sz="2000" baseline="-25000" dirty="0" smtClean="0">
                <a:latin typeface="Comic Sans MS" pitchFamily="66" charset="0"/>
              </a:rPr>
              <a:t>n</a:t>
            </a:r>
            <a:r>
              <a:rPr lang="en-US" sz="2000" dirty="0" smtClean="0">
                <a:latin typeface="Comic Sans MS" pitchFamily="66" charset="0"/>
              </a:rPr>
              <a:t> / o</a:t>
            </a:r>
            <a:r>
              <a:rPr lang="en-US" sz="2000" baseline="-25000" dirty="0" smtClean="0">
                <a:latin typeface="Comic Sans MS" pitchFamily="66" charset="0"/>
              </a:rPr>
              <a:t>n</a:t>
            </a:r>
            <a:r>
              <a:rPr lang="en-US" sz="2000" dirty="0" smtClean="0">
                <a:latin typeface="Comic Sans MS" pitchFamily="66" charset="0"/>
              </a:rPr>
              <a:t> </a:t>
            </a: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 </a:t>
            </a:r>
            <a:r>
              <a:rPr lang="en-US" sz="2000" dirty="0" err="1" smtClean="0">
                <a:latin typeface="Comic Sans MS" pitchFamily="66" charset="0"/>
                <a:sym typeface="Wingdings" pitchFamily="2" charset="2"/>
              </a:rPr>
              <a:t>s</a:t>
            </a:r>
            <a:r>
              <a:rPr lang="en-US" sz="2000" baseline="-25000" dirty="0" err="1" smtClean="0">
                <a:latin typeface="Comic Sans MS" pitchFamily="66" charset="0"/>
                <a:sym typeface="Wingdings" pitchFamily="2" charset="2"/>
              </a:rPr>
              <a:t>n</a:t>
            </a:r>
            <a:r>
              <a:rPr lang="en-US" sz="2000" dirty="0" smtClean="0">
                <a:latin typeface="Comic Sans MS" pitchFamily="66" charset="0"/>
                <a:sym typeface="Wingdings" pitchFamily="2" charset="2"/>
              </a:rPr>
              <a:t> must be in [React]</a:t>
            </a:r>
            <a:endParaRPr lang="en-US" sz="2000" dirty="0" smtClean="0">
              <a:latin typeface="Comic Sans MS" pitchFamily="66" charset="0"/>
            </a:endParaRPr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304800" y="4419600"/>
            <a:ext cx="77724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Sample execution: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4419600" y="5334000"/>
            <a:ext cx="990600" cy="0"/>
          </a:xfrm>
          <a:prstGeom prst="straightConnector1">
            <a:avLst/>
          </a:prstGeom>
          <a:ln w="2540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3"/>
          <p:cNvSpPr txBox="1">
            <a:spLocks/>
          </p:cNvSpPr>
          <p:nvPr/>
        </p:nvSpPr>
        <p:spPr>
          <a:xfrm>
            <a:off x="304800" y="1371600"/>
            <a:ext cx="86868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Given component C = (I, O, S, Init, React), what are its executions?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3" name="Group 45"/>
          <p:cNvGrpSpPr/>
          <p:nvPr/>
        </p:nvGrpSpPr>
        <p:grpSpPr>
          <a:xfrm>
            <a:off x="1143000" y="4991100"/>
            <a:ext cx="1058018" cy="514410"/>
            <a:chOff x="1143000" y="4991100"/>
            <a:chExt cx="1058018" cy="514410"/>
          </a:xfrm>
        </p:grpSpPr>
        <p:sp>
          <p:nvSpPr>
            <p:cNvPr id="31" name="TextBox 30"/>
            <p:cNvSpPr txBox="1"/>
            <p:nvPr/>
          </p:nvSpPr>
          <p:spPr>
            <a:xfrm>
              <a:off x="1143000" y="4991100"/>
              <a:ext cx="649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i</a:t>
              </a:r>
              <a:r>
                <a:rPr lang="en-US" sz="1600" baseline="-25000" dirty="0" smtClean="0"/>
                <a:t>1</a:t>
              </a:r>
              <a:r>
                <a:rPr lang="en-US" sz="1600" dirty="0" smtClean="0"/>
                <a:t> / o</a:t>
              </a:r>
              <a:r>
                <a:rPr lang="en-US" sz="1600" baseline="-25000" dirty="0" smtClean="0"/>
                <a:t>1</a:t>
              </a:r>
              <a:endParaRPr lang="en-US" sz="1600" baseline="-25000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1143000" y="53721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828800" y="5105400"/>
              <a:ext cx="3722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s</a:t>
              </a:r>
              <a:r>
                <a:rPr lang="en-US" sz="2000" baseline="-25000" dirty="0" smtClean="0"/>
                <a:t>1</a:t>
              </a:r>
              <a:endParaRPr lang="en-US" sz="2000" baseline="-25000" dirty="0"/>
            </a:p>
          </p:txBody>
        </p:sp>
      </p:grpSp>
      <p:grpSp>
        <p:nvGrpSpPr>
          <p:cNvPr id="5" name="Group 49"/>
          <p:cNvGrpSpPr/>
          <p:nvPr/>
        </p:nvGrpSpPr>
        <p:grpSpPr>
          <a:xfrm>
            <a:off x="2209800" y="4953000"/>
            <a:ext cx="1058018" cy="514410"/>
            <a:chOff x="1143000" y="4991100"/>
            <a:chExt cx="1058018" cy="514410"/>
          </a:xfrm>
        </p:grpSpPr>
        <p:sp>
          <p:nvSpPr>
            <p:cNvPr id="51" name="TextBox 50"/>
            <p:cNvSpPr txBox="1"/>
            <p:nvPr/>
          </p:nvSpPr>
          <p:spPr>
            <a:xfrm>
              <a:off x="1143000" y="4991100"/>
              <a:ext cx="649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i</a:t>
              </a:r>
              <a:r>
                <a:rPr lang="en-US" sz="1600" baseline="-25000" dirty="0" smtClean="0"/>
                <a:t>2</a:t>
              </a:r>
              <a:r>
                <a:rPr lang="en-US" sz="1600" dirty="0" smtClean="0"/>
                <a:t> / o</a:t>
              </a:r>
              <a:r>
                <a:rPr lang="en-US" sz="1600" baseline="-25000" dirty="0" smtClean="0"/>
                <a:t>2</a:t>
              </a:r>
              <a:endParaRPr lang="en-US" sz="1600" baseline="-25000" dirty="0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1143000" y="53721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828800" y="5105400"/>
              <a:ext cx="3722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s</a:t>
              </a:r>
              <a:r>
                <a:rPr lang="en-US" sz="2000" baseline="-25000" dirty="0" smtClean="0"/>
                <a:t>2</a:t>
              </a:r>
              <a:endParaRPr lang="en-US" sz="2000" baseline="-25000" dirty="0"/>
            </a:p>
          </p:txBody>
        </p:sp>
      </p:grpSp>
      <p:grpSp>
        <p:nvGrpSpPr>
          <p:cNvPr id="6" name="Group 55"/>
          <p:cNvGrpSpPr/>
          <p:nvPr/>
        </p:nvGrpSpPr>
        <p:grpSpPr>
          <a:xfrm>
            <a:off x="3276600" y="4953000"/>
            <a:ext cx="1058018" cy="514410"/>
            <a:chOff x="1143000" y="4991100"/>
            <a:chExt cx="1058018" cy="514410"/>
          </a:xfrm>
        </p:grpSpPr>
        <p:sp>
          <p:nvSpPr>
            <p:cNvPr id="57" name="TextBox 56"/>
            <p:cNvSpPr txBox="1"/>
            <p:nvPr/>
          </p:nvSpPr>
          <p:spPr>
            <a:xfrm>
              <a:off x="1143000" y="4991100"/>
              <a:ext cx="6495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i</a:t>
              </a:r>
              <a:r>
                <a:rPr lang="en-US" sz="1600" baseline="-25000" dirty="0" smtClean="0"/>
                <a:t>3</a:t>
              </a:r>
              <a:r>
                <a:rPr lang="en-US" sz="1600" dirty="0" smtClean="0"/>
                <a:t> / o</a:t>
              </a:r>
              <a:r>
                <a:rPr lang="en-US" sz="1600" baseline="-25000" dirty="0" smtClean="0"/>
                <a:t>3</a:t>
              </a:r>
              <a:endParaRPr lang="en-US" sz="1600" baseline="-25000" dirty="0"/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>
              <a:off x="1143000" y="5372100"/>
              <a:ext cx="609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1828800" y="5105400"/>
              <a:ext cx="3722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s</a:t>
              </a:r>
              <a:r>
                <a:rPr lang="en-US" sz="2000" baseline="-25000" dirty="0" smtClean="0"/>
                <a:t>3</a:t>
              </a:r>
              <a:endParaRPr 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3" grpId="0" build="p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What does this component do ?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76600" y="2438400"/>
            <a:ext cx="2590800" cy="16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867400" y="32766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62200" y="32766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62200" y="289560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3276600" y="27432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81400" y="2438400"/>
            <a:ext cx="1547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0; y:= 0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581400" y="2819400"/>
            <a:ext cx="15359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if y then out := x</a:t>
            </a:r>
          </a:p>
          <a:p>
            <a:r>
              <a:rPr lang="en-US" sz="1600" dirty="0" smtClean="0"/>
              <a:t>else out := 0;</a:t>
            </a:r>
          </a:p>
          <a:p>
            <a:r>
              <a:rPr lang="en-US" sz="1600" dirty="0" smtClean="0"/>
              <a:t>x := in;</a:t>
            </a:r>
          </a:p>
          <a:p>
            <a:r>
              <a:rPr lang="en-US" sz="1600" dirty="0" smtClean="0"/>
              <a:t>y := ~ y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5943600" y="289560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Extended State Machines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47800"/>
            <a:ext cx="158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Input: </a:t>
            </a:r>
            <a:r>
              <a:rPr lang="en-US" sz="1600" dirty="0" err="1" smtClean="0"/>
              <a:t>bool</a:t>
            </a:r>
            <a:r>
              <a:rPr lang="en-US" sz="1600" dirty="0" smtClean="0"/>
              <a:t> press</a:t>
            </a:r>
            <a:endParaRPr lang="en-US" sz="1600" dirty="0"/>
          </a:p>
        </p:txBody>
      </p:sp>
      <p:grpSp>
        <p:nvGrpSpPr>
          <p:cNvPr id="3" name="Group 14"/>
          <p:cNvGrpSpPr/>
          <p:nvPr/>
        </p:nvGrpSpPr>
        <p:grpSpPr>
          <a:xfrm>
            <a:off x="3048000" y="2514600"/>
            <a:ext cx="838200" cy="762000"/>
            <a:chOff x="2057400" y="2819400"/>
            <a:chExt cx="838200" cy="762000"/>
          </a:xfrm>
        </p:grpSpPr>
        <p:sp>
          <p:nvSpPr>
            <p:cNvPr id="13" name="Oval 12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800" y="2971800"/>
              <a:ext cx="6358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off</a:t>
              </a:r>
              <a:endParaRPr lang="en-US" dirty="0"/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6248400" y="2514600"/>
            <a:ext cx="838200" cy="762000"/>
            <a:chOff x="2057400" y="2819400"/>
            <a:chExt cx="838200" cy="762000"/>
          </a:xfrm>
        </p:grpSpPr>
        <p:sp>
          <p:nvSpPr>
            <p:cNvPr id="17" name="Oval 16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09800" y="29718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on</a:t>
              </a:r>
              <a:endParaRPr lang="en-US" dirty="0"/>
            </a:p>
          </p:txBody>
        </p:sp>
      </p:grpSp>
      <p:grpSp>
        <p:nvGrpSpPr>
          <p:cNvPr id="5" name="Group 35"/>
          <p:cNvGrpSpPr/>
          <p:nvPr/>
        </p:nvGrpSpPr>
        <p:grpSpPr>
          <a:xfrm>
            <a:off x="2057400" y="2514600"/>
            <a:ext cx="990600" cy="381000"/>
            <a:chOff x="2057400" y="2514600"/>
            <a:chExt cx="990600" cy="381000"/>
          </a:xfrm>
        </p:grpSpPr>
        <p:sp>
          <p:nvSpPr>
            <p:cNvPr id="47" name="TextBox 46"/>
            <p:cNvSpPr txBox="1"/>
            <p:nvPr/>
          </p:nvSpPr>
          <p:spPr>
            <a:xfrm>
              <a:off x="2057400" y="2514600"/>
              <a:ext cx="801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x:=0</a:t>
              </a:r>
              <a:endParaRPr lang="en-US" sz="1600" dirty="0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2514600" y="2895600"/>
              <a:ext cx="533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8"/>
          <p:cNvGrpSpPr/>
          <p:nvPr/>
        </p:nvGrpSpPr>
        <p:grpSpPr>
          <a:xfrm>
            <a:off x="2971800" y="1828800"/>
            <a:ext cx="1097288" cy="685800"/>
            <a:chOff x="2971800" y="1828800"/>
            <a:chExt cx="1097288" cy="685800"/>
          </a:xfrm>
        </p:grpSpPr>
        <p:grpSp>
          <p:nvGrpSpPr>
            <p:cNvPr id="7" name="Group 41"/>
            <p:cNvGrpSpPr/>
            <p:nvPr/>
          </p:nvGrpSpPr>
          <p:grpSpPr>
            <a:xfrm>
              <a:off x="3200400" y="2209800"/>
              <a:ext cx="533400" cy="304800"/>
              <a:chOff x="1676400" y="2209800"/>
              <a:chExt cx="533400" cy="30480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2971800" y="1828800"/>
              <a:ext cx="1097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(press=0) ?</a:t>
              </a:r>
              <a:endParaRPr lang="en-US" sz="1600" dirty="0"/>
            </a:p>
          </p:txBody>
        </p:sp>
      </p:grpSp>
      <p:grpSp>
        <p:nvGrpSpPr>
          <p:cNvPr id="8" name="Group 40"/>
          <p:cNvGrpSpPr/>
          <p:nvPr/>
        </p:nvGrpSpPr>
        <p:grpSpPr>
          <a:xfrm>
            <a:off x="3810000" y="2286000"/>
            <a:ext cx="2514600" cy="457200"/>
            <a:chOff x="3810000" y="2286000"/>
            <a:chExt cx="2514600" cy="457200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810000" y="2667000"/>
              <a:ext cx="2514600" cy="762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419600" y="2286000"/>
              <a:ext cx="1097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(press=1) ?</a:t>
              </a:r>
              <a:endParaRPr lang="en-US" sz="1600" dirty="0"/>
            </a:p>
          </p:txBody>
        </p:sp>
      </p:grpSp>
      <p:grpSp>
        <p:nvGrpSpPr>
          <p:cNvPr id="9" name="Group 39"/>
          <p:cNvGrpSpPr/>
          <p:nvPr/>
        </p:nvGrpSpPr>
        <p:grpSpPr>
          <a:xfrm>
            <a:off x="6019800" y="1524000"/>
            <a:ext cx="1895071" cy="990600"/>
            <a:chOff x="6019800" y="1524000"/>
            <a:chExt cx="1895071" cy="990600"/>
          </a:xfrm>
        </p:grpSpPr>
        <p:grpSp>
          <p:nvGrpSpPr>
            <p:cNvPr id="10" name="Group 42"/>
            <p:cNvGrpSpPr/>
            <p:nvPr/>
          </p:nvGrpSpPr>
          <p:grpSpPr>
            <a:xfrm>
              <a:off x="6400800" y="2209800"/>
              <a:ext cx="533400" cy="304800"/>
              <a:chOff x="1676400" y="2209800"/>
              <a:chExt cx="533400" cy="30480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/>
            <p:cNvSpPr txBox="1"/>
            <p:nvPr/>
          </p:nvSpPr>
          <p:spPr>
            <a:xfrm>
              <a:off x="6019800" y="1524000"/>
              <a:ext cx="18950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 press=0 &amp; x&lt;10 ) </a:t>
              </a:r>
            </a:p>
            <a:p>
              <a:r>
                <a:rPr lang="en-US" sz="1600" dirty="0" smtClean="0">
                  <a:sym typeface="Wingdings" pitchFamily="2" charset="2"/>
                </a:rPr>
                <a:t>	 x:=x+1</a:t>
              </a:r>
              <a:endParaRPr lang="en-US" sz="1600" dirty="0"/>
            </a:p>
          </p:txBody>
        </p:sp>
      </p:grpSp>
      <p:grpSp>
        <p:nvGrpSpPr>
          <p:cNvPr id="11" name="Group 48"/>
          <p:cNvGrpSpPr/>
          <p:nvPr/>
        </p:nvGrpSpPr>
        <p:grpSpPr>
          <a:xfrm>
            <a:off x="3810000" y="3048000"/>
            <a:ext cx="2514600" cy="737175"/>
            <a:chOff x="3810000" y="3048000"/>
            <a:chExt cx="2514600" cy="737175"/>
          </a:xfrm>
        </p:grpSpPr>
        <p:cxnSp>
          <p:nvCxnSpPr>
            <p:cNvPr id="20" name="Straight Arrow Connector 19"/>
            <p:cNvCxnSpPr/>
            <p:nvPr/>
          </p:nvCxnSpPr>
          <p:spPr>
            <a:xfrm flipH="1" flipV="1">
              <a:off x="3810000" y="3048000"/>
              <a:ext cx="2514600" cy="762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4267200" y="3200400"/>
              <a:ext cx="17384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 press=1 | x&gt;=10 )</a:t>
              </a:r>
            </a:p>
            <a:p>
              <a:r>
                <a:rPr lang="en-US" sz="1600" dirty="0" smtClean="0">
                  <a:sym typeface="Wingdings" pitchFamily="2" charset="2"/>
                </a:rPr>
                <a:t>	 x:=0</a:t>
              </a:r>
              <a:endParaRPr lang="en-US" sz="1600" dirty="0"/>
            </a:p>
          </p:txBody>
        </p:sp>
      </p:grpSp>
      <p:sp>
        <p:nvSpPr>
          <p:cNvPr id="55" name="Content Placeholder 3"/>
          <p:cNvSpPr txBox="1">
            <a:spLocks/>
          </p:cNvSpPr>
          <p:nvPr/>
        </p:nvSpPr>
        <p:spPr>
          <a:xfrm>
            <a:off x="228600" y="4038600"/>
            <a:ext cx="86868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noProof="0" dirty="0" smtClean="0">
                <a:solidFill>
                  <a:srgbClr val="C00000"/>
                </a:solidFill>
                <a:latin typeface="Comic Sans MS" pitchFamily="66" charset="0"/>
              </a:rPr>
              <a:t>mode</a:t>
            </a:r>
            <a:r>
              <a:rPr lang="en-US" sz="2000" noProof="0" dirty="0" smtClean="0">
                <a:latin typeface="Comic Sans MS" pitchFamily="66" charset="0"/>
              </a:rPr>
              <a:t> is a state variable ranging over {on, off}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6" name="Content Placeholder 3"/>
          <p:cNvSpPr txBox="1">
            <a:spLocks/>
          </p:cNvSpPr>
          <p:nvPr/>
        </p:nvSpPr>
        <p:spPr>
          <a:xfrm>
            <a:off x="228600" y="4495800"/>
            <a:ext cx="7239000" cy="144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Reaction corresponds to executing a </a:t>
            </a:r>
            <a:r>
              <a:rPr lang="en-US" sz="2000" noProof="0" dirty="0" smtClean="0">
                <a:solidFill>
                  <a:srgbClr val="C00000"/>
                </a:solidFill>
                <a:latin typeface="Comic Sans MS" pitchFamily="66" charset="0"/>
              </a:rPr>
              <a:t>mode-switch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Example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mode-switch: from on to off with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aseline="0" dirty="0" smtClean="0">
                <a:latin typeface="Comic Sans MS" pitchFamily="66" charset="0"/>
              </a:rPr>
              <a:t>		</a:t>
            </a:r>
            <a:r>
              <a:rPr lang="en-US" sz="2000" dirty="0" smtClean="0">
                <a:solidFill>
                  <a:srgbClr val="C00000"/>
                </a:solidFill>
                <a:latin typeface="Comic Sans MS" pitchFamily="66" charset="0"/>
              </a:rPr>
              <a:t>G</a:t>
            </a:r>
            <a:r>
              <a:rPr lang="en-US" sz="2000" baseline="0" dirty="0" smtClean="0">
                <a:solidFill>
                  <a:srgbClr val="C00000"/>
                </a:solidFill>
                <a:latin typeface="Comic Sans MS" pitchFamily="66" charset="0"/>
              </a:rPr>
              <a:t>uard</a:t>
            </a:r>
            <a:r>
              <a:rPr lang="en-US" sz="2000" dirty="0" smtClean="0">
                <a:latin typeface="Comic Sans MS" pitchFamily="66" charset="0"/>
              </a:rPr>
              <a:t> (press=1 | x&gt;=10) and </a:t>
            </a:r>
            <a:r>
              <a:rPr lang="en-US" sz="2000" dirty="0" smtClean="0">
                <a:solidFill>
                  <a:srgbClr val="C00000"/>
                </a:solidFill>
                <a:latin typeface="Comic Sans MS" pitchFamily="66" charset="0"/>
              </a:rPr>
              <a:t>Update</a:t>
            </a:r>
            <a:r>
              <a:rPr lang="en-US" sz="2000" dirty="0" smtClean="0">
                <a:latin typeface="Comic Sans MS" pitchFamily="66" charset="0"/>
              </a:rPr>
              <a:t> code x:=0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Executing ESMs: Switch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60930"/>
            <a:ext cx="158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Input: </a:t>
            </a:r>
            <a:r>
              <a:rPr lang="en-US" sz="1600" dirty="0" err="1" smtClean="0"/>
              <a:t>bool</a:t>
            </a:r>
            <a:r>
              <a:rPr lang="en-US" sz="1600" dirty="0" smtClean="0"/>
              <a:t> press</a:t>
            </a:r>
            <a:endParaRPr lang="en-US" sz="1600" dirty="0"/>
          </a:p>
        </p:txBody>
      </p:sp>
      <p:grpSp>
        <p:nvGrpSpPr>
          <p:cNvPr id="3" name="Group 33"/>
          <p:cNvGrpSpPr/>
          <p:nvPr/>
        </p:nvGrpSpPr>
        <p:grpSpPr>
          <a:xfrm>
            <a:off x="2057400" y="1537130"/>
            <a:ext cx="5857471" cy="2261175"/>
            <a:chOff x="2057400" y="1295400"/>
            <a:chExt cx="5857471" cy="2261175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810000" y="2438400"/>
              <a:ext cx="2514600" cy="762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4"/>
            <p:cNvGrpSpPr/>
            <p:nvPr/>
          </p:nvGrpSpPr>
          <p:grpSpPr>
            <a:xfrm>
              <a:off x="3048000" y="2286000"/>
              <a:ext cx="872358" cy="762000"/>
              <a:chOff x="2057400" y="2819400"/>
              <a:chExt cx="872358" cy="76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2057400" y="2819400"/>
                <a:ext cx="838200" cy="762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209799" y="2971800"/>
                <a:ext cx="7199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off</a:t>
                </a:r>
                <a:endParaRPr lang="en-US" dirty="0"/>
              </a:p>
            </p:txBody>
          </p:sp>
        </p:grpSp>
        <p:grpSp>
          <p:nvGrpSpPr>
            <p:cNvPr id="5" name="Group 15"/>
            <p:cNvGrpSpPr/>
            <p:nvPr/>
          </p:nvGrpSpPr>
          <p:grpSpPr>
            <a:xfrm>
              <a:off x="6248400" y="2286000"/>
              <a:ext cx="838200" cy="762000"/>
              <a:chOff x="2057400" y="2819400"/>
              <a:chExt cx="838200" cy="76200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2057400" y="2819400"/>
                <a:ext cx="838200" cy="762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209800" y="2971800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on</a:t>
                </a:r>
                <a:endParaRPr lang="en-US" dirty="0"/>
              </a:p>
            </p:txBody>
          </p:sp>
        </p:grpSp>
        <p:cxnSp>
          <p:nvCxnSpPr>
            <p:cNvPr id="20" name="Straight Arrow Connector 19"/>
            <p:cNvCxnSpPr/>
            <p:nvPr/>
          </p:nvCxnSpPr>
          <p:spPr>
            <a:xfrm flipH="1" flipV="1">
              <a:off x="3810000" y="2819400"/>
              <a:ext cx="2514600" cy="762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41"/>
            <p:cNvGrpSpPr/>
            <p:nvPr/>
          </p:nvGrpSpPr>
          <p:grpSpPr>
            <a:xfrm>
              <a:off x="3200400" y="1981200"/>
              <a:ext cx="533400" cy="304800"/>
              <a:chOff x="1676400" y="2209800"/>
              <a:chExt cx="533400" cy="30480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42"/>
            <p:cNvGrpSpPr/>
            <p:nvPr/>
          </p:nvGrpSpPr>
          <p:grpSpPr>
            <a:xfrm>
              <a:off x="6400800" y="1981200"/>
              <a:ext cx="533400" cy="304800"/>
              <a:chOff x="1676400" y="2209800"/>
              <a:chExt cx="533400" cy="30480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/>
            <p:cNvSpPr txBox="1"/>
            <p:nvPr/>
          </p:nvSpPr>
          <p:spPr>
            <a:xfrm>
              <a:off x="2057400" y="2286000"/>
              <a:ext cx="801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x:=0</a:t>
              </a:r>
              <a:endParaRPr lang="en-US" sz="1600" dirty="0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2514600" y="2667000"/>
              <a:ext cx="533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2971800" y="1600200"/>
              <a:ext cx="1097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(press=0) ?</a:t>
              </a:r>
              <a:endParaRPr lang="en-US" sz="16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19600" y="2057400"/>
              <a:ext cx="1097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(press=1) ?</a:t>
              </a:r>
              <a:endParaRPr lang="en-US" sz="16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019800" y="1295400"/>
              <a:ext cx="18950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 press=0 &amp; x&lt;10 ) </a:t>
              </a:r>
            </a:p>
            <a:p>
              <a:r>
                <a:rPr lang="en-US" sz="1600" dirty="0" smtClean="0">
                  <a:sym typeface="Wingdings" pitchFamily="2" charset="2"/>
                </a:rPr>
                <a:t>	 x:=x+1</a:t>
              </a:r>
              <a:endParaRPr lang="en-US" sz="16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7200" y="2971800"/>
              <a:ext cx="17384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 press=1 | x&gt;=10 )</a:t>
              </a:r>
            </a:p>
            <a:p>
              <a:r>
                <a:rPr lang="en-US" sz="1600" dirty="0" smtClean="0">
                  <a:sym typeface="Wingdings" pitchFamily="2" charset="2"/>
                </a:rPr>
                <a:t>	 x:=0</a:t>
              </a:r>
              <a:endParaRPr lang="en-US" sz="1600" dirty="0"/>
            </a:p>
          </p:txBody>
        </p:sp>
      </p:grpSp>
      <p:sp>
        <p:nvSpPr>
          <p:cNvPr id="55" name="Content Placeholder 3"/>
          <p:cNvSpPr txBox="1">
            <a:spLocks/>
          </p:cNvSpPr>
          <p:nvPr/>
        </p:nvSpPr>
        <p:spPr>
          <a:xfrm>
            <a:off x="152400" y="3810000"/>
            <a:ext cx="86868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 State of the component Switch assigns values to mode and x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1" name="Content Placeholder 3"/>
          <p:cNvSpPr txBox="1">
            <a:spLocks/>
          </p:cNvSpPr>
          <p:nvPr/>
        </p:nvSpPr>
        <p:spPr>
          <a:xfrm>
            <a:off x="152400" y="4343400"/>
            <a:ext cx="86868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 Initial state: (off, 0)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3" name="Content Placeholder 3"/>
          <p:cNvSpPr txBox="1">
            <a:spLocks/>
          </p:cNvSpPr>
          <p:nvPr/>
        </p:nvSpPr>
        <p:spPr>
          <a:xfrm>
            <a:off x="152400" y="48768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Sample Execution: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(off,0) -0-&gt; (off,0) -1-&gt; (on,0) -0-&gt; (on,1) -0-&gt; (on,2) </a:t>
            </a:r>
            <a:r>
              <a:rPr kumimoji="0" lang="en-US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… </a:t>
            </a:r>
            <a:br>
              <a:rPr kumimoji="0" lang="en-US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-</a:t>
            </a:r>
            <a:r>
              <a:rPr kumimoji="0" lang="en-US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0-&gt;(on,10) -0-&gt; (off,0)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  <p:bldP spid="31" grpId="0" build="p"/>
      <p:bldP spid="3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Modified Switch: What executions are possible?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2000" y="2133600"/>
            <a:ext cx="158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Input: </a:t>
            </a:r>
            <a:r>
              <a:rPr lang="en-US" sz="1600" dirty="0" err="1" smtClean="0"/>
              <a:t>bool</a:t>
            </a:r>
            <a:r>
              <a:rPr lang="en-US" sz="1600" dirty="0" smtClean="0"/>
              <a:t> press</a:t>
            </a:r>
            <a:endParaRPr lang="en-US" sz="1600" dirty="0"/>
          </a:p>
        </p:txBody>
      </p:sp>
      <p:grpSp>
        <p:nvGrpSpPr>
          <p:cNvPr id="3" name="Group 33"/>
          <p:cNvGrpSpPr/>
          <p:nvPr/>
        </p:nvGrpSpPr>
        <p:grpSpPr>
          <a:xfrm>
            <a:off x="2133600" y="2209800"/>
            <a:ext cx="5857471" cy="2261175"/>
            <a:chOff x="2057400" y="1295400"/>
            <a:chExt cx="5857471" cy="2261175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810000" y="2438400"/>
              <a:ext cx="2514600" cy="762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4"/>
            <p:cNvGrpSpPr/>
            <p:nvPr/>
          </p:nvGrpSpPr>
          <p:grpSpPr>
            <a:xfrm>
              <a:off x="3048000" y="2286000"/>
              <a:ext cx="838200" cy="762000"/>
              <a:chOff x="2057400" y="2819400"/>
              <a:chExt cx="838200" cy="76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2057400" y="2819400"/>
                <a:ext cx="838200" cy="762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209799" y="2971800"/>
                <a:ext cx="6437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off</a:t>
                </a:r>
                <a:endParaRPr lang="en-US" dirty="0"/>
              </a:p>
            </p:txBody>
          </p:sp>
        </p:grpSp>
        <p:grpSp>
          <p:nvGrpSpPr>
            <p:cNvPr id="5" name="Group 15"/>
            <p:cNvGrpSpPr/>
            <p:nvPr/>
          </p:nvGrpSpPr>
          <p:grpSpPr>
            <a:xfrm>
              <a:off x="6248400" y="2286000"/>
              <a:ext cx="838200" cy="762000"/>
              <a:chOff x="2057400" y="2819400"/>
              <a:chExt cx="838200" cy="76200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2057400" y="2819400"/>
                <a:ext cx="838200" cy="762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209800" y="2971800"/>
                <a:ext cx="53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on</a:t>
                </a:r>
                <a:endParaRPr lang="en-US" dirty="0"/>
              </a:p>
            </p:txBody>
          </p:sp>
        </p:grpSp>
        <p:cxnSp>
          <p:nvCxnSpPr>
            <p:cNvPr id="20" name="Straight Arrow Connector 19"/>
            <p:cNvCxnSpPr/>
            <p:nvPr/>
          </p:nvCxnSpPr>
          <p:spPr>
            <a:xfrm flipH="1" flipV="1">
              <a:off x="3810000" y="2819400"/>
              <a:ext cx="2514600" cy="762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41"/>
            <p:cNvGrpSpPr/>
            <p:nvPr/>
          </p:nvGrpSpPr>
          <p:grpSpPr>
            <a:xfrm>
              <a:off x="3200400" y="1981200"/>
              <a:ext cx="533400" cy="304800"/>
              <a:chOff x="1676400" y="2209800"/>
              <a:chExt cx="533400" cy="30480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42"/>
            <p:cNvGrpSpPr/>
            <p:nvPr/>
          </p:nvGrpSpPr>
          <p:grpSpPr>
            <a:xfrm>
              <a:off x="6400800" y="1981200"/>
              <a:ext cx="533400" cy="304800"/>
              <a:chOff x="1676400" y="2209800"/>
              <a:chExt cx="533400" cy="30480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/>
            <p:cNvSpPr txBox="1"/>
            <p:nvPr/>
          </p:nvSpPr>
          <p:spPr>
            <a:xfrm>
              <a:off x="2057400" y="2286000"/>
              <a:ext cx="801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x:=0</a:t>
              </a:r>
              <a:endParaRPr lang="en-US" sz="1600" dirty="0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2514600" y="2667000"/>
              <a:ext cx="533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2971800" y="1600200"/>
              <a:ext cx="10508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(press=0)?</a:t>
              </a:r>
              <a:endParaRPr lang="en-US" sz="16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19600" y="2057400"/>
              <a:ext cx="1097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(press=1) ?</a:t>
              </a:r>
              <a:endParaRPr lang="en-US" sz="16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019800" y="1295400"/>
              <a:ext cx="18950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 press=0 &amp; </a:t>
              </a:r>
              <a:r>
                <a:rPr lang="en-US" sz="1600" dirty="0" smtClean="0">
                  <a:solidFill>
                    <a:srgbClr val="C00000"/>
                  </a:solidFill>
                </a:rPr>
                <a:t>x&lt;=10 </a:t>
              </a:r>
              <a:r>
                <a:rPr lang="en-US" sz="1600" dirty="0" smtClean="0"/>
                <a:t>)</a:t>
              </a:r>
              <a:r>
                <a:rPr lang="en-US" sz="1600" dirty="0" smtClean="0">
                  <a:solidFill>
                    <a:srgbClr val="C00000"/>
                  </a:solidFill>
                </a:rPr>
                <a:t> </a:t>
              </a:r>
            </a:p>
            <a:p>
              <a:r>
                <a:rPr lang="en-US" sz="1600" dirty="0" smtClean="0">
                  <a:sym typeface="Wingdings" pitchFamily="2" charset="2"/>
                </a:rPr>
                <a:t>	 x:=x+1</a:t>
              </a:r>
              <a:endParaRPr lang="en-US" sz="16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7200" y="2971800"/>
              <a:ext cx="178497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( press=1 | x&gt;=10 ) </a:t>
              </a:r>
            </a:p>
            <a:p>
              <a:r>
                <a:rPr lang="en-US" sz="1600" dirty="0" smtClean="0">
                  <a:sym typeface="Wingdings" pitchFamily="2" charset="2"/>
                </a:rPr>
                <a:t>	 x:=0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Finite-State Components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" name="Group 40"/>
          <p:cNvGrpSpPr/>
          <p:nvPr/>
        </p:nvGrpSpPr>
        <p:grpSpPr>
          <a:xfrm>
            <a:off x="304800" y="1371600"/>
            <a:ext cx="4469785" cy="1371600"/>
            <a:chOff x="2438400" y="1143000"/>
            <a:chExt cx="4469785" cy="1371600"/>
          </a:xfrm>
        </p:grpSpPr>
        <p:sp>
          <p:nvSpPr>
            <p:cNvPr id="9" name="Rectangle 8"/>
            <p:cNvSpPr/>
            <p:nvPr/>
          </p:nvSpPr>
          <p:spPr>
            <a:xfrm>
              <a:off x="3352800" y="1600200"/>
              <a:ext cx="25908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5943600" y="20574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438400" y="20574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438400" y="1676400"/>
              <a:ext cx="756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in</a:t>
              </a:r>
              <a:endParaRPr lang="en-US" sz="16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352800" y="1905000"/>
              <a:ext cx="259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657600" y="1600200"/>
              <a:ext cx="1045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x := 0</a:t>
              </a:r>
              <a:endParaRPr lang="en-US" sz="1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33800" y="2057400"/>
              <a:ext cx="13083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out:=x ; x:= in</a:t>
              </a:r>
              <a:endParaRPr lang="en-US" sz="16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19800" y="1676400"/>
              <a:ext cx="8883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bool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52800" y="1143000"/>
              <a:ext cx="6473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Delay</a:t>
              </a:r>
              <a:endParaRPr lang="en-US" sz="1600" dirty="0"/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5105400" y="1447800"/>
            <a:ext cx="3733800" cy="1405354"/>
            <a:chOff x="533400" y="1676400"/>
            <a:chExt cx="3733800" cy="1405354"/>
          </a:xfrm>
        </p:grpSpPr>
        <p:sp>
          <p:nvSpPr>
            <p:cNvPr id="31" name="Rectangle 30"/>
            <p:cNvSpPr/>
            <p:nvPr/>
          </p:nvSpPr>
          <p:spPr>
            <a:xfrm>
              <a:off x="1447800" y="2057400"/>
              <a:ext cx="19050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3352800" y="25146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533400" y="23622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33400" y="19812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in1</a:t>
              </a:r>
              <a:endParaRPr lang="en-US" sz="16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24000" y="2362200"/>
              <a:ext cx="15696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out := in1</a:t>
              </a:r>
              <a:r>
                <a:rPr lang="en-US" sz="1600" baseline="30000" dirty="0" smtClean="0"/>
                <a:t>2</a:t>
              </a:r>
              <a:r>
                <a:rPr lang="en-US" sz="1600" dirty="0" smtClean="0"/>
                <a:t> – in2</a:t>
              </a:r>
              <a:r>
                <a:rPr lang="en-US" sz="1600" baseline="30000" dirty="0" smtClean="0"/>
                <a:t>2</a:t>
              </a:r>
              <a:endParaRPr lang="en-US" sz="1600" baseline="30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429000" y="2133600"/>
              <a:ext cx="7373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533400" y="26670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533400" y="27432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in2</a:t>
              </a:r>
              <a:endParaRPr lang="en-US"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447800" y="1676400"/>
              <a:ext cx="1060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DiffSquare</a:t>
              </a:r>
              <a:endParaRPr lang="en-US" sz="1600" dirty="0"/>
            </a:p>
          </p:txBody>
        </p:sp>
      </p:grpSp>
      <p:sp>
        <p:nvSpPr>
          <p:cNvPr id="42" name="Content Placeholder 3"/>
          <p:cNvSpPr txBox="1">
            <a:spLocks/>
          </p:cNvSpPr>
          <p:nvPr/>
        </p:nvSpPr>
        <p:spPr>
          <a:xfrm>
            <a:off x="152400" y="3962400"/>
            <a:ext cx="89916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A component is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finite-state if all its variables range over finite types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 smtClean="0">
                <a:latin typeface="Comic Sans MS" pitchFamily="66" charset="0"/>
              </a:rPr>
              <a:t>Finite types: </a:t>
            </a:r>
            <a:r>
              <a:rPr lang="en-US" sz="2000" dirty="0" err="1" smtClean="0">
                <a:latin typeface="Comic Sans MS" pitchFamily="66" charset="0"/>
              </a:rPr>
              <a:t>bool</a:t>
            </a:r>
            <a:r>
              <a:rPr lang="en-US" sz="2000" dirty="0" smtClean="0">
                <a:latin typeface="Comic Sans MS" pitchFamily="66" charset="0"/>
              </a:rPr>
              <a:t>, enumerated types (e.g. {on, off}), </a:t>
            </a:r>
            <a:r>
              <a:rPr lang="en-US" sz="2000" dirty="0" err="1" smtClean="0">
                <a:latin typeface="Comic Sans MS" pitchFamily="66" charset="0"/>
              </a:rPr>
              <a:t>int</a:t>
            </a:r>
            <a:r>
              <a:rPr lang="en-US" sz="2000" dirty="0" smtClean="0">
                <a:latin typeface="Comic Sans MS" pitchFamily="66" charset="0"/>
              </a:rPr>
              <a:t>[-5..5]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Delay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is finite-state, but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DiffSquare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is not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0010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Mealy Machines (for Finite-state components)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0" y="182880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334000" y="22860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828800" y="22860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190500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743200" y="21336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48000" y="182880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048000" y="2286000"/>
            <a:ext cx="130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out:=x ; x:= in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5410200" y="190500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2743200" y="137160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  <p:grpSp>
        <p:nvGrpSpPr>
          <p:cNvPr id="3" name="Group 63"/>
          <p:cNvGrpSpPr/>
          <p:nvPr/>
        </p:nvGrpSpPr>
        <p:grpSpPr>
          <a:xfrm>
            <a:off x="2209800" y="3276600"/>
            <a:ext cx="3276600" cy="1557754"/>
            <a:chOff x="2209800" y="3276600"/>
            <a:chExt cx="3276600" cy="1557754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3505200" y="4114800"/>
              <a:ext cx="12192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4"/>
            <p:cNvGrpSpPr/>
            <p:nvPr/>
          </p:nvGrpSpPr>
          <p:grpSpPr>
            <a:xfrm>
              <a:off x="2743200" y="3962400"/>
              <a:ext cx="838200" cy="762000"/>
              <a:chOff x="2057400" y="2819400"/>
              <a:chExt cx="838200" cy="7620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2057400" y="2819400"/>
                <a:ext cx="838200" cy="762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286000" y="30480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0</a:t>
                </a:r>
                <a:endParaRPr lang="en-US" dirty="0"/>
              </a:p>
            </p:txBody>
          </p:sp>
        </p:grpSp>
        <p:grpSp>
          <p:nvGrpSpPr>
            <p:cNvPr id="5" name="Group 15"/>
            <p:cNvGrpSpPr/>
            <p:nvPr/>
          </p:nvGrpSpPr>
          <p:grpSpPr>
            <a:xfrm>
              <a:off x="4648200" y="3962400"/>
              <a:ext cx="838200" cy="762000"/>
              <a:chOff x="762000" y="2819400"/>
              <a:chExt cx="838200" cy="762000"/>
            </a:xfrm>
          </p:grpSpPr>
          <p:sp>
            <p:nvSpPr>
              <p:cNvPr id="57" name="Oval 56"/>
              <p:cNvSpPr/>
              <p:nvPr/>
            </p:nvSpPr>
            <p:spPr>
              <a:xfrm>
                <a:off x="762000" y="2819400"/>
                <a:ext cx="838200" cy="762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90600" y="30480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cxnSp>
          <p:nvCxnSpPr>
            <p:cNvPr id="41" name="Straight Arrow Connector 40"/>
            <p:cNvCxnSpPr/>
            <p:nvPr/>
          </p:nvCxnSpPr>
          <p:spPr>
            <a:xfrm flipH="1">
              <a:off x="3505200" y="4495800"/>
              <a:ext cx="1143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41"/>
            <p:cNvGrpSpPr/>
            <p:nvPr/>
          </p:nvGrpSpPr>
          <p:grpSpPr>
            <a:xfrm>
              <a:off x="2895600" y="3657600"/>
              <a:ext cx="533400" cy="304800"/>
              <a:chOff x="1676400" y="2209800"/>
              <a:chExt cx="533400" cy="304800"/>
            </a:xfrm>
          </p:grpSpPr>
          <p:cxnSp>
            <p:nvCxnSpPr>
              <p:cNvPr id="54" name="Straight Connector 53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42"/>
            <p:cNvGrpSpPr/>
            <p:nvPr/>
          </p:nvGrpSpPr>
          <p:grpSpPr>
            <a:xfrm>
              <a:off x="4724400" y="3657600"/>
              <a:ext cx="533400" cy="304800"/>
              <a:chOff x="1676400" y="2209800"/>
              <a:chExt cx="533400" cy="3048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H="1" flipV="1">
                <a:off x="1676400" y="2209800"/>
                <a:ext cx="152400" cy="3048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1676400" y="2209800"/>
                <a:ext cx="5334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flipH="1">
                <a:off x="2057400" y="2209800"/>
                <a:ext cx="152400" cy="304800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/>
            <p:cNvCxnSpPr/>
            <p:nvPr/>
          </p:nvCxnSpPr>
          <p:spPr>
            <a:xfrm>
              <a:off x="2209800" y="4343400"/>
              <a:ext cx="533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2895600" y="32766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0 / 0</a:t>
              </a:r>
              <a:endParaRPr lang="en-US" sz="16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886200" y="3733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/ 0</a:t>
              </a:r>
              <a:endParaRPr lang="en-US" sz="16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724400" y="32766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/ 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810000" y="4495800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0 / 1</a:t>
              </a:r>
            </a:p>
          </p:txBody>
        </p:sp>
      </p:grpSp>
      <p:sp>
        <p:nvSpPr>
          <p:cNvPr id="65" name="Content Placeholder 3"/>
          <p:cNvSpPr txBox="1">
            <a:spLocks/>
          </p:cNvSpPr>
          <p:nvPr/>
        </p:nvSpPr>
        <p:spPr>
          <a:xfrm>
            <a:off x="228600" y="5257800"/>
            <a:ext cx="86868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noProof="0" dirty="0" smtClean="0">
                <a:latin typeface="Comic Sans MS" pitchFamily="66" charset="0"/>
              </a:rPr>
              <a:t>Finite-state components are amenable to exact, algorithmic analysis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Switch: Is it finite-state?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3810000" y="2667000"/>
            <a:ext cx="2514600" cy="76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1447800"/>
            <a:ext cx="158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Input: </a:t>
            </a:r>
            <a:r>
              <a:rPr lang="en-US" sz="1600" dirty="0" err="1" smtClean="0"/>
              <a:t>bool</a:t>
            </a:r>
            <a:r>
              <a:rPr lang="en-US" sz="1600" dirty="0" smtClean="0"/>
              <a:t> press</a:t>
            </a:r>
            <a:endParaRPr lang="en-US" sz="1600" dirty="0"/>
          </a:p>
        </p:txBody>
      </p:sp>
      <p:grpSp>
        <p:nvGrpSpPr>
          <p:cNvPr id="3" name="Group 14"/>
          <p:cNvGrpSpPr/>
          <p:nvPr/>
        </p:nvGrpSpPr>
        <p:grpSpPr>
          <a:xfrm>
            <a:off x="3048000" y="2514600"/>
            <a:ext cx="838200" cy="762000"/>
            <a:chOff x="2057400" y="2819400"/>
            <a:chExt cx="838200" cy="762000"/>
          </a:xfrm>
        </p:grpSpPr>
        <p:sp>
          <p:nvSpPr>
            <p:cNvPr id="13" name="Oval 12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799" y="2971800"/>
              <a:ext cx="6043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off</a:t>
              </a:r>
              <a:endParaRPr lang="en-US" dirty="0"/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6248400" y="2514600"/>
            <a:ext cx="838200" cy="762000"/>
            <a:chOff x="2057400" y="2819400"/>
            <a:chExt cx="838200" cy="762000"/>
          </a:xfrm>
        </p:grpSpPr>
        <p:sp>
          <p:nvSpPr>
            <p:cNvPr id="17" name="Oval 16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09800" y="29718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on</a:t>
              </a:r>
              <a:endParaRPr lang="en-US" dirty="0"/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 flipH="1" flipV="1">
            <a:off x="3810000" y="3048000"/>
            <a:ext cx="2514600" cy="76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1"/>
          <p:cNvGrpSpPr/>
          <p:nvPr/>
        </p:nvGrpSpPr>
        <p:grpSpPr>
          <a:xfrm>
            <a:off x="3200400" y="2209800"/>
            <a:ext cx="533400" cy="304800"/>
            <a:chOff x="1676400" y="2209800"/>
            <a:chExt cx="533400" cy="304800"/>
          </a:xfrm>
        </p:grpSpPr>
        <p:cxnSp>
          <p:nvCxnSpPr>
            <p:cNvPr id="30" name="Straight Connector 29"/>
            <p:cNvCxnSpPr/>
            <p:nvPr/>
          </p:nvCxnSpPr>
          <p:spPr>
            <a:xfrm flipH="1" flipV="1">
              <a:off x="1676400" y="2209800"/>
              <a:ext cx="1524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676400" y="2209800"/>
              <a:ext cx="5334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2057400" y="2209800"/>
              <a:ext cx="152400" cy="3048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42"/>
          <p:cNvGrpSpPr/>
          <p:nvPr/>
        </p:nvGrpSpPr>
        <p:grpSpPr>
          <a:xfrm>
            <a:off x="6400800" y="2209800"/>
            <a:ext cx="533400" cy="304800"/>
            <a:chOff x="1676400" y="2209800"/>
            <a:chExt cx="533400" cy="304800"/>
          </a:xfrm>
        </p:grpSpPr>
        <p:cxnSp>
          <p:nvCxnSpPr>
            <p:cNvPr id="44" name="Straight Connector 43"/>
            <p:cNvCxnSpPr/>
            <p:nvPr/>
          </p:nvCxnSpPr>
          <p:spPr>
            <a:xfrm flipH="1" flipV="1">
              <a:off x="1676400" y="2209800"/>
              <a:ext cx="1524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676400" y="2209800"/>
              <a:ext cx="5334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2057400" y="2209800"/>
              <a:ext cx="152400" cy="3048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2057400" y="2514600"/>
            <a:ext cx="801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int</a:t>
            </a:r>
            <a:r>
              <a:rPr lang="en-US" sz="1600" dirty="0" smtClean="0"/>
              <a:t> x:=0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2514600" y="2895600"/>
            <a:ext cx="533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71800" y="1828800"/>
            <a:ext cx="1097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(press=0) ?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419600" y="2286000"/>
            <a:ext cx="1097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(press=1) ?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6019800" y="1524000"/>
            <a:ext cx="1895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(press=0 &amp; x&lt;10)</a:t>
            </a:r>
          </a:p>
          <a:p>
            <a:r>
              <a:rPr lang="en-US" sz="1600" dirty="0" smtClean="0">
                <a:sym typeface="Wingdings" pitchFamily="2" charset="2"/>
              </a:rPr>
              <a:t>	 x:=x+1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4267200" y="3200400"/>
            <a:ext cx="1692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(press=1 | x&gt;=10) </a:t>
            </a:r>
          </a:p>
          <a:p>
            <a:r>
              <a:rPr lang="en-US" sz="1600" dirty="0" smtClean="0">
                <a:sym typeface="Wingdings" pitchFamily="2" charset="2"/>
              </a:rPr>
              <a:t> 	 x:=0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1600200" y="2971800"/>
            <a:ext cx="1336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int</a:t>
            </a:r>
            <a:r>
              <a:rPr lang="en-US" sz="1600" dirty="0" smtClean="0"/>
              <a:t>[0,10]  x:=0</a:t>
            </a:r>
            <a:endParaRPr lang="en-US" sz="1600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1828800" y="2667000"/>
            <a:ext cx="1066800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Combinational Components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0" y="1828800"/>
            <a:ext cx="25908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810000" y="22860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04800" y="2286000"/>
            <a:ext cx="914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4800" y="1905000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in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219200" y="21336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24000" y="1828800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x := 0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524000" y="2286000"/>
            <a:ext cx="130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out:=x ; x:= in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3886200" y="1905000"/>
            <a:ext cx="888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bool</a:t>
            </a:r>
            <a:r>
              <a:rPr lang="en-US" sz="1600" dirty="0" smtClean="0"/>
              <a:t> out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1219200" y="1371600"/>
            <a:ext cx="647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Delay</a:t>
            </a:r>
            <a:endParaRPr lang="en-US" sz="1600" dirty="0"/>
          </a:p>
        </p:txBody>
      </p:sp>
      <p:grpSp>
        <p:nvGrpSpPr>
          <p:cNvPr id="3" name="Group 29"/>
          <p:cNvGrpSpPr/>
          <p:nvPr/>
        </p:nvGrpSpPr>
        <p:grpSpPr>
          <a:xfrm>
            <a:off x="5105400" y="1447800"/>
            <a:ext cx="3733800" cy="1405354"/>
            <a:chOff x="533400" y="1676400"/>
            <a:chExt cx="3733800" cy="1405354"/>
          </a:xfrm>
        </p:grpSpPr>
        <p:sp>
          <p:nvSpPr>
            <p:cNvPr id="31" name="Rectangle 30"/>
            <p:cNvSpPr/>
            <p:nvPr/>
          </p:nvSpPr>
          <p:spPr>
            <a:xfrm>
              <a:off x="1447800" y="2057400"/>
              <a:ext cx="19050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3352800" y="25146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533400" y="23622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33400" y="19812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in1</a:t>
              </a:r>
              <a:endParaRPr lang="en-US" sz="16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24000" y="2362200"/>
              <a:ext cx="15696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out := in1</a:t>
              </a:r>
              <a:r>
                <a:rPr lang="en-US" sz="1600" baseline="30000" dirty="0" smtClean="0"/>
                <a:t>2</a:t>
              </a:r>
              <a:r>
                <a:rPr lang="en-US" sz="1600" dirty="0" smtClean="0"/>
                <a:t> – in2</a:t>
              </a:r>
              <a:r>
                <a:rPr lang="en-US" sz="1600" baseline="30000" dirty="0" smtClean="0"/>
                <a:t>2</a:t>
              </a:r>
              <a:endParaRPr lang="en-US" sz="1600" baseline="300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429000" y="2133600"/>
              <a:ext cx="7373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out</a:t>
              </a:r>
              <a:endParaRPr lang="en-US" sz="160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533400" y="2667000"/>
              <a:ext cx="914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533400" y="2743200"/>
              <a:ext cx="710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int</a:t>
              </a:r>
              <a:r>
                <a:rPr lang="en-US" sz="1600" dirty="0" smtClean="0"/>
                <a:t> in2</a:t>
              </a:r>
              <a:endParaRPr lang="en-US"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447800" y="1676400"/>
              <a:ext cx="1060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DiffSquare</a:t>
              </a:r>
              <a:endParaRPr lang="en-US" sz="1600" dirty="0"/>
            </a:p>
          </p:txBody>
        </p:sp>
      </p:grpSp>
      <p:sp>
        <p:nvSpPr>
          <p:cNvPr id="42" name="Content Placeholder 3"/>
          <p:cNvSpPr txBox="1">
            <a:spLocks/>
          </p:cNvSpPr>
          <p:nvPr/>
        </p:nvSpPr>
        <p:spPr>
          <a:xfrm>
            <a:off x="152400" y="3962400"/>
            <a:ext cx="88392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2000" dirty="0" smtClean="0">
                <a:latin typeface="Comic Sans MS" pitchFamily="66" charset="0"/>
              </a:rPr>
              <a:t>A component is </a:t>
            </a: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combinational if it has no state variables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DiffSquare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is combinational, but Delay is not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noProof="0" dirty="0" smtClean="0">
                <a:latin typeface="Comic Sans MS" pitchFamily="66" charset="0"/>
              </a:rPr>
              <a:t>Hardware gates are combinational components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Top-Down Design + Case Study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148988" y="1505234"/>
            <a:ext cx="8842612" cy="40573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 smtClean="0">
              <a:latin typeface="Comic Sans MS" pitchFamily="66" charset="0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Starting point: Inputs and outputs of desired design C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Models/assumptions about the environment in which C operates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Informal/formal description of desired behavior of C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Example: Cruise Controller</a:t>
            </a: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/>
          <p:nvPr/>
        </p:nvGrpSpPr>
        <p:grpSpPr>
          <a:xfrm>
            <a:off x="3505200" y="2971800"/>
            <a:ext cx="1620036" cy="1219200"/>
            <a:chOff x="3505200" y="2971800"/>
            <a:chExt cx="1620036" cy="1219200"/>
          </a:xfrm>
        </p:grpSpPr>
        <p:sp>
          <p:nvSpPr>
            <p:cNvPr id="9" name="Rectangle 8"/>
            <p:cNvSpPr/>
            <p:nvPr/>
          </p:nvSpPr>
          <p:spPr>
            <a:xfrm>
              <a:off x="3505200" y="2971800"/>
              <a:ext cx="16002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35121" y="3412123"/>
              <a:ext cx="159011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 smtClean="0"/>
                <a:t>CruiseController</a:t>
              </a:r>
              <a:endParaRPr lang="en-US" sz="1500" dirty="0"/>
            </a:p>
          </p:txBody>
        </p:sp>
      </p:grpSp>
      <p:grpSp>
        <p:nvGrpSpPr>
          <p:cNvPr id="3" name="Group 36"/>
          <p:cNvGrpSpPr/>
          <p:nvPr/>
        </p:nvGrpSpPr>
        <p:grpSpPr>
          <a:xfrm>
            <a:off x="2286000" y="2895600"/>
            <a:ext cx="1226618" cy="323165"/>
            <a:chOff x="2286000" y="2895600"/>
            <a:chExt cx="1226618" cy="323165"/>
          </a:xfrm>
        </p:grpSpPr>
        <p:sp>
          <p:nvSpPr>
            <p:cNvPr id="12" name="TextBox 11"/>
            <p:cNvSpPr txBox="1"/>
            <p:nvPr/>
          </p:nvSpPr>
          <p:spPr>
            <a:xfrm>
              <a:off x="2286000" y="2895600"/>
              <a:ext cx="122661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smtClean="0"/>
                <a:t>event second</a:t>
              </a:r>
              <a:endParaRPr lang="en-US" sz="1500" dirty="0"/>
            </a:p>
          </p:txBody>
        </p:sp>
        <p:cxnSp>
          <p:nvCxnSpPr>
            <p:cNvPr id="17" name="Straight Arrow Connector 16"/>
            <p:cNvCxnSpPr>
              <a:stCxn id="34" idx="3"/>
            </p:cNvCxnSpPr>
            <p:nvPr/>
          </p:nvCxnSpPr>
          <p:spPr>
            <a:xfrm>
              <a:off x="2362200" y="3200400"/>
              <a:ext cx="1143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9"/>
          <p:cNvGrpSpPr/>
          <p:nvPr/>
        </p:nvGrpSpPr>
        <p:grpSpPr>
          <a:xfrm>
            <a:off x="6324600" y="2895600"/>
            <a:ext cx="762000" cy="1219200"/>
            <a:chOff x="3505200" y="2971800"/>
            <a:chExt cx="762000" cy="1219200"/>
          </a:xfrm>
        </p:grpSpPr>
        <p:sp>
          <p:nvSpPr>
            <p:cNvPr id="21" name="Rectangle 20"/>
            <p:cNvSpPr/>
            <p:nvPr/>
          </p:nvSpPr>
          <p:spPr>
            <a:xfrm>
              <a:off x="3505200" y="2971800"/>
              <a:ext cx="7620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35121" y="3412123"/>
              <a:ext cx="72808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smtClean="0"/>
                <a:t>Driver</a:t>
              </a:r>
              <a:endParaRPr lang="en-US" sz="1500" dirty="0"/>
            </a:p>
          </p:txBody>
        </p:sp>
      </p:grpSp>
      <p:grpSp>
        <p:nvGrpSpPr>
          <p:cNvPr id="5" name="Group 31"/>
          <p:cNvGrpSpPr/>
          <p:nvPr/>
        </p:nvGrpSpPr>
        <p:grpSpPr>
          <a:xfrm>
            <a:off x="5105400" y="2895600"/>
            <a:ext cx="1371600" cy="1085165"/>
            <a:chOff x="5105400" y="2971800"/>
            <a:chExt cx="1371600" cy="1085165"/>
          </a:xfrm>
        </p:grpSpPr>
        <p:grpSp>
          <p:nvGrpSpPr>
            <p:cNvPr id="6" name="Group 24"/>
            <p:cNvGrpSpPr/>
            <p:nvPr/>
          </p:nvGrpSpPr>
          <p:grpSpPr>
            <a:xfrm>
              <a:off x="5105400" y="2971800"/>
              <a:ext cx="1371600" cy="323165"/>
              <a:chOff x="5105400" y="2971800"/>
              <a:chExt cx="1371600" cy="323165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>
                <a:off x="5105400" y="3276600"/>
                <a:ext cx="1219200" cy="0"/>
              </a:xfrm>
              <a:prstGeom prst="straightConnector1">
                <a:avLst/>
              </a:prstGeom>
              <a:ln w="25400"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181600" y="2971800"/>
                <a:ext cx="129540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smtClean="0"/>
                  <a:t>event cruise</a:t>
                </a:r>
                <a:endParaRPr lang="en-US" sz="1500" dirty="0"/>
              </a:p>
            </p:txBody>
          </p:sp>
        </p:grpSp>
        <p:grpSp>
          <p:nvGrpSpPr>
            <p:cNvPr id="7" name="Group 25"/>
            <p:cNvGrpSpPr/>
            <p:nvPr/>
          </p:nvGrpSpPr>
          <p:grpSpPr>
            <a:xfrm>
              <a:off x="5105400" y="3352800"/>
              <a:ext cx="1371600" cy="323165"/>
              <a:chOff x="5105400" y="2971800"/>
              <a:chExt cx="1371600" cy="323165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5105400" y="3276600"/>
                <a:ext cx="1219200" cy="0"/>
              </a:xfrm>
              <a:prstGeom prst="straightConnector1">
                <a:avLst/>
              </a:prstGeom>
              <a:ln w="25400"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5181600" y="2971800"/>
                <a:ext cx="129540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smtClean="0"/>
                  <a:t>event inc</a:t>
                </a:r>
                <a:endParaRPr lang="en-US" sz="1500" dirty="0"/>
              </a:p>
            </p:txBody>
          </p:sp>
        </p:grpSp>
        <p:grpSp>
          <p:nvGrpSpPr>
            <p:cNvPr id="8" name="Group 28"/>
            <p:cNvGrpSpPr/>
            <p:nvPr/>
          </p:nvGrpSpPr>
          <p:grpSpPr>
            <a:xfrm>
              <a:off x="5105400" y="3733800"/>
              <a:ext cx="1371600" cy="323165"/>
              <a:chOff x="5105400" y="2971800"/>
              <a:chExt cx="1371600" cy="323165"/>
            </a:xfrm>
          </p:grpSpPr>
          <p:cxnSp>
            <p:nvCxnSpPr>
              <p:cNvPr id="30" name="Straight Arrow Connector 29"/>
              <p:cNvCxnSpPr/>
              <p:nvPr/>
            </p:nvCxnSpPr>
            <p:spPr>
              <a:xfrm>
                <a:off x="5105400" y="3276600"/>
                <a:ext cx="1219200" cy="0"/>
              </a:xfrm>
              <a:prstGeom prst="straightConnector1">
                <a:avLst/>
              </a:prstGeom>
              <a:ln w="25400"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5181600" y="2971800"/>
                <a:ext cx="129540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smtClean="0"/>
                  <a:t>event </a:t>
                </a:r>
                <a:r>
                  <a:rPr lang="en-US" sz="1500" dirty="0" err="1" smtClean="0"/>
                  <a:t>dec</a:t>
                </a:r>
                <a:endParaRPr lang="en-US" sz="1500" dirty="0"/>
              </a:p>
            </p:txBody>
          </p:sp>
        </p:grpSp>
      </p:grpSp>
      <p:grpSp>
        <p:nvGrpSpPr>
          <p:cNvPr id="13" name="Group 32"/>
          <p:cNvGrpSpPr/>
          <p:nvPr/>
        </p:nvGrpSpPr>
        <p:grpSpPr>
          <a:xfrm>
            <a:off x="1524000" y="2971800"/>
            <a:ext cx="838200" cy="457200"/>
            <a:chOff x="3505200" y="2971800"/>
            <a:chExt cx="762000" cy="1219200"/>
          </a:xfrm>
        </p:grpSpPr>
        <p:sp>
          <p:nvSpPr>
            <p:cNvPr id="34" name="Rectangle 33"/>
            <p:cNvSpPr/>
            <p:nvPr/>
          </p:nvSpPr>
          <p:spPr>
            <a:xfrm>
              <a:off x="3505200" y="2971800"/>
              <a:ext cx="7620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574473" y="3175000"/>
              <a:ext cx="662806" cy="8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smtClean="0"/>
                <a:t>Clock</a:t>
              </a:r>
              <a:endParaRPr lang="en-US" sz="1500" dirty="0"/>
            </a:p>
          </p:txBody>
        </p:sp>
      </p:grpSp>
      <p:grpSp>
        <p:nvGrpSpPr>
          <p:cNvPr id="18" name="Group 37"/>
          <p:cNvGrpSpPr/>
          <p:nvPr/>
        </p:nvGrpSpPr>
        <p:grpSpPr>
          <a:xfrm>
            <a:off x="1447800" y="3581400"/>
            <a:ext cx="914400" cy="457200"/>
            <a:chOff x="3505200" y="2971800"/>
            <a:chExt cx="762000" cy="1219200"/>
          </a:xfrm>
        </p:grpSpPr>
        <p:sp>
          <p:nvSpPr>
            <p:cNvPr id="39" name="Rectangle 38"/>
            <p:cNvSpPr/>
            <p:nvPr/>
          </p:nvSpPr>
          <p:spPr>
            <a:xfrm>
              <a:off x="3505200" y="2971800"/>
              <a:ext cx="7620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574473" y="3175000"/>
              <a:ext cx="662806" cy="8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smtClean="0"/>
                <a:t>Sensor</a:t>
              </a:r>
              <a:endParaRPr lang="en-US" sz="1500" dirty="0"/>
            </a:p>
          </p:txBody>
        </p:sp>
      </p:grpSp>
      <p:grpSp>
        <p:nvGrpSpPr>
          <p:cNvPr id="19" name="Group 40"/>
          <p:cNvGrpSpPr/>
          <p:nvPr/>
        </p:nvGrpSpPr>
        <p:grpSpPr>
          <a:xfrm>
            <a:off x="2286000" y="3581400"/>
            <a:ext cx="1219200" cy="323165"/>
            <a:chOff x="2286000" y="2895600"/>
            <a:chExt cx="1219200" cy="323165"/>
          </a:xfrm>
        </p:grpSpPr>
        <p:sp>
          <p:nvSpPr>
            <p:cNvPr id="43" name="TextBox 42"/>
            <p:cNvSpPr txBox="1"/>
            <p:nvPr/>
          </p:nvSpPr>
          <p:spPr>
            <a:xfrm>
              <a:off x="2286000" y="2895600"/>
              <a:ext cx="11573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smtClean="0"/>
                <a:t>event rotate</a:t>
              </a:r>
              <a:endParaRPr lang="en-US" sz="1500" dirty="0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2362200" y="3200400"/>
              <a:ext cx="1143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44"/>
          <p:cNvGrpSpPr/>
          <p:nvPr/>
        </p:nvGrpSpPr>
        <p:grpSpPr>
          <a:xfrm>
            <a:off x="3566294" y="4724400"/>
            <a:ext cx="1554212" cy="457200"/>
            <a:chOff x="3505200" y="2971800"/>
            <a:chExt cx="777106" cy="1219200"/>
          </a:xfrm>
        </p:grpSpPr>
        <p:sp>
          <p:nvSpPr>
            <p:cNvPr id="46" name="Rectangle 45"/>
            <p:cNvSpPr/>
            <p:nvPr/>
          </p:nvSpPr>
          <p:spPr>
            <a:xfrm>
              <a:off x="3505200" y="2971800"/>
              <a:ext cx="7620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619500" y="3175000"/>
              <a:ext cx="662806" cy="8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smtClean="0"/>
                <a:t>Display</a:t>
              </a:r>
              <a:endParaRPr lang="en-US" sz="1500" dirty="0"/>
            </a:p>
          </p:txBody>
        </p:sp>
      </p:grpSp>
      <p:grpSp>
        <p:nvGrpSpPr>
          <p:cNvPr id="23" name="Group 51"/>
          <p:cNvGrpSpPr/>
          <p:nvPr/>
        </p:nvGrpSpPr>
        <p:grpSpPr>
          <a:xfrm>
            <a:off x="2971800" y="4191000"/>
            <a:ext cx="3693594" cy="533400"/>
            <a:chOff x="2971800" y="4191000"/>
            <a:chExt cx="3693594" cy="533400"/>
          </a:xfrm>
        </p:grpSpPr>
        <p:sp>
          <p:nvSpPr>
            <p:cNvPr id="14" name="TextBox 13"/>
            <p:cNvSpPr txBox="1"/>
            <p:nvPr/>
          </p:nvSpPr>
          <p:spPr>
            <a:xfrm>
              <a:off x="2971800" y="4288423"/>
              <a:ext cx="96051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 smtClean="0"/>
                <a:t>nat</a:t>
              </a:r>
              <a:r>
                <a:rPr lang="en-US" sz="1500" dirty="0" smtClean="0"/>
                <a:t> speed</a:t>
              </a:r>
              <a:endParaRPr lang="en-US" sz="1500" dirty="0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4038600" y="4191000"/>
              <a:ext cx="0" cy="5334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495800" y="4191000"/>
              <a:ext cx="0" cy="5334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572000" y="4288423"/>
              <a:ext cx="209339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smtClean="0"/>
                <a:t>event(</a:t>
              </a:r>
              <a:r>
                <a:rPr lang="en-US" sz="1500" dirty="0" err="1" smtClean="0"/>
                <a:t>nat</a:t>
              </a:r>
              <a:r>
                <a:rPr lang="en-US" sz="1500" dirty="0" smtClean="0"/>
                <a:t>) </a:t>
              </a:r>
              <a:r>
                <a:rPr lang="en-US" sz="1500" dirty="0" err="1" smtClean="0"/>
                <a:t>cruiseSpeed</a:t>
              </a:r>
              <a:endParaRPr lang="en-US" sz="1500" dirty="0"/>
            </a:p>
          </p:txBody>
        </p:sp>
      </p:grpSp>
      <p:grpSp>
        <p:nvGrpSpPr>
          <p:cNvPr id="24" name="Group 52"/>
          <p:cNvGrpSpPr/>
          <p:nvPr/>
        </p:nvGrpSpPr>
        <p:grpSpPr>
          <a:xfrm>
            <a:off x="3429000" y="1828800"/>
            <a:ext cx="1828800" cy="457200"/>
            <a:chOff x="3505200" y="2971800"/>
            <a:chExt cx="777106" cy="1219200"/>
          </a:xfrm>
        </p:grpSpPr>
        <p:sp>
          <p:nvSpPr>
            <p:cNvPr id="54" name="Rectangle 53"/>
            <p:cNvSpPr/>
            <p:nvPr/>
          </p:nvSpPr>
          <p:spPr>
            <a:xfrm>
              <a:off x="3505200" y="2971800"/>
              <a:ext cx="7620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537579" y="3175000"/>
              <a:ext cx="744727" cy="8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err="1" smtClean="0"/>
                <a:t>ThrottleController</a:t>
              </a:r>
              <a:endParaRPr lang="en-US" sz="1500" dirty="0"/>
            </a:p>
          </p:txBody>
        </p:sp>
      </p:grpSp>
      <p:grpSp>
        <p:nvGrpSpPr>
          <p:cNvPr id="25" name="Group 60"/>
          <p:cNvGrpSpPr/>
          <p:nvPr/>
        </p:nvGrpSpPr>
        <p:grpSpPr>
          <a:xfrm>
            <a:off x="4333238" y="2286000"/>
            <a:ext cx="2448562" cy="685800"/>
            <a:chOff x="4333238" y="2286000"/>
            <a:chExt cx="2448562" cy="685800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4333238" y="2286000"/>
              <a:ext cx="20325" cy="6858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4419600" y="2438400"/>
              <a:ext cx="23622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smtClean="0"/>
                <a:t>event(real) F</a:t>
              </a:r>
              <a:endParaRPr lang="en-US" sz="1500" dirty="0"/>
            </a:p>
          </p:txBody>
        </p:sp>
      </p:grp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Top-Down Design of a Cruise Controller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Decomposing </a:t>
            </a:r>
            <a:r>
              <a:rPr lang="en-US" sz="2800" dirty="0" err="1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CruiseController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079938" y="1883979"/>
          <a:ext cx="6746875" cy="2752725"/>
        </p:xfrm>
        <a:graphic>
          <a:graphicData uri="http://schemas.openxmlformats.org/presentationml/2006/ole">
            <p:oleObj spid="_x0000_s163842" name="Acrobat Document" r:id="rId3" imgW="6752880" imgH="2753640" progId="AcroExch.Document.11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Tracking Speed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0" y="3429000"/>
            <a:ext cx="8991600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 smtClean="0">
              <a:latin typeface="Comic Sans MS" pitchFamily="66" charset="0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Inputs: Events rotate and second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Output: current speed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Computes  the number of rotate events per second (see notes)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1828800" y="1524000"/>
            <a:ext cx="4280080" cy="1252954"/>
            <a:chOff x="-228600" y="3810000"/>
            <a:chExt cx="4280080" cy="1252954"/>
          </a:xfrm>
        </p:grpSpPr>
        <p:sp>
          <p:nvSpPr>
            <p:cNvPr id="9" name="Rectangle 8"/>
            <p:cNvSpPr/>
            <p:nvPr/>
          </p:nvSpPr>
          <p:spPr>
            <a:xfrm>
              <a:off x="1371600" y="4191000"/>
              <a:ext cx="16002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2971800" y="4495800"/>
              <a:ext cx="6858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09600" y="4419600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-228600" y="4038600"/>
              <a:ext cx="12101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 rotate</a:t>
              </a:r>
              <a:endParaRPr 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48000" y="4114800"/>
              <a:ext cx="1003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nat</a:t>
              </a:r>
              <a:r>
                <a:rPr lang="en-US" sz="1600" dirty="0" smtClean="0"/>
                <a:t> speed</a:t>
              </a:r>
              <a:endParaRPr lang="en-US" sz="1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71600" y="3810000"/>
              <a:ext cx="14339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MeasureSpeed</a:t>
              </a:r>
              <a:endParaRPr lang="en-US" sz="16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228600" y="4724400"/>
              <a:ext cx="12920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 second</a:t>
              </a:r>
              <a:endParaRPr lang="en-US" sz="1600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09600" y="4648200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Tracking Cruise Settings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152400" y="2572420"/>
            <a:ext cx="8991600" cy="2971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 smtClean="0">
              <a:latin typeface="Comic Sans MS" pitchFamily="66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sz="2000" dirty="0" smtClean="0">
              <a:latin typeface="Comic Sans MS" pitchFamily="66" charset="0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Inputs from the driver: Commands to turn the cruise-control on/off and to increment/decrement desired cruising speed from driver 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Input: Current speed 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Output: Desired cruising speed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What assumptions can we make about simultaneity of events? 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solidFill>
                  <a:srgbClr val="0070C0"/>
                </a:solidFill>
                <a:latin typeface="Comic Sans MS" pitchFamily="66" charset="0"/>
              </a:rPr>
              <a:t>Should we include safety checks to keep desired speed within bounds?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81340"/>
            <a:ext cx="1600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029200" y="2643340"/>
            <a:ext cx="6858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6"/>
          <p:cNvGrpSpPr/>
          <p:nvPr/>
        </p:nvGrpSpPr>
        <p:grpSpPr>
          <a:xfrm>
            <a:off x="1447800" y="1957540"/>
            <a:ext cx="1981200" cy="338554"/>
            <a:chOff x="1447800" y="1981200"/>
            <a:chExt cx="1981200" cy="338554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667000" y="2150477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447800" y="1981200"/>
              <a:ext cx="11960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 cruise</a:t>
              </a:r>
              <a:endParaRPr lang="en-US" sz="16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181600" y="2262340"/>
            <a:ext cx="2107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event(</a:t>
            </a:r>
            <a:r>
              <a:rPr lang="en-US" sz="1600" dirty="0" err="1" smtClean="0"/>
              <a:t>nat</a:t>
            </a:r>
            <a:r>
              <a:rPr lang="en-US" sz="1600" dirty="0" smtClean="0"/>
              <a:t>) </a:t>
            </a:r>
            <a:r>
              <a:rPr lang="en-US" sz="1600" dirty="0" err="1" smtClean="0"/>
              <a:t>cruiseSpeed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0340"/>
            <a:ext cx="9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SetSpeed</a:t>
            </a:r>
            <a:endParaRPr lang="en-US" sz="1600" dirty="0"/>
          </a:p>
        </p:txBody>
      </p:sp>
      <p:grpSp>
        <p:nvGrpSpPr>
          <p:cNvPr id="4" name="Group 17"/>
          <p:cNvGrpSpPr/>
          <p:nvPr/>
        </p:nvGrpSpPr>
        <p:grpSpPr>
          <a:xfrm>
            <a:off x="1447800" y="2338540"/>
            <a:ext cx="1981200" cy="338554"/>
            <a:chOff x="1447800" y="1981200"/>
            <a:chExt cx="1981200" cy="338554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667000" y="2150477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447800" y="1981200"/>
              <a:ext cx="1003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nat</a:t>
              </a:r>
              <a:r>
                <a:rPr lang="en-US" sz="1600" dirty="0" smtClean="0"/>
                <a:t> speed</a:t>
              </a:r>
              <a:endParaRPr lang="en-US" sz="1600" dirty="0"/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1447800" y="2643340"/>
            <a:ext cx="1981200" cy="338554"/>
            <a:chOff x="1447800" y="1981200"/>
            <a:chExt cx="1981200" cy="338554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2667000" y="2150477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447800" y="1981200"/>
              <a:ext cx="9411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 inc</a:t>
              </a:r>
              <a:endParaRPr lang="en-US" sz="1600" dirty="0"/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1447800" y="2948140"/>
            <a:ext cx="1981200" cy="338554"/>
            <a:chOff x="1447800" y="1981200"/>
            <a:chExt cx="1981200" cy="338554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2667000" y="2150477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447800" y="1981200"/>
              <a:ext cx="9972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 </a:t>
              </a:r>
              <a:r>
                <a:rPr lang="en-US" sz="1600" dirty="0" err="1" smtClean="0"/>
                <a:t>dec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Controlling Speed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0" y="3276600"/>
            <a:ext cx="8991600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 smtClean="0">
              <a:latin typeface="Comic Sans MS" pitchFamily="66" charset="0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Inputs: Actual speed and desired speed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Output: Pressure on the throttle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Goal: Make actual speed equal to the desired speed (while maintaining key physical properties such as stability)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omic Sans MS" pitchFamily="66" charset="0"/>
              </a:rPr>
              <a:t>Design relies on theory of dynamical systems (Chapter 6)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1219200" y="1524000"/>
            <a:ext cx="5122821" cy="1252954"/>
            <a:chOff x="-838200" y="3810000"/>
            <a:chExt cx="5122821" cy="1252954"/>
          </a:xfrm>
        </p:grpSpPr>
        <p:sp>
          <p:nvSpPr>
            <p:cNvPr id="9" name="Rectangle 8"/>
            <p:cNvSpPr/>
            <p:nvPr/>
          </p:nvSpPr>
          <p:spPr>
            <a:xfrm>
              <a:off x="1371600" y="4191000"/>
              <a:ext cx="16002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2971800" y="4495800"/>
              <a:ext cx="6858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09600" y="4419600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-228600" y="4038600"/>
              <a:ext cx="1003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nat</a:t>
              </a:r>
              <a:r>
                <a:rPr lang="en-US" sz="1600" dirty="0" smtClean="0"/>
                <a:t> speed</a:t>
              </a:r>
              <a:endParaRPr 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48000" y="4114800"/>
              <a:ext cx="12366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event(real) F</a:t>
              </a:r>
              <a:endParaRPr lang="en-US" sz="1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71600" y="3810000"/>
              <a:ext cx="1315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ControlSpeed</a:t>
              </a:r>
              <a:endParaRPr lang="en-US" sz="16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838200" y="4724400"/>
              <a:ext cx="21078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event(</a:t>
              </a:r>
              <a:r>
                <a:rPr lang="en-US" sz="1600" dirty="0" err="1" smtClean="0"/>
                <a:t>nat</a:t>
              </a:r>
              <a:r>
                <a:rPr lang="en-US" sz="1600" dirty="0" smtClean="0"/>
                <a:t>) </a:t>
              </a:r>
              <a:r>
                <a:rPr lang="en-US" sz="1600" dirty="0" err="1" smtClean="0"/>
                <a:t>cruiseSpeed</a:t>
              </a:r>
              <a:endParaRPr lang="en-US" sz="1600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09600" y="4648200"/>
              <a:ext cx="7620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Transmission Shift: Logic? Is it finite-state?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565544" y="3134595"/>
            <a:ext cx="2514600" cy="76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4"/>
          <p:cNvGrpSpPr/>
          <p:nvPr/>
        </p:nvGrpSpPr>
        <p:grpSpPr>
          <a:xfrm>
            <a:off x="803544" y="2982195"/>
            <a:ext cx="838200" cy="762000"/>
            <a:chOff x="2057400" y="2819400"/>
            <a:chExt cx="838200" cy="762000"/>
          </a:xfrm>
        </p:grpSpPr>
        <p:sp>
          <p:nvSpPr>
            <p:cNvPr id="13" name="Oval 12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799" y="2971800"/>
              <a:ext cx="6043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off</a:t>
              </a:r>
              <a:endParaRPr lang="en-US" dirty="0"/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3958932" y="2982195"/>
            <a:ext cx="893618" cy="762000"/>
            <a:chOff x="2012388" y="2819400"/>
            <a:chExt cx="893618" cy="762000"/>
          </a:xfrm>
        </p:grpSpPr>
        <p:sp>
          <p:nvSpPr>
            <p:cNvPr id="17" name="Oval 16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12388" y="2971800"/>
              <a:ext cx="8936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On,N</a:t>
              </a:r>
              <a:endParaRPr lang="en-US" dirty="0"/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 flipH="1" flipV="1">
            <a:off x="1565544" y="3515595"/>
            <a:ext cx="2514600" cy="76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70144" y="3363195"/>
            <a:ext cx="533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75144" y="2805550"/>
            <a:ext cx="1802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(power &amp; break) ?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 rot="20342074">
            <a:off x="4523491" y="2261758"/>
            <a:ext cx="3407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(rotate=0 &amp; gas = 0 &amp; </a:t>
            </a:r>
            <a:r>
              <a:rPr lang="en-US" sz="1600" dirty="0" err="1" smtClean="0"/>
              <a:t>selectgear</a:t>
            </a:r>
            <a:r>
              <a:rPr lang="en-US" sz="1600" dirty="0" smtClean="0"/>
              <a:t> = 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30457" y="3543303"/>
            <a:ext cx="29208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(power &amp; break &amp; rotate = 0)? 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4814435" y="2545776"/>
            <a:ext cx="1908478" cy="6996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831767" y="3231576"/>
            <a:ext cx="1932710" cy="67540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>
            <a:off x="4772871" y="3574478"/>
            <a:ext cx="1929260" cy="64423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10800000" flipV="1">
            <a:off x="4800596" y="2847114"/>
            <a:ext cx="1943085" cy="72736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 rot="1086833">
            <a:off x="5798110" y="3758055"/>
            <a:ext cx="3428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(rotate=0 &amp; gas=0 &amp; </a:t>
            </a:r>
            <a:r>
              <a:rPr lang="en-US" sz="1600" dirty="0" err="1" smtClean="0"/>
              <a:t>selectgear</a:t>
            </a:r>
            <a:r>
              <a:rPr lang="en-US" sz="1600" dirty="0" smtClean="0"/>
              <a:t>=-1) ?</a:t>
            </a:r>
            <a:endParaRPr lang="en-US" sz="1600" dirty="0"/>
          </a:p>
        </p:txBody>
      </p:sp>
      <p:sp>
        <p:nvSpPr>
          <p:cNvPr id="57" name="TextBox 56"/>
          <p:cNvSpPr txBox="1"/>
          <p:nvPr/>
        </p:nvSpPr>
        <p:spPr>
          <a:xfrm rot="20342074">
            <a:off x="5642246" y="2621981"/>
            <a:ext cx="3407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(rotate=0 &amp; gas = 0 &amp; </a:t>
            </a:r>
            <a:r>
              <a:rPr lang="en-US" sz="1600" dirty="0" err="1" smtClean="0"/>
              <a:t>selectgear</a:t>
            </a:r>
            <a:r>
              <a:rPr lang="en-US" sz="1600" dirty="0" smtClean="0"/>
              <a:t> = 0)</a:t>
            </a:r>
          </a:p>
        </p:txBody>
      </p:sp>
      <p:sp>
        <p:nvSpPr>
          <p:cNvPr id="59" name="TextBox 58"/>
          <p:cNvSpPr txBox="1"/>
          <p:nvPr/>
        </p:nvSpPr>
        <p:spPr>
          <a:xfrm rot="1086833">
            <a:off x="4561408" y="4087102"/>
            <a:ext cx="3359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(rotate=0 &amp; gas=0 &amp; </a:t>
            </a:r>
            <a:r>
              <a:rPr lang="en-US" sz="1600" dirty="0" err="1" smtClean="0"/>
              <a:t>selectgear</a:t>
            </a:r>
            <a:r>
              <a:rPr lang="en-US" sz="1600" dirty="0" smtClean="0"/>
              <a:t>=0) ?</a:t>
            </a:r>
            <a:endParaRPr lang="en-US" sz="1600" dirty="0"/>
          </a:p>
        </p:txBody>
      </p:sp>
      <p:grpSp>
        <p:nvGrpSpPr>
          <p:cNvPr id="24" name="Group 15"/>
          <p:cNvGrpSpPr/>
          <p:nvPr/>
        </p:nvGrpSpPr>
        <p:grpSpPr>
          <a:xfrm>
            <a:off x="6659323" y="2261292"/>
            <a:ext cx="893618" cy="762000"/>
            <a:chOff x="2012388" y="2819400"/>
            <a:chExt cx="893618" cy="762000"/>
          </a:xfrm>
        </p:grpSpPr>
        <p:sp>
          <p:nvSpPr>
            <p:cNvPr id="25" name="Oval 24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12388" y="2971800"/>
              <a:ext cx="8936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On,D</a:t>
              </a:r>
              <a:endParaRPr lang="en-US" dirty="0"/>
            </a:p>
          </p:txBody>
        </p:sp>
      </p:grpSp>
      <p:grpSp>
        <p:nvGrpSpPr>
          <p:cNvPr id="27" name="Group 15"/>
          <p:cNvGrpSpPr/>
          <p:nvPr/>
        </p:nvGrpSpPr>
        <p:grpSpPr>
          <a:xfrm>
            <a:off x="6678158" y="3728784"/>
            <a:ext cx="893618" cy="762000"/>
            <a:chOff x="2012388" y="2819400"/>
            <a:chExt cx="893618" cy="762000"/>
          </a:xfrm>
        </p:grpSpPr>
        <p:sp>
          <p:nvSpPr>
            <p:cNvPr id="28" name="Oval 27"/>
            <p:cNvSpPr/>
            <p:nvPr/>
          </p:nvSpPr>
          <p:spPr>
            <a:xfrm>
              <a:off x="2057400" y="2819400"/>
              <a:ext cx="838200" cy="76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12388" y="2971800"/>
              <a:ext cx="8936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On,R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in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plain">
      <a:majorFont>
        <a:latin typeface="Arial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lai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i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Settings\mueller\My Documents\tex\ncsu\classes\rt\readings\plain.pot</Template>
  <TotalTime>49239</TotalTime>
  <Words>2158</Words>
  <Application>Microsoft PowerPoint</Application>
  <PresentationFormat>On-screen Show (4:3)</PresentationFormat>
  <Paragraphs>431</Paragraphs>
  <Slides>37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plain</vt:lpstr>
      <vt:lpstr>Acrobat Document</vt:lpstr>
      <vt:lpstr>Modeling Synchronous Systems</vt:lpstr>
      <vt:lpstr>Model-Based Design</vt:lpstr>
      <vt:lpstr>Functional vs. Reactive Computation</vt:lpstr>
      <vt:lpstr>Sequential vs. Concurrent Computation</vt:lpstr>
      <vt:lpstr>Synchronous Models</vt:lpstr>
      <vt:lpstr>First Example: Delay</vt:lpstr>
      <vt:lpstr>Delay: Round-based Execution</vt:lpstr>
      <vt:lpstr>Synchrony Hypothesis</vt:lpstr>
      <vt:lpstr>Components in an Automobile</vt:lpstr>
      <vt:lpstr>Synchronous Reactive Component</vt:lpstr>
      <vt:lpstr>Model Definition</vt:lpstr>
      <vt:lpstr>SRC Definition (1): Inputs</vt:lpstr>
      <vt:lpstr>SRC Definition (2): Outputs</vt:lpstr>
      <vt:lpstr>SRC Definition (3): States</vt:lpstr>
      <vt:lpstr>SRC Definition (4): Initialization</vt:lpstr>
      <vt:lpstr>SRC Definition (5): Reactions</vt:lpstr>
      <vt:lpstr>Multiple Reactions</vt:lpstr>
      <vt:lpstr>Multiple Reactions</vt:lpstr>
      <vt:lpstr>Syntax Errors</vt:lpstr>
      <vt:lpstr>Semantic Equivalence</vt:lpstr>
      <vt:lpstr>Synchronous Reactive Component Definition</vt:lpstr>
      <vt:lpstr>Definition of Executions</vt:lpstr>
      <vt:lpstr>What does this component do ?</vt:lpstr>
      <vt:lpstr>Extended State Machines</vt:lpstr>
      <vt:lpstr>Executing ESMs: Switch</vt:lpstr>
      <vt:lpstr>Modified Switch: What executions are possible?</vt:lpstr>
      <vt:lpstr>Finite-State Components</vt:lpstr>
      <vt:lpstr>Mealy Machines (for Finite-state components)</vt:lpstr>
      <vt:lpstr>Switch: Is it finite-state?</vt:lpstr>
      <vt:lpstr>Combinational Components</vt:lpstr>
      <vt:lpstr>Top-Down Design + Case Study</vt:lpstr>
      <vt:lpstr>Top-Down Design of a Cruise Controller</vt:lpstr>
      <vt:lpstr>Decomposing CruiseController</vt:lpstr>
      <vt:lpstr>Tracking Speed</vt:lpstr>
      <vt:lpstr>Tracking Cruise Settings</vt:lpstr>
      <vt:lpstr>Controlling Speed</vt:lpstr>
      <vt:lpstr>Transmission Shift: Logic? Is it finite-state?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real-time systems</dc:title>
  <dc:subject>Comp 232</dc:subject>
  <dc:creator>James H. Anderson</dc:creator>
  <cp:lastModifiedBy>mueller</cp:lastModifiedBy>
  <cp:revision>923</cp:revision>
  <cp:lastPrinted>2000-01-12T18:43:42Z</cp:lastPrinted>
  <dcterms:created xsi:type="dcterms:W3CDTF">1995-06-17T23:31:02Z</dcterms:created>
  <dcterms:modified xsi:type="dcterms:W3CDTF">2025-01-29T02:32:52Z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3</vt:i4>
  </property>
  <property fmtid="{D5CDD505-2E9C-101B-9397-08002B2CF9AE}" pid="7" name="MailAddress">
    <vt:lpwstr>moir@cs.pitt.edu</vt:lpwstr>
  </property>
  <property fmtid="{D5CDD505-2E9C-101B-9397-08002B2CF9AE}" pid="8" name="HomePage">
    <vt:lpwstr>http://www.cs.pitt.edu/~moir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8454143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D:\My Documents</vt:lpwstr>
  </property>
</Properties>
</file>