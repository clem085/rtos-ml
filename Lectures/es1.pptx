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4"/>
  </p:notesMasterIdLst>
  <p:handoutMasterIdLst>
    <p:handoutMasterId r:id="rId35"/>
  </p:handoutMasterIdLst>
  <p:sldIdLst>
    <p:sldId id="332" r:id="rId2"/>
    <p:sldId id="353" r:id="rId3"/>
    <p:sldId id="369" r:id="rId4"/>
    <p:sldId id="354" r:id="rId5"/>
    <p:sldId id="355" r:id="rId6"/>
    <p:sldId id="356" r:id="rId7"/>
    <p:sldId id="368" r:id="rId8"/>
    <p:sldId id="359" r:id="rId9"/>
    <p:sldId id="361" r:id="rId10"/>
    <p:sldId id="362" r:id="rId11"/>
    <p:sldId id="363" r:id="rId12"/>
    <p:sldId id="364" r:id="rId13"/>
    <p:sldId id="366" r:id="rId14"/>
    <p:sldId id="333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CCECFF"/>
    <a:srgbClr val="99CCFF"/>
    <a:srgbClr val="CCFF99"/>
    <a:srgbClr val="FFFFCC"/>
    <a:srgbClr val="CC0000"/>
    <a:srgbClr val="008000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31" autoAdjust="0"/>
    <p:restoredTop sz="90989" autoAdjust="0"/>
  </p:normalViewPr>
  <p:slideViewPr>
    <p:cSldViewPr snapToGrid="0">
      <p:cViewPr>
        <p:scale>
          <a:sx n="66" d="100"/>
          <a:sy n="66" d="100"/>
        </p:scale>
        <p:origin x="-2370" y="-840"/>
      </p:cViewPr>
      <p:guideLst>
        <p:guide orient="horz" pos="2864"/>
        <p:guide pos="232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4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-317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t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5700" y="698500"/>
            <a:ext cx="4548188" cy="34115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3400"/>
            <a:ext cx="5032375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59" tIns="46135" rIns="93859" bIns="461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90" tIns="0" rIns="19090" bIns="0" numCol="1" anchor="b" anchorCtr="0" compatLnSpc="1">
            <a:prstTxWarp prst="textNoShape">
              <a:avLst/>
            </a:prstTxWarp>
          </a:bodyPr>
          <a:lstStyle>
            <a:lvl1pPr algn="r" defTabSz="933450" eaLnBrk="0" hangingPunct="0">
              <a:defRPr sz="1000" b="0" i="1">
                <a:cs typeface="+mn-cs"/>
              </a:defRPr>
            </a:lvl1pPr>
          </a:lstStyle>
          <a:p>
            <a:pPr>
              <a:defRPr/>
            </a:pPr>
            <a:fld id="{07C2AE44-588E-4666-83C2-00526AD10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1963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2392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87475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49438" algn="l" defTabSz="93186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4AFC7A-B431-42EC-83A6-E9CB91F56625}" type="slidenum">
              <a:rPr lang="en-US" smtClean="0"/>
              <a:pPr>
                <a:defRPr/>
              </a:pPr>
              <a:t>1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182563"/>
          </a:xfrm>
          <a:noFill/>
          <a:ln/>
        </p:spPr>
        <p:txBody>
          <a:bodyPr lIns="0" tIns="0" rIns="0" bIns="0">
            <a:spAutoFit/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0BF348-763F-41D6-9BD9-214EA300646C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r>
              <a:rPr lang="en-US" smtClean="0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75" y="298450"/>
            <a:ext cx="2079625" cy="63563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9100" y="298450"/>
            <a:ext cx="6086475" cy="63563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298450"/>
            <a:ext cx="8280400" cy="9080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9100" y="1587500"/>
            <a:ext cx="4083050" cy="5067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54550" y="1587500"/>
            <a:ext cx="4083050" cy="50673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7924800" cy="76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243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19100" y="298450"/>
            <a:ext cx="8280400" cy="908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587500"/>
            <a:ext cx="8318500" cy="5067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375812" name="Rectangle 4"/>
          <p:cNvSpPr>
            <a:spLocks noChangeArrowheads="1"/>
          </p:cNvSpPr>
          <p:nvPr/>
        </p:nvSpPr>
        <p:spPr bwMode="auto">
          <a:xfrm>
            <a:off x="8007350" y="6650038"/>
            <a:ext cx="666750" cy="136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r" eaLnBrk="0" hangingPunct="0">
              <a:defRPr/>
            </a:pPr>
            <a:r>
              <a:rPr lang="en-US" sz="900" b="0">
                <a:latin typeface="Arial" pitchFamily="34" charset="0"/>
                <a:cs typeface="+mn-cs"/>
              </a:rPr>
              <a:t> </a:t>
            </a:r>
            <a:fld id="{F88EAAD2-8098-4F7E-A238-A047FE813AB4}" type="slidenum">
              <a:rPr lang="en-US" sz="900" b="0">
                <a:latin typeface="Arial" pitchFamily="34" charset="0"/>
                <a:cs typeface="+mn-cs"/>
              </a:rPr>
              <a:pPr algn="r" eaLnBrk="0" hangingPunct="0">
                <a:defRPr/>
              </a:pPr>
              <a:t>‹#›</a:t>
            </a:fld>
            <a:endParaRPr lang="en-US" sz="900" b="0">
              <a:latin typeface="Arial" pitchFamily="34" charset="0"/>
              <a:cs typeface="+mn-cs"/>
            </a:endParaRPr>
          </a:p>
        </p:txBody>
      </p:sp>
      <p:grpSp>
        <p:nvGrpSpPr>
          <p:cNvPr id="1030" name="Group 6"/>
          <p:cNvGrpSpPr>
            <a:grpSpLocks/>
          </p:cNvGrpSpPr>
          <p:nvPr/>
        </p:nvGrpSpPr>
        <p:grpSpPr bwMode="auto">
          <a:xfrm>
            <a:off x="419100" y="1250950"/>
            <a:ext cx="8305800" cy="196850"/>
            <a:chOff x="264" y="788"/>
            <a:chExt cx="5232" cy="124"/>
          </a:xfrm>
        </p:grpSpPr>
        <p:sp>
          <p:nvSpPr>
            <p:cNvPr id="375815" name="Rectangle 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12C2E9">
                    <a:gamma/>
                    <a:shade val="80000"/>
                    <a:invGamma/>
                  </a:srgbClr>
                </a:gs>
                <a:gs pos="50000">
                  <a:srgbClr val="12C2E9"/>
                </a:gs>
                <a:gs pos="100000">
                  <a:srgbClr val="12C2E9">
                    <a:gamma/>
                    <a:shade val="80000"/>
                    <a:invGamma/>
                  </a:srgbClr>
                </a:gs>
              </a:gsLst>
              <a:lin ang="540000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75816" name="Rectangle 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FF00FF">
                    <a:gamma/>
                    <a:shade val="69804"/>
                    <a:invGamma/>
                  </a:srgbClr>
                </a:gs>
                <a:gs pos="50000">
                  <a:srgbClr val="FF00FF"/>
                </a:gs>
                <a:gs pos="100000">
                  <a:srgbClr val="FF00FF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marL="292100" indent="-292100" algn="l" rtl="0" eaLnBrk="0" fontAlgn="base" hangingPunct="0">
        <a:lnSpc>
          <a:spcPts val="2400"/>
        </a:lnSpc>
        <a:spcBef>
          <a:spcPts val="600"/>
        </a:spcBef>
        <a:spcAft>
          <a:spcPts val="400"/>
        </a:spcAft>
        <a:buClr>
          <a:srgbClr val="0C7B9C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—"/>
        <a:defRPr sz="2000">
          <a:solidFill>
            <a:schemeClr val="tx1"/>
          </a:solidFill>
          <a:latin typeface="+mn-lt"/>
        </a:defRPr>
      </a:lvl2pPr>
      <a:lvl3pPr marL="914400" algn="l" rtl="0" eaLnBrk="0" fontAlgn="base" hangingPunct="0">
        <a:lnSpc>
          <a:spcPts val="2400"/>
        </a:lnSpc>
        <a:spcBef>
          <a:spcPct val="0"/>
        </a:spcBef>
        <a:spcAft>
          <a:spcPts val="400"/>
        </a:spcAft>
        <a:buClr>
          <a:srgbClr val="0C7B9C"/>
        </a:buClr>
        <a:buSzPct val="100000"/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160" tIns="46080" rIns="92160" bIns="46080"/>
          <a:lstStyle/>
          <a:p>
            <a:pPr algn="ctr">
              <a:buSzPct val="88000"/>
            </a:pPr>
            <a:r>
              <a:rPr lang="en-US" dirty="0" smtClean="0"/>
              <a:t>On the State of Embedded Systems</a:t>
            </a:r>
            <a:endParaRPr lang="en-GB" dirty="0" smtClean="0"/>
          </a:p>
        </p:txBody>
      </p:sp>
      <p:pic>
        <p:nvPicPr>
          <p:cNvPr id="3" name="Picture 2" descr="t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1714500"/>
            <a:ext cx="6715125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Topics: Embedded…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41196"/>
            <a:ext cx="8724900" cy="50673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 smtClean="0"/>
              <a:t>Computer architecture 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CPUs: 8/16 bit </a:t>
            </a:r>
            <a:r>
              <a:rPr lang="en-US" dirty="0" smtClean="0">
                <a:sym typeface="Wingdings" pitchFamily="2" charset="2"/>
              </a:rPr>
              <a:t> 32/64 bit, pipelining, multi-issue, multi-core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DSPs, FPGAs, more modern  accelerators (GPUs)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ISAs: ARM, RISC-V (many others)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Memory: DRAM/SRAM/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NVRAM/EPROM: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caches, MMU/MPU,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TLBs, DMA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Devices: I/O, A/D,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sensors/actuators,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buses/</a:t>
            </a:r>
            <a:r>
              <a:rPr lang="en-US" dirty="0" err="1" smtClean="0">
                <a:sym typeface="Wingdings" pitchFamily="2" charset="2"/>
              </a:rPr>
              <a:t>NoC</a:t>
            </a:r>
            <a:endParaRPr lang="en-US" dirty="0" smtClean="0">
              <a:sym typeface="Wingdings" pitchFamily="2" charset="2"/>
            </a:endParaRP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embedded networking: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Ethernet, </a:t>
            </a:r>
            <a:r>
              <a:rPr lang="en-US" dirty="0" err="1" smtClean="0">
                <a:sym typeface="Wingdings" pitchFamily="2" charset="2"/>
              </a:rPr>
              <a:t>fieldbus</a:t>
            </a:r>
            <a:r>
              <a:rPr lang="en-US" dirty="0" smtClean="0">
                <a:sym typeface="Wingdings" pitchFamily="2" charset="2"/>
              </a:rPr>
              <a:t>, CAN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TCP/IP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Other protocols</a:t>
            </a:r>
          </a:p>
          <a:p>
            <a:pPr lvl="1">
              <a:spcAft>
                <a:spcPts val="0"/>
              </a:spcAft>
            </a:pPr>
            <a:endParaRPr lang="en-US" dirty="0" smtClean="0">
              <a:sym typeface="Wingdings" pitchFamily="2" charset="2"/>
            </a:endParaRPr>
          </a:p>
          <a:p>
            <a:pPr>
              <a:spcAft>
                <a:spcPts val="0"/>
              </a:spcAft>
            </a:pPr>
            <a:endParaRPr lang="en-US" dirty="0" smtClean="0">
              <a:sym typeface="Wingdings" pitchFamily="2" charset="2"/>
            </a:endParaRPr>
          </a:p>
          <a:p>
            <a:pPr>
              <a:spcAft>
                <a:spcPts val="0"/>
              </a:spcAft>
            </a:pPr>
            <a:endParaRPr lang="en-US" dirty="0"/>
          </a:p>
        </p:txBody>
      </p:sp>
      <p:pic>
        <p:nvPicPr>
          <p:cNvPr id="4" name="Picture 3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58" y="2699652"/>
            <a:ext cx="4943742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Topics: Embedded…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441196"/>
            <a:ext cx="8724900" cy="506730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System /software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Embedded OS / real-time OS (RTOS)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Interrupts/traps/alarms &amp; timers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scheduling, preemption, priorities, processes/tasks/threads</a:t>
            </a:r>
          </a:p>
          <a:p>
            <a:pPr lvl="2">
              <a:spcAft>
                <a:spcPts val="0"/>
              </a:spcAft>
            </a:pPr>
            <a:r>
              <a:rPr lang="en-US" dirty="0" err="1" smtClean="0">
                <a:sym typeface="Wingdings" pitchFamily="2" charset="2"/>
              </a:rPr>
              <a:t>Shmem</a:t>
            </a:r>
            <a:r>
              <a:rPr lang="en-US" dirty="0" smtClean="0">
                <a:sym typeface="Wingdings" pitchFamily="2" charset="2"/>
              </a:rPr>
              <a:t>, communication, </a:t>
            </a:r>
            <a:r>
              <a:rPr lang="en-US" dirty="0" err="1" smtClean="0">
                <a:sym typeface="Wingdings" pitchFamily="2" charset="2"/>
              </a:rPr>
              <a:t>msg</a:t>
            </a:r>
            <a:r>
              <a:rPr lang="en-US" dirty="0" smtClean="0">
                <a:sym typeface="Wingdings" pitchFamily="2" charset="2"/>
              </a:rPr>
              <a:t> passing/IPC</a:t>
            </a:r>
          </a:p>
          <a:p>
            <a:pPr lvl="1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Tools: compiler, debugger, runtime systems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Assembly, C/C++</a:t>
            </a:r>
          </a:p>
          <a:p>
            <a:pPr lvl="2">
              <a:spcAft>
                <a:spcPts val="0"/>
              </a:spcAft>
            </a:pPr>
            <a:r>
              <a:rPr lang="en-US" dirty="0" smtClean="0">
                <a:sym typeface="Wingdings" pitchFamily="2" charset="2"/>
              </a:rPr>
              <a:t>Code optimization</a:t>
            </a:r>
          </a:p>
          <a:p>
            <a:pPr lvl="1">
              <a:spcAft>
                <a:spcPts val="0"/>
              </a:spcAft>
            </a:pPr>
            <a:endParaRPr lang="en-US" dirty="0" smtClean="0">
              <a:sym typeface="Wingdings" pitchFamily="2" charset="2"/>
            </a:endParaRPr>
          </a:p>
          <a:p>
            <a:pPr>
              <a:spcAft>
                <a:spcPts val="0"/>
              </a:spcAft>
            </a:pPr>
            <a:endParaRPr lang="en-US" dirty="0" smtClean="0">
              <a:sym typeface="Wingdings" pitchFamily="2" charset="2"/>
            </a:endParaRPr>
          </a:p>
          <a:p>
            <a:pPr>
              <a:spcAft>
                <a:spcPts val="0"/>
              </a:spcAft>
            </a:pPr>
            <a:endParaRPr lang="en-US" dirty="0"/>
          </a:p>
        </p:txBody>
      </p:sp>
      <p:pic>
        <p:nvPicPr>
          <p:cNvPr id="5" name="Picture 4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42" y="3555999"/>
            <a:ext cx="3206821" cy="29357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Topics: Embedded…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87500"/>
            <a:ext cx="8724900" cy="50673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Design (of small systems)  OUR FOCUS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Software, hardware,  co-design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objectives: functional, timing,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cost, safety, security, energy, …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OO design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Formal methods: 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Hardware: VHDL/</a:t>
            </a:r>
            <a:r>
              <a:rPr lang="en-US" dirty="0" err="1" smtClean="0">
                <a:sym typeface="Wingdings" pitchFamily="2" charset="2"/>
              </a:rPr>
              <a:t>Verilog</a:t>
            </a:r>
            <a:r>
              <a:rPr lang="en-US" dirty="0" smtClean="0">
                <a:sym typeface="Wingdings" pitchFamily="2" charset="2"/>
              </a:rPr>
              <a:t> 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Software/systems: UML/</a:t>
            </a:r>
            <a:r>
              <a:rPr lang="en-US" dirty="0" err="1" smtClean="0">
                <a:sym typeface="Wingdings" pitchFamily="2" charset="2"/>
              </a:rPr>
              <a:t>Statecharts</a:t>
            </a:r>
            <a:r>
              <a:rPr lang="en-US" dirty="0" smtClean="0">
                <a:sym typeface="Wingdings" pitchFamily="2" charset="2"/>
              </a:rPr>
              <a:t>,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			</a:t>
            </a:r>
            <a:r>
              <a:rPr lang="en-US" dirty="0" err="1" smtClean="0">
                <a:sym typeface="Wingdings" pitchFamily="2" charset="2"/>
              </a:rPr>
              <a:t>Matlab</a:t>
            </a:r>
            <a:r>
              <a:rPr lang="en-US" dirty="0" smtClean="0">
                <a:sym typeface="Wingdings" pitchFamily="2" charset="2"/>
              </a:rPr>
              <a:t>/</a:t>
            </a:r>
            <a:r>
              <a:rPr lang="en-US" dirty="0" err="1" smtClean="0">
                <a:sym typeface="Wingdings" pitchFamily="2" charset="2"/>
              </a:rPr>
              <a:t>Simulink</a:t>
            </a:r>
            <a:r>
              <a:rPr lang="en-US" dirty="0" smtClean="0">
                <a:sym typeface="Wingdings" pitchFamily="2" charset="2"/>
              </a:rPr>
              <a:t>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			</a:t>
            </a:r>
            <a:r>
              <a:rPr lang="en-US" dirty="0" err="1" smtClean="0">
                <a:sym typeface="Wingdings" pitchFamily="2" charset="2"/>
              </a:rPr>
              <a:t>Esterel</a:t>
            </a:r>
            <a:r>
              <a:rPr lang="en-US" dirty="0" smtClean="0">
                <a:sym typeface="Wingdings" pitchFamily="2" charset="2"/>
              </a:rPr>
              <a:t>, UPPAAL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State machines: synchronous, 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			</a:t>
            </a:r>
            <a:r>
              <a:rPr lang="en-US" dirty="0" err="1" smtClean="0">
                <a:sym typeface="Wingdings" pitchFamily="2" charset="2"/>
              </a:rPr>
              <a:t>async</a:t>
            </a:r>
            <a:r>
              <a:rPr lang="en-US" dirty="0" smtClean="0">
                <a:sym typeface="Wingdings" pitchFamily="2" charset="2"/>
              </a:rPr>
              <a:t>./event-based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Verification of program properties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6656832" y="1810512"/>
            <a:ext cx="1981200" cy="4267200"/>
            <a:chOff x="6656832" y="1810512"/>
            <a:chExt cx="1981200" cy="4267200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656832" y="1810512"/>
              <a:ext cx="1981200" cy="5334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requirements</a:t>
              </a:r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656832" y="2724912"/>
              <a:ext cx="1981200" cy="5334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specification</a:t>
              </a:r>
              <a:endParaRPr 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H="1">
              <a:off x="7647432" y="2343912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7647432" y="3258312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6656832" y="3639312"/>
              <a:ext cx="1981200" cy="5334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architecture</a:t>
              </a:r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H="1">
              <a:off x="7647432" y="4096512"/>
              <a:ext cx="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656832" y="4477512"/>
              <a:ext cx="1981200" cy="6858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dirty="0">
                  <a:solidFill>
                    <a:schemeClr val="bg1"/>
                  </a:solidFill>
                </a:rPr>
                <a:t>component</a:t>
              </a:r>
            </a:p>
            <a:p>
              <a:pPr algn="ctr" eaLnBrk="1" hangingPunct="1"/>
              <a:r>
                <a:rPr lang="en-US" dirty="0">
                  <a:solidFill>
                    <a:schemeClr val="bg1"/>
                  </a:solidFill>
                </a:rPr>
                <a:t>design</a:t>
              </a: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H="1">
              <a:off x="7647432" y="5163312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656832" y="5391912"/>
              <a:ext cx="1981200" cy="6858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system</a:t>
              </a:r>
            </a:p>
            <a:p>
              <a:pPr algn="ctr" eaLnBrk="1" hangingPunct="1"/>
              <a:r>
                <a:rPr lang="en-US">
                  <a:solidFill>
                    <a:schemeClr val="bg1"/>
                  </a:solidFill>
                </a:rPr>
                <a:t>integration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Design flow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Design flow</a:t>
            </a:r>
            <a:r>
              <a:rPr lang="en-US" dirty="0" smtClean="0"/>
              <a:t>: sequence of steps in a design methodology.</a:t>
            </a:r>
          </a:p>
          <a:p>
            <a:r>
              <a:rPr lang="en-US" dirty="0" smtClean="0"/>
              <a:t>May be partially or fully automated.</a:t>
            </a:r>
          </a:p>
          <a:p>
            <a:pPr lvl="1"/>
            <a:r>
              <a:rPr lang="en-US" dirty="0" smtClean="0"/>
              <a:t>Use tools to transform, verify design.</a:t>
            </a:r>
          </a:p>
          <a:p>
            <a:r>
              <a:rPr lang="en-US" dirty="0" smtClean="0"/>
              <a:t>Design flow is one component of methodology. Methodology also includes management organization, etc.</a:t>
            </a:r>
          </a:p>
          <a:p>
            <a:r>
              <a:rPr lang="en-US" dirty="0" smtClean="0"/>
              <a:t>Formal methods, verification </a:t>
            </a:r>
            <a:r>
              <a:rPr lang="en-US" dirty="0" smtClean="0">
                <a:sym typeface="Wingdings" pitchFamily="2" charset="2"/>
              </a:rPr>
              <a:t> reduce bugs</a:t>
            </a:r>
            <a:endParaRPr lang="en-US" dirty="0" smtClean="0"/>
          </a:p>
        </p:txBody>
      </p:sp>
      <p:sp>
        <p:nvSpPr>
          <p:cNvPr id="5" name="AutoShape 9"/>
          <p:cNvSpPr>
            <a:spLocks noChangeArrowheads="1"/>
          </p:cNvSpPr>
          <p:nvPr/>
        </p:nvSpPr>
        <p:spPr bwMode="auto">
          <a:xfrm flipH="1">
            <a:off x="1524000" y="3767328"/>
            <a:ext cx="6477000" cy="2133600"/>
          </a:xfrm>
          <a:prstGeom prst="rtTriangle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requirements</a:t>
            </a:r>
          </a:p>
          <a:p>
            <a:pPr algn="ctr"/>
            <a:r>
              <a:rPr lang="en-US">
                <a:solidFill>
                  <a:schemeClr val="bg1"/>
                </a:solidFill>
              </a:rPr>
              <a:t>bug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1447800" y="4072128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447800" y="5900928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527926" y="6018403"/>
            <a:ext cx="6142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time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 rot="16200000">
            <a:off x="597177" y="4816944"/>
            <a:ext cx="10916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cost to fix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 flipH="1">
            <a:off x="5257800" y="4910328"/>
            <a:ext cx="2743200" cy="990600"/>
          </a:xfrm>
          <a:prstGeom prst="rtTriangle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coding bug</a:t>
            </a:r>
          </a:p>
        </p:txBody>
      </p:sp>
    </p:spTree>
    <p:extLst>
      <p:ext uri="{BB962C8B-B14F-4D97-AF65-F5344CB8AC3E}">
        <p14:creationId xmlns="" xmlns:p14="http://schemas.microsoft.com/office/powerpoint/2010/main" val="322227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Waterfall model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 smtClean="0"/>
              <a:t>Early model for software development: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smtClean="0"/>
              <a:t>Requirements: determine basic characteristics.</a:t>
            </a:r>
          </a:p>
          <a:p>
            <a:r>
              <a:rPr lang="en-US" sz="2000" dirty="0" smtClean="0"/>
              <a:t>Architecture: decompose into basic modules.</a:t>
            </a:r>
          </a:p>
          <a:p>
            <a:r>
              <a:rPr lang="en-US" sz="2000" dirty="0" smtClean="0"/>
              <a:t>Coding: implement and integrate.</a:t>
            </a:r>
          </a:p>
          <a:p>
            <a:r>
              <a:rPr lang="en-US" sz="2000" dirty="0" smtClean="0"/>
              <a:t>Testing: exercise and uncover bugs.</a:t>
            </a:r>
          </a:p>
          <a:p>
            <a:r>
              <a:rPr lang="en-US" sz="2000" dirty="0" smtClean="0"/>
              <a:t>Maintenance: deploy, fix bugs, upgrade.</a:t>
            </a:r>
          </a:p>
          <a:p>
            <a:endParaRPr lang="en-US" sz="2000" dirty="0"/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271405" y="2709862"/>
            <a:ext cx="1933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requirements</a:t>
            </a:r>
            <a:endParaRPr lang="en-US"/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1185803" y="3395662"/>
            <a:ext cx="17778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architecture</a:t>
            </a:r>
            <a:endParaRPr lang="en-US"/>
          </a:p>
        </p:txBody>
      </p:sp>
      <p:sp>
        <p:nvSpPr>
          <p:cNvPr id="9224" name="Text Box 6"/>
          <p:cNvSpPr txBox="1">
            <a:spLocks noChangeArrowheads="1"/>
          </p:cNvSpPr>
          <p:nvPr/>
        </p:nvSpPr>
        <p:spPr bwMode="auto">
          <a:xfrm>
            <a:off x="2153716" y="4149842"/>
            <a:ext cx="105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coding</a:t>
            </a:r>
            <a:endParaRPr lang="en-US" dirty="0"/>
          </a:p>
        </p:txBody>
      </p:sp>
      <p:sp>
        <p:nvSpPr>
          <p:cNvPr id="9225" name="Text Box 7"/>
          <p:cNvSpPr txBox="1">
            <a:spLocks noChangeArrowheads="1"/>
          </p:cNvSpPr>
          <p:nvPr/>
        </p:nvSpPr>
        <p:spPr bwMode="auto">
          <a:xfrm>
            <a:off x="3148612" y="4869707"/>
            <a:ext cx="105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testing</a:t>
            </a:r>
            <a:endParaRPr lang="en-US" dirty="0"/>
          </a:p>
        </p:txBody>
      </p:sp>
      <p:sp>
        <p:nvSpPr>
          <p:cNvPr id="9226" name="Text Box 8"/>
          <p:cNvSpPr txBox="1">
            <a:spLocks noChangeArrowheads="1"/>
          </p:cNvSpPr>
          <p:nvPr/>
        </p:nvSpPr>
        <p:spPr bwMode="auto">
          <a:xfrm>
            <a:off x="3913238" y="5620039"/>
            <a:ext cx="1859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maintenance</a:t>
            </a:r>
            <a:endParaRPr lang="en-US" dirty="0"/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>
            <a:off x="1242953" y="3079194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 flipH="1" flipV="1">
            <a:off x="557153" y="3107941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2153716" y="3770093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 flipV="1">
            <a:off x="1467916" y="3798840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3077666" y="4488707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 flipV="1">
            <a:off x="2391866" y="4517454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>
            <a:off x="4020641" y="5210292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 flipV="1">
            <a:off x="3334841" y="5239039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8827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Waterfall model critique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smtClean="0"/>
              <a:t>Only local feedback---may need iterations between coding and requirements, for example.</a:t>
            </a:r>
          </a:p>
          <a:p>
            <a:r>
              <a:rPr lang="en-US" sz="2000" dirty="0" smtClean="0"/>
              <a:t>Doesn’t integrate top-down and bottom-up design.</a:t>
            </a:r>
          </a:p>
          <a:p>
            <a:r>
              <a:rPr lang="en-US" sz="2000" dirty="0" smtClean="0"/>
              <a:t>Assumes hardware is given.</a:t>
            </a:r>
          </a:p>
          <a:p>
            <a:endParaRPr lang="en-US" sz="2000" dirty="0"/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271405" y="2709862"/>
            <a:ext cx="1933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requirements</a:t>
            </a:r>
            <a:endParaRPr lang="en-US"/>
          </a:p>
        </p:txBody>
      </p:sp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1185803" y="3395662"/>
            <a:ext cx="17778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architecture</a:t>
            </a:r>
            <a:endParaRPr lang="en-US"/>
          </a:p>
        </p:txBody>
      </p:sp>
      <p:sp>
        <p:nvSpPr>
          <p:cNvPr id="9224" name="Text Box 6"/>
          <p:cNvSpPr txBox="1">
            <a:spLocks noChangeArrowheads="1"/>
          </p:cNvSpPr>
          <p:nvPr/>
        </p:nvSpPr>
        <p:spPr bwMode="auto">
          <a:xfrm>
            <a:off x="2153716" y="4149842"/>
            <a:ext cx="105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coding</a:t>
            </a:r>
            <a:endParaRPr lang="en-US" dirty="0"/>
          </a:p>
        </p:txBody>
      </p:sp>
      <p:sp>
        <p:nvSpPr>
          <p:cNvPr id="9225" name="Text Box 7"/>
          <p:cNvSpPr txBox="1">
            <a:spLocks noChangeArrowheads="1"/>
          </p:cNvSpPr>
          <p:nvPr/>
        </p:nvSpPr>
        <p:spPr bwMode="auto">
          <a:xfrm>
            <a:off x="3148612" y="4869707"/>
            <a:ext cx="105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testing</a:t>
            </a:r>
            <a:endParaRPr lang="en-US" dirty="0"/>
          </a:p>
        </p:txBody>
      </p:sp>
      <p:sp>
        <p:nvSpPr>
          <p:cNvPr id="9226" name="Text Box 8"/>
          <p:cNvSpPr txBox="1">
            <a:spLocks noChangeArrowheads="1"/>
          </p:cNvSpPr>
          <p:nvPr/>
        </p:nvSpPr>
        <p:spPr bwMode="auto">
          <a:xfrm>
            <a:off x="3913238" y="5620039"/>
            <a:ext cx="1859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maintenance</a:t>
            </a:r>
            <a:endParaRPr lang="en-US" dirty="0"/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>
            <a:off x="1242953" y="3079194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 flipH="1" flipV="1">
            <a:off x="557153" y="3107941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2153716" y="3770093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 flipV="1">
            <a:off x="1467916" y="3798840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3077666" y="4488707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 flipV="1">
            <a:off x="2391866" y="4517454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>
            <a:off x="4020641" y="5210292"/>
            <a:ext cx="571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0"/>
          <p:cNvSpPr>
            <a:spLocks noChangeShapeType="1"/>
          </p:cNvSpPr>
          <p:nvPr/>
        </p:nvSpPr>
        <p:spPr bwMode="auto">
          <a:xfrm flipH="1" flipV="1">
            <a:off x="3334841" y="5239039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8827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Spiral model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smtClean="0"/>
              <a:t>Successive refinement of system.</a:t>
            </a:r>
          </a:p>
          <a:p>
            <a:pPr lvl="1"/>
            <a:r>
              <a:rPr lang="en-US" sz="2000" dirty="0" smtClean="0"/>
              <a:t>Start with mock-ups, move through simple systems to full-scale systems.</a:t>
            </a:r>
          </a:p>
          <a:p>
            <a:r>
              <a:rPr lang="en-US" sz="2000" dirty="0" smtClean="0"/>
              <a:t>Provides bottom-up feedback from previous stages.</a:t>
            </a:r>
          </a:p>
          <a:p>
            <a:r>
              <a:rPr lang="en-US" sz="2000" dirty="0" smtClean="0"/>
              <a:t>Working through stages may take too much time.</a:t>
            </a:r>
          </a:p>
          <a:p>
            <a:endParaRPr lang="en-US" sz="2000" dirty="0"/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 flipV="1">
            <a:off x="1661922" y="5099304"/>
            <a:ext cx="8001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861822" y="5404104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>
            <a:off x="1661922" y="5404104"/>
            <a:ext cx="7429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7"/>
          <p:cNvSpPr txBox="1">
            <a:spLocks noChangeArrowheads="1"/>
          </p:cNvSpPr>
          <p:nvPr/>
        </p:nvSpPr>
        <p:spPr bwMode="auto">
          <a:xfrm>
            <a:off x="2450116" y="5113592"/>
            <a:ext cx="16403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66FF"/>
                </a:solidFill>
              </a:rPr>
              <a:t>requirements</a:t>
            </a:r>
            <a:endParaRPr lang="en-US"/>
          </a:p>
        </p:txBody>
      </p:sp>
      <p:sp>
        <p:nvSpPr>
          <p:cNvPr id="12297" name="Text Box 8"/>
          <p:cNvSpPr txBox="1">
            <a:spLocks noChangeArrowheads="1"/>
          </p:cNvSpPr>
          <p:nvPr/>
        </p:nvSpPr>
        <p:spPr bwMode="auto">
          <a:xfrm>
            <a:off x="118873" y="5251704"/>
            <a:ext cx="8819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66FF"/>
                </a:solidFill>
              </a:rPr>
              <a:t>design</a:t>
            </a:r>
            <a:endParaRPr lang="en-US"/>
          </a:p>
        </p:txBody>
      </p:sp>
      <p:sp>
        <p:nvSpPr>
          <p:cNvPr id="12298" name="Text Box 9"/>
          <p:cNvSpPr txBox="1">
            <a:spLocks noChangeArrowheads="1"/>
          </p:cNvSpPr>
          <p:nvPr/>
        </p:nvSpPr>
        <p:spPr bwMode="auto">
          <a:xfrm>
            <a:off x="2404872" y="5556504"/>
            <a:ext cx="5677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0066FF"/>
                </a:solidFill>
              </a:rPr>
              <a:t>test</a:t>
            </a:r>
            <a:endParaRPr lang="en-US"/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2519172" y="1898904"/>
            <a:ext cx="205216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system feasibility</a:t>
            </a:r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2519173" y="2584704"/>
            <a:ext cx="15488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specification</a:t>
            </a:r>
          </a:p>
        </p:txBody>
      </p:sp>
      <p:sp>
        <p:nvSpPr>
          <p:cNvPr id="12301" name="Text Box 12"/>
          <p:cNvSpPr txBox="1">
            <a:spLocks noChangeArrowheads="1"/>
          </p:cNvSpPr>
          <p:nvPr/>
        </p:nvSpPr>
        <p:spPr bwMode="auto">
          <a:xfrm>
            <a:off x="2519173" y="3270504"/>
            <a:ext cx="124752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prototype</a:t>
            </a:r>
          </a:p>
        </p:txBody>
      </p:sp>
      <p:sp>
        <p:nvSpPr>
          <p:cNvPr id="12302" name="Text Box 13"/>
          <p:cNvSpPr txBox="1">
            <a:spLocks noChangeArrowheads="1"/>
          </p:cNvSpPr>
          <p:nvPr/>
        </p:nvSpPr>
        <p:spPr bwMode="auto">
          <a:xfrm>
            <a:off x="2519173" y="3956304"/>
            <a:ext cx="16257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initial system</a:t>
            </a:r>
          </a:p>
        </p:txBody>
      </p:sp>
      <p:sp>
        <p:nvSpPr>
          <p:cNvPr id="12303" name="Text Box 14"/>
          <p:cNvSpPr txBox="1">
            <a:spLocks noChangeArrowheads="1"/>
          </p:cNvSpPr>
          <p:nvPr/>
        </p:nvSpPr>
        <p:spPr bwMode="auto">
          <a:xfrm>
            <a:off x="2519173" y="4565904"/>
            <a:ext cx="20281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enhanced system</a:t>
            </a:r>
          </a:p>
        </p:txBody>
      </p:sp>
      <p:sp>
        <p:nvSpPr>
          <p:cNvPr id="44047" name="Freeform 15"/>
          <p:cNvSpPr>
            <a:spLocks/>
          </p:cNvSpPr>
          <p:nvPr/>
        </p:nvSpPr>
        <p:spPr bwMode="auto">
          <a:xfrm>
            <a:off x="1309497" y="1975104"/>
            <a:ext cx="752475" cy="330200"/>
          </a:xfrm>
          <a:custGeom>
            <a:avLst/>
            <a:gdLst>
              <a:gd name="T0" fmla="*/ 632 w 632"/>
              <a:gd name="T1" fmla="*/ 96 h 208"/>
              <a:gd name="T2" fmla="*/ 392 w 632"/>
              <a:gd name="T3" fmla="*/ 0 h 208"/>
              <a:gd name="T4" fmla="*/ 8 w 632"/>
              <a:gd name="T5" fmla="*/ 96 h 208"/>
              <a:gd name="T6" fmla="*/ 344 w 632"/>
              <a:gd name="T7" fmla="*/ 192 h 208"/>
              <a:gd name="T8" fmla="*/ 584 w 632"/>
              <a:gd name="T9" fmla="*/ 192 h 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2"/>
              <a:gd name="T16" fmla="*/ 0 h 208"/>
              <a:gd name="T17" fmla="*/ 632 w 632"/>
              <a:gd name="T18" fmla="*/ 208 h 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2" h="208">
                <a:moveTo>
                  <a:pt x="632" y="96"/>
                </a:moveTo>
                <a:cubicBezTo>
                  <a:pt x="564" y="48"/>
                  <a:pt x="496" y="0"/>
                  <a:pt x="392" y="0"/>
                </a:cubicBezTo>
                <a:cubicBezTo>
                  <a:pt x="288" y="0"/>
                  <a:pt x="16" y="64"/>
                  <a:pt x="8" y="96"/>
                </a:cubicBezTo>
                <a:cubicBezTo>
                  <a:pt x="0" y="128"/>
                  <a:pt x="248" y="176"/>
                  <a:pt x="344" y="192"/>
                </a:cubicBezTo>
                <a:cubicBezTo>
                  <a:pt x="440" y="208"/>
                  <a:pt x="512" y="200"/>
                  <a:pt x="584" y="192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8" name="Freeform 16"/>
          <p:cNvSpPr>
            <a:spLocks/>
          </p:cNvSpPr>
          <p:nvPr/>
        </p:nvSpPr>
        <p:spPr bwMode="auto">
          <a:xfrm>
            <a:off x="1118997" y="2279904"/>
            <a:ext cx="952500" cy="685800"/>
          </a:xfrm>
          <a:custGeom>
            <a:avLst/>
            <a:gdLst>
              <a:gd name="T0" fmla="*/ 744 w 800"/>
              <a:gd name="T1" fmla="*/ 0 h 432"/>
              <a:gd name="T2" fmla="*/ 744 w 800"/>
              <a:gd name="T3" fmla="*/ 240 h 432"/>
              <a:gd name="T4" fmla="*/ 408 w 800"/>
              <a:gd name="T5" fmla="*/ 192 h 432"/>
              <a:gd name="T6" fmla="*/ 24 w 800"/>
              <a:gd name="T7" fmla="*/ 288 h 432"/>
              <a:gd name="T8" fmla="*/ 552 w 800"/>
              <a:gd name="T9" fmla="*/ 432 h 432"/>
              <a:gd name="T10" fmla="*/ 792 w 800"/>
              <a:gd name="T11" fmla="*/ 288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00"/>
              <a:gd name="T19" fmla="*/ 0 h 432"/>
              <a:gd name="T20" fmla="*/ 800 w 800"/>
              <a:gd name="T21" fmla="*/ 432 h 4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00" h="432">
                <a:moveTo>
                  <a:pt x="744" y="0"/>
                </a:moveTo>
                <a:cubicBezTo>
                  <a:pt x="772" y="104"/>
                  <a:pt x="800" y="208"/>
                  <a:pt x="744" y="240"/>
                </a:cubicBezTo>
                <a:cubicBezTo>
                  <a:pt x="688" y="272"/>
                  <a:pt x="528" y="184"/>
                  <a:pt x="408" y="192"/>
                </a:cubicBezTo>
                <a:cubicBezTo>
                  <a:pt x="288" y="200"/>
                  <a:pt x="0" y="248"/>
                  <a:pt x="24" y="288"/>
                </a:cubicBezTo>
                <a:cubicBezTo>
                  <a:pt x="48" y="328"/>
                  <a:pt x="424" y="432"/>
                  <a:pt x="552" y="432"/>
                </a:cubicBezTo>
                <a:cubicBezTo>
                  <a:pt x="680" y="432"/>
                  <a:pt x="752" y="312"/>
                  <a:pt x="792" y="288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49" name="Freeform 17"/>
          <p:cNvSpPr>
            <a:spLocks/>
          </p:cNvSpPr>
          <p:nvPr/>
        </p:nvSpPr>
        <p:spPr bwMode="auto">
          <a:xfrm>
            <a:off x="1033272" y="2813304"/>
            <a:ext cx="1200150" cy="939800"/>
          </a:xfrm>
          <a:custGeom>
            <a:avLst/>
            <a:gdLst>
              <a:gd name="T0" fmla="*/ 864 w 1008"/>
              <a:gd name="T1" fmla="*/ 0 h 592"/>
              <a:gd name="T2" fmla="*/ 960 w 1008"/>
              <a:gd name="T3" fmla="*/ 288 h 592"/>
              <a:gd name="T4" fmla="*/ 576 w 1008"/>
              <a:gd name="T5" fmla="*/ 192 h 592"/>
              <a:gd name="T6" fmla="*/ 0 w 1008"/>
              <a:gd name="T7" fmla="*/ 336 h 592"/>
              <a:gd name="T8" fmla="*/ 576 w 1008"/>
              <a:gd name="T9" fmla="*/ 576 h 592"/>
              <a:gd name="T10" fmla="*/ 960 w 1008"/>
              <a:gd name="T11" fmla="*/ 432 h 5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8"/>
              <a:gd name="T19" fmla="*/ 0 h 592"/>
              <a:gd name="T20" fmla="*/ 1008 w 1008"/>
              <a:gd name="T21" fmla="*/ 592 h 5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8" h="592">
                <a:moveTo>
                  <a:pt x="864" y="0"/>
                </a:moveTo>
                <a:cubicBezTo>
                  <a:pt x="936" y="128"/>
                  <a:pt x="1008" y="256"/>
                  <a:pt x="960" y="288"/>
                </a:cubicBezTo>
                <a:cubicBezTo>
                  <a:pt x="912" y="320"/>
                  <a:pt x="736" y="184"/>
                  <a:pt x="576" y="192"/>
                </a:cubicBezTo>
                <a:cubicBezTo>
                  <a:pt x="416" y="200"/>
                  <a:pt x="0" y="272"/>
                  <a:pt x="0" y="336"/>
                </a:cubicBezTo>
                <a:cubicBezTo>
                  <a:pt x="0" y="400"/>
                  <a:pt x="416" y="560"/>
                  <a:pt x="576" y="576"/>
                </a:cubicBezTo>
                <a:cubicBezTo>
                  <a:pt x="736" y="592"/>
                  <a:pt x="848" y="512"/>
                  <a:pt x="960" y="432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1" name="Freeform 19"/>
          <p:cNvSpPr>
            <a:spLocks/>
          </p:cNvSpPr>
          <p:nvPr/>
        </p:nvSpPr>
        <p:spPr bwMode="auto">
          <a:xfrm>
            <a:off x="861822" y="3499104"/>
            <a:ext cx="1447800" cy="1003300"/>
          </a:xfrm>
          <a:custGeom>
            <a:avLst/>
            <a:gdLst>
              <a:gd name="T0" fmla="*/ 1056 w 1216"/>
              <a:gd name="T1" fmla="*/ 48 h 632"/>
              <a:gd name="T2" fmla="*/ 1104 w 1216"/>
              <a:gd name="T3" fmla="*/ 48 h 632"/>
              <a:gd name="T4" fmla="*/ 1152 w 1216"/>
              <a:gd name="T5" fmla="*/ 336 h 632"/>
              <a:gd name="T6" fmla="*/ 720 w 1216"/>
              <a:gd name="T7" fmla="*/ 240 h 632"/>
              <a:gd name="T8" fmla="*/ 0 w 1216"/>
              <a:gd name="T9" fmla="*/ 432 h 632"/>
              <a:gd name="T10" fmla="*/ 720 w 1216"/>
              <a:gd name="T11" fmla="*/ 624 h 632"/>
              <a:gd name="T12" fmla="*/ 1152 w 1216"/>
              <a:gd name="T13" fmla="*/ 480 h 6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16"/>
              <a:gd name="T22" fmla="*/ 0 h 632"/>
              <a:gd name="T23" fmla="*/ 1216 w 1216"/>
              <a:gd name="T24" fmla="*/ 632 h 63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16" h="632">
                <a:moveTo>
                  <a:pt x="1056" y="48"/>
                </a:moveTo>
                <a:cubicBezTo>
                  <a:pt x="1072" y="24"/>
                  <a:pt x="1088" y="0"/>
                  <a:pt x="1104" y="48"/>
                </a:cubicBezTo>
                <a:cubicBezTo>
                  <a:pt x="1120" y="96"/>
                  <a:pt x="1216" y="304"/>
                  <a:pt x="1152" y="336"/>
                </a:cubicBezTo>
                <a:cubicBezTo>
                  <a:pt x="1088" y="368"/>
                  <a:pt x="912" y="224"/>
                  <a:pt x="720" y="240"/>
                </a:cubicBezTo>
                <a:cubicBezTo>
                  <a:pt x="528" y="256"/>
                  <a:pt x="0" y="368"/>
                  <a:pt x="0" y="432"/>
                </a:cubicBezTo>
                <a:cubicBezTo>
                  <a:pt x="0" y="496"/>
                  <a:pt x="528" y="616"/>
                  <a:pt x="720" y="624"/>
                </a:cubicBezTo>
                <a:cubicBezTo>
                  <a:pt x="912" y="632"/>
                  <a:pt x="1032" y="556"/>
                  <a:pt x="1152" y="480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2" name="Freeform 20"/>
          <p:cNvSpPr>
            <a:spLocks/>
          </p:cNvSpPr>
          <p:nvPr/>
        </p:nvSpPr>
        <p:spPr bwMode="auto">
          <a:xfrm>
            <a:off x="861822" y="4337304"/>
            <a:ext cx="1571625" cy="863600"/>
          </a:xfrm>
          <a:custGeom>
            <a:avLst/>
            <a:gdLst>
              <a:gd name="T0" fmla="*/ 1152 w 1320"/>
              <a:gd name="T1" fmla="*/ 0 h 544"/>
              <a:gd name="T2" fmla="*/ 1248 w 1320"/>
              <a:gd name="T3" fmla="*/ 240 h 544"/>
              <a:gd name="T4" fmla="*/ 720 w 1320"/>
              <a:gd name="T5" fmla="*/ 192 h 544"/>
              <a:gd name="T6" fmla="*/ 0 w 1320"/>
              <a:gd name="T7" fmla="*/ 384 h 544"/>
              <a:gd name="T8" fmla="*/ 720 w 1320"/>
              <a:gd name="T9" fmla="*/ 528 h 544"/>
              <a:gd name="T10" fmla="*/ 1248 w 1320"/>
              <a:gd name="T11" fmla="*/ 288 h 5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20"/>
              <a:gd name="T19" fmla="*/ 0 h 544"/>
              <a:gd name="T20" fmla="*/ 1320 w 1320"/>
              <a:gd name="T21" fmla="*/ 544 h 5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20" h="544">
                <a:moveTo>
                  <a:pt x="1152" y="0"/>
                </a:moveTo>
                <a:cubicBezTo>
                  <a:pt x="1236" y="104"/>
                  <a:pt x="1320" y="208"/>
                  <a:pt x="1248" y="240"/>
                </a:cubicBezTo>
                <a:cubicBezTo>
                  <a:pt x="1176" y="272"/>
                  <a:pt x="928" y="168"/>
                  <a:pt x="720" y="192"/>
                </a:cubicBezTo>
                <a:cubicBezTo>
                  <a:pt x="512" y="216"/>
                  <a:pt x="0" y="328"/>
                  <a:pt x="0" y="384"/>
                </a:cubicBezTo>
                <a:cubicBezTo>
                  <a:pt x="0" y="440"/>
                  <a:pt x="512" y="544"/>
                  <a:pt x="720" y="528"/>
                </a:cubicBezTo>
                <a:cubicBezTo>
                  <a:pt x="928" y="512"/>
                  <a:pt x="1088" y="400"/>
                  <a:pt x="1248" y="288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7590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7" grpId="0" animBg="1"/>
      <p:bldP spid="44048" grpId="0" animBg="1"/>
      <p:bldP spid="44049" grpId="0" animBg="1"/>
      <p:bldP spid="44051" grpId="0" animBg="1"/>
      <p:bldP spid="440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Successive refinement model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1759745" y="2098675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specify</a:t>
            </a:r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2102644" y="2708275"/>
            <a:ext cx="13395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architect</a:t>
            </a:r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2571751" y="3429000"/>
            <a:ext cx="10230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design</a:t>
            </a:r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2971801" y="4038600"/>
            <a:ext cx="8691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build</a:t>
            </a:r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3314700" y="4572000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test</a:t>
            </a:r>
          </a:p>
        </p:txBody>
      </p:sp>
      <p:sp>
        <p:nvSpPr>
          <p:cNvPr id="14346" name="Line 9"/>
          <p:cNvSpPr>
            <a:spLocks noChangeShapeType="1"/>
          </p:cNvSpPr>
          <p:nvPr/>
        </p:nvSpPr>
        <p:spPr bwMode="auto">
          <a:xfrm>
            <a:off x="2228850" y="2514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Line 10"/>
          <p:cNvSpPr>
            <a:spLocks noChangeShapeType="1"/>
          </p:cNvSpPr>
          <p:nvPr/>
        </p:nvSpPr>
        <p:spPr bwMode="auto">
          <a:xfrm>
            <a:off x="2571750" y="3124200"/>
            <a:ext cx="2857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8" name="Line 11"/>
          <p:cNvSpPr>
            <a:spLocks noChangeShapeType="1"/>
          </p:cNvSpPr>
          <p:nvPr/>
        </p:nvSpPr>
        <p:spPr bwMode="auto">
          <a:xfrm>
            <a:off x="302895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Line 12"/>
          <p:cNvSpPr>
            <a:spLocks noChangeShapeType="1"/>
          </p:cNvSpPr>
          <p:nvPr/>
        </p:nvSpPr>
        <p:spPr bwMode="auto">
          <a:xfrm>
            <a:off x="3371850" y="4419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13"/>
          <p:cNvSpPr>
            <a:spLocks noChangeArrowheads="1"/>
          </p:cNvSpPr>
          <p:nvPr/>
        </p:nvSpPr>
        <p:spPr bwMode="auto">
          <a:xfrm>
            <a:off x="1543050" y="1905000"/>
            <a:ext cx="2514600" cy="3276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Text Box 14"/>
          <p:cNvSpPr txBox="1">
            <a:spLocks noChangeArrowheads="1"/>
          </p:cNvSpPr>
          <p:nvPr/>
        </p:nvSpPr>
        <p:spPr bwMode="auto">
          <a:xfrm>
            <a:off x="2171701" y="5410200"/>
            <a:ext cx="19191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FF"/>
                </a:solidFill>
              </a:rPr>
              <a:t>initial system</a:t>
            </a:r>
          </a:p>
        </p:txBody>
      </p:sp>
      <p:sp>
        <p:nvSpPr>
          <p:cNvPr id="14352" name="Text Box 15"/>
          <p:cNvSpPr txBox="1">
            <a:spLocks noChangeArrowheads="1"/>
          </p:cNvSpPr>
          <p:nvPr/>
        </p:nvSpPr>
        <p:spPr bwMode="auto">
          <a:xfrm>
            <a:off x="4788695" y="2098675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specify</a:t>
            </a:r>
          </a:p>
        </p:txBody>
      </p:sp>
      <p:sp>
        <p:nvSpPr>
          <p:cNvPr id="14353" name="Text Box 16"/>
          <p:cNvSpPr txBox="1">
            <a:spLocks noChangeArrowheads="1"/>
          </p:cNvSpPr>
          <p:nvPr/>
        </p:nvSpPr>
        <p:spPr bwMode="auto">
          <a:xfrm>
            <a:off x="5131594" y="2708275"/>
            <a:ext cx="13395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architect</a:t>
            </a:r>
          </a:p>
        </p:txBody>
      </p:sp>
      <p:sp>
        <p:nvSpPr>
          <p:cNvPr id="14354" name="Text Box 17"/>
          <p:cNvSpPr txBox="1">
            <a:spLocks noChangeArrowheads="1"/>
          </p:cNvSpPr>
          <p:nvPr/>
        </p:nvSpPr>
        <p:spPr bwMode="auto">
          <a:xfrm>
            <a:off x="5600701" y="3429000"/>
            <a:ext cx="10230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design</a:t>
            </a:r>
          </a:p>
        </p:txBody>
      </p:sp>
      <p:sp>
        <p:nvSpPr>
          <p:cNvPr id="14355" name="Text Box 18"/>
          <p:cNvSpPr txBox="1">
            <a:spLocks noChangeArrowheads="1"/>
          </p:cNvSpPr>
          <p:nvPr/>
        </p:nvSpPr>
        <p:spPr bwMode="auto">
          <a:xfrm>
            <a:off x="6000751" y="4038600"/>
            <a:ext cx="8691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build</a:t>
            </a:r>
          </a:p>
        </p:txBody>
      </p:sp>
      <p:sp>
        <p:nvSpPr>
          <p:cNvPr id="14356" name="Text Box 19"/>
          <p:cNvSpPr txBox="1">
            <a:spLocks noChangeArrowheads="1"/>
          </p:cNvSpPr>
          <p:nvPr/>
        </p:nvSpPr>
        <p:spPr bwMode="auto">
          <a:xfrm>
            <a:off x="6343650" y="4572000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test</a:t>
            </a:r>
          </a:p>
        </p:txBody>
      </p:sp>
      <p:sp>
        <p:nvSpPr>
          <p:cNvPr id="14357" name="Line 20"/>
          <p:cNvSpPr>
            <a:spLocks noChangeShapeType="1"/>
          </p:cNvSpPr>
          <p:nvPr/>
        </p:nvSpPr>
        <p:spPr bwMode="auto">
          <a:xfrm>
            <a:off x="5257800" y="2514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8" name="Line 21"/>
          <p:cNvSpPr>
            <a:spLocks noChangeShapeType="1"/>
          </p:cNvSpPr>
          <p:nvPr/>
        </p:nvSpPr>
        <p:spPr bwMode="auto">
          <a:xfrm>
            <a:off x="5600700" y="3124200"/>
            <a:ext cx="2857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9" name="Line 22"/>
          <p:cNvSpPr>
            <a:spLocks noChangeShapeType="1"/>
          </p:cNvSpPr>
          <p:nvPr/>
        </p:nvSpPr>
        <p:spPr bwMode="auto">
          <a:xfrm>
            <a:off x="605790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0" name="Line 23"/>
          <p:cNvSpPr>
            <a:spLocks noChangeShapeType="1"/>
          </p:cNvSpPr>
          <p:nvPr/>
        </p:nvSpPr>
        <p:spPr bwMode="auto">
          <a:xfrm>
            <a:off x="6400800" y="4419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1" name="Rectangle 24"/>
          <p:cNvSpPr>
            <a:spLocks noChangeArrowheads="1"/>
          </p:cNvSpPr>
          <p:nvPr/>
        </p:nvSpPr>
        <p:spPr bwMode="auto">
          <a:xfrm>
            <a:off x="4572000" y="1905000"/>
            <a:ext cx="2514600" cy="32766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5200650" y="5410200"/>
            <a:ext cx="20849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FF"/>
                </a:solidFill>
              </a:rPr>
              <a:t>refined system</a:t>
            </a:r>
          </a:p>
        </p:txBody>
      </p:sp>
      <p:sp>
        <p:nvSpPr>
          <p:cNvPr id="14363" name="Line 26"/>
          <p:cNvSpPr>
            <a:spLocks noChangeShapeType="1"/>
          </p:cNvSpPr>
          <p:nvPr/>
        </p:nvSpPr>
        <p:spPr bwMode="auto">
          <a:xfrm flipV="1">
            <a:off x="3771900" y="2514600"/>
            <a:ext cx="108585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64" name="Line 27"/>
          <p:cNvSpPr>
            <a:spLocks noChangeShapeType="1"/>
          </p:cNvSpPr>
          <p:nvPr/>
        </p:nvSpPr>
        <p:spPr bwMode="auto">
          <a:xfrm flipV="1">
            <a:off x="6800850" y="2209800"/>
            <a:ext cx="80010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749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Hardware/software design flow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3818664" y="1828802"/>
            <a:ext cx="25072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requirements and</a:t>
            </a:r>
          </a:p>
          <a:p>
            <a:pPr algn="ctr"/>
            <a:r>
              <a:rPr lang="en-US"/>
              <a:t>specification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3943350" y="2971800"/>
            <a:ext cx="17778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architecture</a:t>
            </a: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1828800" y="3962400"/>
            <a:ext cx="2376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hardware design</a:t>
            </a:r>
          </a:p>
        </p:txBody>
      </p:sp>
      <p:sp>
        <p:nvSpPr>
          <p:cNvPr id="15368" name="Text Box 7"/>
          <p:cNvSpPr txBox="1">
            <a:spLocks noChangeArrowheads="1"/>
          </p:cNvSpPr>
          <p:nvPr/>
        </p:nvSpPr>
        <p:spPr bwMode="auto">
          <a:xfrm>
            <a:off x="5715001" y="3886200"/>
            <a:ext cx="22227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software design</a:t>
            </a:r>
          </a:p>
        </p:txBody>
      </p:sp>
      <p:sp>
        <p:nvSpPr>
          <p:cNvPr id="15369" name="Text Box 8"/>
          <p:cNvSpPr txBox="1">
            <a:spLocks noChangeArrowheads="1"/>
          </p:cNvSpPr>
          <p:nvPr/>
        </p:nvSpPr>
        <p:spPr bwMode="auto">
          <a:xfrm>
            <a:off x="4000501" y="4724400"/>
            <a:ext cx="16369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integration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4171951" y="5562600"/>
            <a:ext cx="1056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testing</a:t>
            </a:r>
          </a:p>
        </p:txBody>
      </p:sp>
      <p:sp>
        <p:nvSpPr>
          <p:cNvPr id="15371" name="Line 10"/>
          <p:cNvSpPr>
            <a:spLocks noChangeShapeType="1"/>
          </p:cNvSpPr>
          <p:nvPr/>
        </p:nvSpPr>
        <p:spPr bwMode="auto">
          <a:xfrm>
            <a:off x="4457700" y="2667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Line 11"/>
          <p:cNvSpPr>
            <a:spLocks noChangeShapeType="1"/>
          </p:cNvSpPr>
          <p:nvPr/>
        </p:nvSpPr>
        <p:spPr bwMode="auto">
          <a:xfrm flipH="1">
            <a:off x="3371850" y="3429000"/>
            <a:ext cx="6286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Line 12"/>
          <p:cNvSpPr>
            <a:spLocks noChangeShapeType="1"/>
          </p:cNvSpPr>
          <p:nvPr/>
        </p:nvSpPr>
        <p:spPr bwMode="auto">
          <a:xfrm>
            <a:off x="5086350" y="3429000"/>
            <a:ext cx="7429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>
            <a:off x="3371850" y="4495800"/>
            <a:ext cx="62865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H="1">
            <a:off x="5086350" y="4343400"/>
            <a:ext cx="74295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>
            <a:off x="451485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12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Co-design methodology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Must architect hardware and software together:</a:t>
            </a:r>
          </a:p>
          <a:p>
            <a:pPr lvl="1"/>
            <a:r>
              <a:rPr lang="en-US" smtClean="0"/>
              <a:t>provide sufficient resources;</a:t>
            </a:r>
          </a:p>
          <a:p>
            <a:pPr lvl="1"/>
            <a:r>
              <a:rPr lang="en-US" smtClean="0"/>
              <a:t>avoid software bottlenecks.</a:t>
            </a:r>
          </a:p>
          <a:p>
            <a:r>
              <a:rPr lang="en-US" smtClean="0"/>
              <a:t>Can build pieces somewhat independently, but integration is major step.</a:t>
            </a:r>
          </a:p>
          <a:p>
            <a:r>
              <a:rPr lang="en-US" smtClean="0"/>
              <a:t>Also requires bottom-up feedback.</a:t>
            </a:r>
          </a:p>
        </p:txBody>
      </p:sp>
    </p:spTree>
    <p:extLst>
      <p:ext uri="{BB962C8B-B14F-4D97-AF65-F5344CB8AC3E}">
        <p14:creationId xmlns="" xmlns:p14="http://schemas.microsoft.com/office/powerpoint/2010/main" val="275640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Hierarchical design flow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 smtClean="0"/>
              <a:t>Embedded systems must be designed across multiple levels of abstraction:</a:t>
            </a:r>
          </a:p>
          <a:p>
            <a:pPr lvl="1"/>
            <a:r>
              <a:rPr lang="en-US" sz="2000" dirty="0" smtClean="0"/>
              <a:t>system architecture;</a:t>
            </a:r>
          </a:p>
          <a:p>
            <a:pPr lvl="1"/>
            <a:r>
              <a:rPr lang="en-US" sz="2000" dirty="0" smtClean="0"/>
              <a:t>hardware and software systems;</a:t>
            </a:r>
          </a:p>
          <a:p>
            <a:pPr lvl="1"/>
            <a:r>
              <a:rPr lang="en-US" sz="2000" dirty="0" smtClean="0"/>
              <a:t>hardware and software components.</a:t>
            </a:r>
          </a:p>
          <a:p>
            <a:r>
              <a:rPr lang="en-US" sz="2000" dirty="0" smtClean="0"/>
              <a:t>Often need design flows within design flows.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4383314" y="1872355"/>
            <a:ext cx="1653837" cy="3763532"/>
            <a:chOff x="528" y="1104"/>
            <a:chExt cx="1680" cy="2637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104" y="1200"/>
              <a:ext cx="570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spec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864" y="1632"/>
              <a:ext cx="1271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architecture</a:t>
              </a: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14" y="2234"/>
              <a:ext cx="559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HW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574" y="2234"/>
              <a:ext cx="512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SW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960" y="2640"/>
              <a:ext cx="989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integrate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1142" y="3098"/>
              <a:ext cx="502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test</a:t>
              </a: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34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H="1">
              <a:off x="912" y="192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912" y="254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584" y="1920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1632" y="249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344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528" y="1104"/>
              <a:ext cx="1680" cy="230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600">
                <a:solidFill>
                  <a:srgbClr val="0066FF"/>
                </a:solidFill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1152" y="3504"/>
              <a:ext cx="792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>
                  <a:solidFill>
                    <a:srgbClr val="0066FF"/>
                  </a:solidFill>
                </a:rPr>
                <a:t>system</a:t>
              </a:r>
              <a:endParaRPr lang="en-US" sz="1600"/>
            </a:p>
          </p:txBody>
        </p:sp>
      </p:grpSp>
      <p:grpSp>
        <p:nvGrpSpPr>
          <p:cNvPr id="20" name="Group 45"/>
          <p:cNvGrpSpPr>
            <a:grpSpLocks/>
          </p:cNvGrpSpPr>
          <p:nvPr/>
        </p:nvGrpSpPr>
        <p:grpSpPr bwMode="auto">
          <a:xfrm>
            <a:off x="4761334" y="1940861"/>
            <a:ext cx="3884546" cy="3763532"/>
            <a:chOff x="912" y="1152"/>
            <a:chExt cx="3946" cy="2637"/>
          </a:xfrm>
        </p:grpSpPr>
        <p:grpSp>
          <p:nvGrpSpPr>
            <p:cNvPr id="21" name="Group 40"/>
            <p:cNvGrpSpPr>
              <a:grpSpLocks/>
            </p:cNvGrpSpPr>
            <p:nvPr/>
          </p:nvGrpSpPr>
          <p:grpSpPr bwMode="auto">
            <a:xfrm>
              <a:off x="3024" y="1152"/>
              <a:ext cx="1834" cy="2637"/>
              <a:chOff x="2304" y="1152"/>
              <a:chExt cx="1834" cy="2637"/>
            </a:xfrm>
          </p:grpSpPr>
          <p:sp>
            <p:nvSpPr>
              <p:cNvPr id="24" name="Rectangle 18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680" cy="230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600">
                  <a:solidFill>
                    <a:srgbClr val="0066FF"/>
                  </a:solidFill>
                </a:endParaRPr>
              </a:p>
            </p:txBody>
          </p:sp>
          <p:sp>
            <p:nvSpPr>
              <p:cNvPr id="25" name="Text Box 19"/>
              <p:cNvSpPr txBox="1">
                <a:spLocks noChangeArrowheads="1"/>
              </p:cNvSpPr>
              <p:nvPr/>
            </p:nvSpPr>
            <p:spPr bwMode="auto">
              <a:xfrm>
                <a:off x="2870" y="1274"/>
                <a:ext cx="570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spec</a:t>
                </a:r>
              </a:p>
            </p:txBody>
          </p:sp>
          <p:sp>
            <p:nvSpPr>
              <p:cNvPr id="26" name="Text Box 20"/>
              <p:cNvSpPr txBox="1">
                <a:spLocks noChangeArrowheads="1"/>
              </p:cNvSpPr>
              <p:nvPr/>
            </p:nvSpPr>
            <p:spPr bwMode="auto">
              <a:xfrm>
                <a:off x="2448" y="1680"/>
                <a:ext cx="1690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HW architecture</a:t>
                </a:r>
              </a:p>
            </p:txBody>
          </p:sp>
          <p:sp>
            <p:nvSpPr>
              <p:cNvPr id="27" name="Text Box 21"/>
              <p:cNvSpPr txBox="1">
                <a:spLocks noChangeArrowheads="1"/>
              </p:cNvSpPr>
              <p:nvPr/>
            </p:nvSpPr>
            <p:spPr bwMode="auto">
              <a:xfrm>
                <a:off x="2544" y="2160"/>
                <a:ext cx="1516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detailed design</a:t>
                </a:r>
              </a:p>
            </p:txBody>
          </p:sp>
          <p:sp>
            <p:nvSpPr>
              <p:cNvPr id="28" name="Text Box 22"/>
              <p:cNvSpPr txBox="1">
                <a:spLocks noChangeArrowheads="1"/>
              </p:cNvSpPr>
              <p:nvPr/>
            </p:nvSpPr>
            <p:spPr bwMode="auto">
              <a:xfrm>
                <a:off x="2678" y="2666"/>
                <a:ext cx="1174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integration</a:t>
                </a:r>
              </a:p>
            </p:txBody>
          </p:sp>
          <p:sp>
            <p:nvSpPr>
              <p:cNvPr id="29" name="Text Box 23"/>
              <p:cNvSpPr txBox="1">
                <a:spLocks noChangeArrowheads="1"/>
              </p:cNvSpPr>
              <p:nvPr/>
            </p:nvSpPr>
            <p:spPr bwMode="auto">
              <a:xfrm>
                <a:off x="2976" y="3072"/>
                <a:ext cx="502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test</a:t>
                </a:r>
              </a:p>
            </p:txBody>
          </p:sp>
          <p:sp>
            <p:nvSpPr>
              <p:cNvPr id="30" name="Line 24"/>
              <p:cNvSpPr>
                <a:spLocks noChangeShapeType="1"/>
              </p:cNvSpPr>
              <p:nvPr/>
            </p:nvSpPr>
            <p:spPr bwMode="auto">
              <a:xfrm>
                <a:off x="3120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1" name="Line 25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2" name="Line 26"/>
              <p:cNvSpPr>
                <a:spLocks noChangeShapeType="1"/>
              </p:cNvSpPr>
              <p:nvPr/>
            </p:nvSpPr>
            <p:spPr bwMode="auto">
              <a:xfrm>
                <a:off x="3120" y="244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3" name="Line 27"/>
              <p:cNvSpPr>
                <a:spLocks noChangeShapeType="1"/>
              </p:cNvSpPr>
              <p:nvPr/>
            </p:nvSpPr>
            <p:spPr bwMode="auto">
              <a:xfrm>
                <a:off x="3120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34" name="Text Box 28"/>
              <p:cNvSpPr txBox="1">
                <a:spLocks noChangeArrowheads="1"/>
              </p:cNvSpPr>
              <p:nvPr/>
            </p:nvSpPr>
            <p:spPr bwMode="auto">
              <a:xfrm>
                <a:off x="2784" y="3552"/>
                <a:ext cx="1052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0066FF"/>
                    </a:solidFill>
                  </a:rPr>
                  <a:t>hardware</a:t>
                </a:r>
                <a:endParaRPr lang="en-US" sz="1600"/>
              </a:p>
            </p:txBody>
          </p:sp>
        </p:grpSp>
        <p:sp>
          <p:nvSpPr>
            <p:cNvPr id="22" name="Line 43"/>
            <p:cNvSpPr>
              <a:spLocks noChangeShapeType="1"/>
            </p:cNvSpPr>
            <p:nvPr/>
          </p:nvSpPr>
          <p:spPr bwMode="auto">
            <a:xfrm flipV="1">
              <a:off x="1056" y="1152"/>
              <a:ext cx="1968" cy="1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3" name="Line 44"/>
            <p:cNvSpPr>
              <a:spLocks noChangeShapeType="1"/>
            </p:cNvSpPr>
            <p:nvPr/>
          </p:nvSpPr>
          <p:spPr bwMode="auto">
            <a:xfrm>
              <a:off x="912" y="2496"/>
              <a:ext cx="2112" cy="9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</p:grpSp>
      <p:grpSp>
        <p:nvGrpSpPr>
          <p:cNvPr id="35" name="Group 48"/>
          <p:cNvGrpSpPr>
            <a:grpSpLocks/>
          </p:cNvGrpSpPr>
          <p:nvPr/>
        </p:nvGrpSpPr>
        <p:grpSpPr bwMode="auto">
          <a:xfrm>
            <a:off x="5517373" y="1940861"/>
            <a:ext cx="3318502" cy="3763531"/>
            <a:chOff x="1680" y="1152"/>
            <a:chExt cx="3371" cy="2637"/>
          </a:xfrm>
        </p:grpSpPr>
        <p:grpSp>
          <p:nvGrpSpPr>
            <p:cNvPr id="36" name="Group 41"/>
            <p:cNvGrpSpPr>
              <a:grpSpLocks/>
            </p:cNvGrpSpPr>
            <p:nvPr/>
          </p:nvGrpSpPr>
          <p:grpSpPr bwMode="auto">
            <a:xfrm>
              <a:off x="3264" y="1152"/>
              <a:ext cx="1787" cy="2637"/>
              <a:chOff x="3936" y="1152"/>
              <a:chExt cx="1787" cy="2637"/>
            </a:xfrm>
          </p:grpSpPr>
          <p:sp>
            <p:nvSpPr>
              <p:cNvPr id="39" name="Rectangle 29"/>
              <p:cNvSpPr>
                <a:spLocks noChangeArrowheads="1"/>
              </p:cNvSpPr>
              <p:nvPr/>
            </p:nvSpPr>
            <p:spPr bwMode="auto">
              <a:xfrm>
                <a:off x="3936" y="1152"/>
                <a:ext cx="1680" cy="230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600">
                  <a:solidFill>
                    <a:srgbClr val="0066FF"/>
                  </a:solidFill>
                </a:endParaRPr>
              </a:p>
            </p:txBody>
          </p:sp>
          <p:sp>
            <p:nvSpPr>
              <p:cNvPr id="40" name="Text Box 30"/>
              <p:cNvSpPr txBox="1">
                <a:spLocks noChangeArrowheads="1"/>
              </p:cNvSpPr>
              <p:nvPr/>
            </p:nvSpPr>
            <p:spPr bwMode="auto">
              <a:xfrm>
                <a:off x="4502" y="1274"/>
                <a:ext cx="570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spec</a:t>
                </a:r>
              </a:p>
            </p:txBody>
          </p:sp>
          <p:sp>
            <p:nvSpPr>
              <p:cNvPr id="41" name="Text Box 31"/>
              <p:cNvSpPr txBox="1">
                <a:spLocks noChangeArrowheads="1"/>
              </p:cNvSpPr>
              <p:nvPr/>
            </p:nvSpPr>
            <p:spPr bwMode="auto">
              <a:xfrm>
                <a:off x="4080" y="1680"/>
                <a:ext cx="1643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SW architecture</a:t>
                </a:r>
              </a:p>
            </p:txBody>
          </p:sp>
          <p:sp>
            <p:nvSpPr>
              <p:cNvPr id="42" name="Text Box 32"/>
              <p:cNvSpPr txBox="1">
                <a:spLocks noChangeArrowheads="1"/>
              </p:cNvSpPr>
              <p:nvPr/>
            </p:nvSpPr>
            <p:spPr bwMode="auto">
              <a:xfrm>
                <a:off x="4176" y="2160"/>
                <a:ext cx="1516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detailed design</a:t>
                </a:r>
              </a:p>
            </p:txBody>
          </p:sp>
          <p:sp>
            <p:nvSpPr>
              <p:cNvPr id="43" name="Text Box 33"/>
              <p:cNvSpPr txBox="1">
                <a:spLocks noChangeArrowheads="1"/>
              </p:cNvSpPr>
              <p:nvPr/>
            </p:nvSpPr>
            <p:spPr bwMode="auto">
              <a:xfrm>
                <a:off x="4310" y="2666"/>
                <a:ext cx="1174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integration</a:t>
                </a:r>
              </a:p>
            </p:txBody>
          </p:sp>
          <p:sp>
            <p:nvSpPr>
              <p:cNvPr id="44" name="Text Box 34"/>
              <p:cNvSpPr txBox="1">
                <a:spLocks noChangeArrowheads="1"/>
              </p:cNvSpPr>
              <p:nvPr/>
            </p:nvSpPr>
            <p:spPr bwMode="auto">
              <a:xfrm>
                <a:off x="4608" y="3072"/>
                <a:ext cx="502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test</a:t>
                </a:r>
              </a:p>
            </p:txBody>
          </p:sp>
          <p:sp>
            <p:nvSpPr>
              <p:cNvPr id="45" name="Line 35"/>
              <p:cNvSpPr>
                <a:spLocks noChangeShapeType="1"/>
              </p:cNvSpPr>
              <p:nvPr/>
            </p:nvSpPr>
            <p:spPr bwMode="auto">
              <a:xfrm>
                <a:off x="4752" y="153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6" name="Line 36"/>
              <p:cNvSpPr>
                <a:spLocks noChangeShapeType="1"/>
              </p:cNvSpPr>
              <p:nvPr/>
            </p:nvSpPr>
            <p:spPr bwMode="auto">
              <a:xfrm>
                <a:off x="4752" y="196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7" name="Line 37"/>
              <p:cNvSpPr>
                <a:spLocks noChangeShapeType="1"/>
              </p:cNvSpPr>
              <p:nvPr/>
            </p:nvSpPr>
            <p:spPr bwMode="auto">
              <a:xfrm>
                <a:off x="4752" y="244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8" name="Line 38"/>
              <p:cNvSpPr>
                <a:spLocks noChangeShapeType="1"/>
              </p:cNvSpPr>
              <p:nvPr/>
            </p:nvSpPr>
            <p:spPr bwMode="auto">
              <a:xfrm>
                <a:off x="4752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 sz="1600"/>
              </a:p>
            </p:txBody>
          </p:sp>
          <p:sp>
            <p:nvSpPr>
              <p:cNvPr id="49" name="Text Box 39"/>
              <p:cNvSpPr txBox="1">
                <a:spLocks noChangeArrowheads="1"/>
              </p:cNvSpPr>
              <p:nvPr/>
            </p:nvSpPr>
            <p:spPr bwMode="auto">
              <a:xfrm>
                <a:off x="4416" y="3552"/>
                <a:ext cx="949" cy="2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>
                    <a:solidFill>
                      <a:srgbClr val="0066FF"/>
                    </a:solidFill>
                  </a:rPr>
                  <a:t>software</a:t>
                </a:r>
                <a:endParaRPr lang="en-US" sz="1600"/>
              </a:p>
            </p:txBody>
          </p:sp>
        </p:grp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 flipV="1">
              <a:off x="1680" y="1152"/>
              <a:ext cx="1584" cy="1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8" name="Line 47"/>
            <p:cNvSpPr>
              <a:spLocks noChangeShapeType="1"/>
            </p:cNvSpPr>
            <p:nvPr/>
          </p:nvSpPr>
          <p:spPr bwMode="auto">
            <a:xfrm>
              <a:off x="1680" y="2496"/>
              <a:ext cx="1584" cy="96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</p:grpSp>
    </p:spTree>
    <p:extLst>
      <p:ext uri="{BB962C8B-B14F-4D97-AF65-F5344CB8AC3E}">
        <p14:creationId xmlns="" xmlns:p14="http://schemas.microsoft.com/office/powerpoint/2010/main" val="420712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Concurrent engineering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smtClean="0"/>
              <a:t>Large projects use many people from multiple disciplines.</a:t>
            </a:r>
          </a:p>
          <a:p>
            <a:r>
              <a:rPr lang="en-US" sz="2000" smtClean="0"/>
              <a:t>Work on several tasks at once to reduce design time.</a:t>
            </a:r>
          </a:p>
          <a:p>
            <a:r>
              <a:rPr lang="en-US" sz="2000" smtClean="0"/>
              <a:t>Feedback between tasks helps improve quality, reduce number of later design problems.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/>
              <a:t>Techniques:</a:t>
            </a:r>
          </a:p>
          <a:p>
            <a:r>
              <a:rPr lang="en-US" sz="2000" dirty="0" smtClean="0"/>
              <a:t>Cross-functional teams.</a:t>
            </a:r>
          </a:p>
          <a:p>
            <a:r>
              <a:rPr lang="en-US" sz="2000" dirty="0" smtClean="0"/>
              <a:t>Concurrent product realization.</a:t>
            </a:r>
          </a:p>
          <a:p>
            <a:r>
              <a:rPr lang="en-US" sz="2000" dirty="0" smtClean="0"/>
              <a:t>Incremental information sharing.</a:t>
            </a:r>
          </a:p>
          <a:p>
            <a:r>
              <a:rPr lang="en-US" sz="2000" dirty="0" smtClean="0"/>
              <a:t>Integrated product management.</a:t>
            </a:r>
          </a:p>
          <a:p>
            <a:r>
              <a:rPr lang="en-US" sz="2000" dirty="0" smtClean="0"/>
              <a:t>Supplier involvement.</a:t>
            </a:r>
          </a:p>
          <a:p>
            <a:r>
              <a:rPr lang="en-US" sz="2000" dirty="0" smtClean="0"/>
              <a:t>Customer focus.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67177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"/>
          </a:xfrm>
        </p:spPr>
        <p:txBody>
          <a:bodyPr/>
          <a:lstStyle/>
          <a:p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</a:rPr>
              <a:t>Prius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</a:rPr>
              <a:t> Brake Problems Blamed on Software Glitches</a:t>
            </a:r>
          </a:p>
        </p:txBody>
      </p:sp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533400" y="3810000"/>
            <a:ext cx="83058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chemeClr val="tx1"/>
                </a:solidFill>
              </a:rPr>
              <a:t>“Toyota officials described the problem as a "disconnect" in the vehicle's complex anti-lock brake system (ABS) that causes less than a one-second lag. With the delay, a vehicle going 60 mph will have traveled nearly another 90 feet before the brakes begin to take hold”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>
                <a:solidFill>
                  <a:srgbClr val="000099"/>
                </a:solidFill>
              </a:rPr>
              <a:t>	CNN Feb 4, </a:t>
            </a:r>
            <a:r>
              <a:rPr lang="en-US" sz="2000" dirty="0" smtClean="0">
                <a:solidFill>
                  <a:srgbClr val="000099"/>
                </a:solidFill>
              </a:rPr>
              <a:t>2010</a:t>
            </a:r>
            <a:endParaRPr lang="en-US" sz="2000" dirty="0">
              <a:solidFill>
                <a:srgbClr val="000099"/>
              </a:solidFill>
            </a:endParaRPr>
          </a:p>
        </p:txBody>
      </p:sp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1066800"/>
            <a:ext cx="3657600" cy="2382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Let’s Design a Cruise Controller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34818" name="Picture 2" descr="http://upload.wikimedia.org/wikipedia/commons/thumb/0/0f/2000_Jeep_Steering_Wheel.jpg/250px-2000_Jeep_Steering_Whe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7048" y="1770888"/>
            <a:ext cx="3200400" cy="2406702"/>
          </a:xfrm>
          <a:prstGeom prst="rect">
            <a:avLst/>
          </a:prstGeom>
          <a:noFill/>
        </p:spPr>
      </p:pic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762000" y="4648200"/>
            <a:ext cx="77724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What’s the goal of a cruise controller?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Automatically adjust the speed of the car so that it matches the speed desired by the driver </a:t>
            </a:r>
            <a:endParaRPr lang="en-US" sz="2000" dirty="0">
              <a:solidFill>
                <a:srgbClr val="000099"/>
              </a:solidFill>
            </a:endParaRPr>
          </a:p>
        </p:txBody>
      </p:sp>
      <p:pic>
        <p:nvPicPr>
          <p:cNvPr id="9" name="Picture 8" descr="t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430" y="1664208"/>
            <a:ext cx="2501286" cy="32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52600" y="1814272"/>
            <a:ext cx="2438400" cy="1600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031511" y="2414317"/>
            <a:ext cx="1880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/>
              <a:t>CruiseController</a:t>
            </a:r>
            <a:endParaRPr lang="en-US" sz="2000" dirty="0"/>
          </a:p>
        </p:txBody>
      </p: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Block Diagrams of High-Level Design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762000" y="4648200"/>
            <a:ext cx="7772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How does this component interact with the rest of the world ?</a:t>
            </a:r>
          </a:p>
        </p:txBody>
      </p:sp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6" name="AutoShape 6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2179638"/>
            <a:ext cx="6810375" cy="45434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55"/>
          <p:cNvGrpSpPr/>
          <p:nvPr/>
        </p:nvGrpSpPr>
        <p:grpSpPr>
          <a:xfrm>
            <a:off x="4343400" y="1676400"/>
            <a:ext cx="4429125" cy="1875945"/>
            <a:chOff x="4343400" y="1676400"/>
            <a:chExt cx="4429125" cy="1875945"/>
          </a:xfrm>
        </p:grpSpPr>
        <p:pic>
          <p:nvPicPr>
            <p:cNvPr id="35848" name="Picture 8" descr="https://encrypted-tbn3.gstatic.com/images?q=tbn:ANd9GcQ6f4T6M1p3EuxZuQV9JTqiO70M5RpnD_K4qcqMCONuRuT9C3x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943600" y="1676400"/>
              <a:ext cx="2828925" cy="1875945"/>
            </a:xfrm>
            <a:prstGeom prst="rect">
              <a:avLst/>
            </a:prstGeom>
            <a:noFill/>
          </p:spPr>
        </p:pic>
        <p:sp>
          <p:nvSpPr>
            <p:cNvPr id="53" name="Right Arrow 52"/>
            <p:cNvSpPr/>
            <p:nvPr/>
          </p:nvSpPr>
          <p:spPr bwMode="auto">
            <a:xfrm flipH="1">
              <a:off x="4343400" y="2423872"/>
              <a:ext cx="1219200" cy="381000"/>
            </a:xfrm>
            <a:prstGeom prst="rightArrow">
              <a:avLst/>
            </a:prstGeom>
            <a:solidFill>
              <a:srgbClr val="FFFF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Comic Sans MS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52600" y="1821536"/>
            <a:ext cx="2438400" cy="1600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031511" y="2421581"/>
            <a:ext cx="1880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/>
              <a:t>CruiseController</a:t>
            </a:r>
            <a:endParaRPr lang="en-US" sz="2000" dirty="0"/>
          </a:p>
        </p:txBody>
      </p: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Interfaces for Components: Inputs and Outputs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609600" y="4267200"/>
            <a:ext cx="85344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Driver interacts with the system using 4 buttons: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	Cruise button to turn the cruise on or off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	Pause button to suspend/restart its operation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	Inc and Dec buttons to increment or decrement desired speed</a:t>
            </a:r>
          </a:p>
        </p:txBody>
      </p:sp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27"/>
          <p:cNvGrpSpPr/>
          <p:nvPr/>
        </p:nvGrpSpPr>
        <p:grpSpPr>
          <a:xfrm>
            <a:off x="4191000" y="1676400"/>
            <a:ext cx="1828800" cy="1600200"/>
            <a:chOff x="4191000" y="1676400"/>
            <a:chExt cx="1828800" cy="16002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H="1">
              <a:off x="4191000" y="20574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Box 22"/>
            <p:cNvSpPr txBox="1"/>
            <p:nvPr/>
          </p:nvSpPr>
          <p:spPr>
            <a:xfrm>
              <a:off x="4533900" y="16764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cruise</a:t>
              </a:r>
              <a:endParaRPr lang="en-US" sz="1800" dirty="0"/>
            </a:p>
          </p:txBody>
        </p:sp>
        <p:cxnSp>
          <p:nvCxnSpPr>
            <p:cNvPr id="34" name="Straight Arrow Connector 33"/>
            <p:cNvCxnSpPr/>
            <p:nvPr/>
          </p:nvCxnSpPr>
          <p:spPr bwMode="auto">
            <a:xfrm flipH="1">
              <a:off x="4191000" y="26670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4343400" y="2286000"/>
              <a:ext cx="1524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</a:t>
              </a:r>
              <a:endParaRPr lang="en-US" sz="1800" dirty="0"/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 flipH="1">
              <a:off x="4191000" y="3276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4533900" y="2895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</p:grpSp>
      <p:grpSp>
        <p:nvGrpSpPr>
          <p:cNvPr id="3" name="Group 21"/>
          <p:cNvGrpSpPr/>
          <p:nvPr/>
        </p:nvGrpSpPr>
        <p:grpSpPr>
          <a:xfrm>
            <a:off x="6019800" y="1828800"/>
            <a:ext cx="1757477" cy="1600200"/>
            <a:chOff x="6019800" y="1828800"/>
            <a:chExt cx="1757477" cy="1600200"/>
          </a:xfrm>
        </p:grpSpPr>
        <p:sp>
          <p:nvSpPr>
            <p:cNvPr id="16" name="Rectangle 15"/>
            <p:cNvSpPr/>
            <p:nvPr/>
          </p:nvSpPr>
          <p:spPr>
            <a:xfrm>
              <a:off x="6019800" y="1828800"/>
              <a:ext cx="1752600" cy="16002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62700" y="2428845"/>
              <a:ext cx="106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Driver</a:t>
              </a:r>
              <a:endParaRPr lang="en-US" sz="2000" dirty="0"/>
            </a:p>
          </p:txBody>
        </p:sp>
        <p:pic>
          <p:nvPicPr>
            <p:cNvPr id="39" name="Picture 8" descr="https://encrypted-tbn3.gstatic.com/images?q=tbn:ANd9GcQ6f4T6M1p3EuxZuQV9JTqiO70M5RpnD_K4qcqMCONuRuT9C3x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0" y="1828800"/>
              <a:ext cx="919277" cy="6096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8000" y="1828800"/>
            <a:ext cx="2438400" cy="1600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326911" y="2428845"/>
            <a:ext cx="1880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/>
              <a:t>CruiseController</a:t>
            </a:r>
            <a:endParaRPr lang="en-US" sz="2000" dirty="0"/>
          </a:p>
        </p:txBody>
      </p:sp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Interfaces for Components: Inputs and Outputs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838200" y="4267200"/>
            <a:ext cx="7239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What other information does the cruise-controller need ?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 And who supplies it?</a:t>
            </a:r>
          </a:p>
        </p:txBody>
      </p:sp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8"/>
          <p:cNvGrpSpPr/>
          <p:nvPr/>
        </p:nvGrpSpPr>
        <p:grpSpPr>
          <a:xfrm>
            <a:off x="152400" y="1828799"/>
            <a:ext cx="1600200" cy="1641932"/>
            <a:chOff x="228600" y="1863267"/>
            <a:chExt cx="1600200" cy="1641932"/>
          </a:xfrm>
        </p:grpSpPr>
        <p:sp>
          <p:nvSpPr>
            <p:cNvPr id="24" name="Rectangle 23"/>
            <p:cNvSpPr/>
            <p:nvPr/>
          </p:nvSpPr>
          <p:spPr>
            <a:xfrm>
              <a:off x="228600" y="1863267"/>
              <a:ext cx="1600200" cy="16419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8600" y="2484178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Speedometer</a:t>
              </a:r>
              <a:endParaRPr lang="en-US" sz="2000" dirty="0"/>
            </a:p>
          </p:txBody>
        </p:sp>
      </p:grpSp>
      <p:grpSp>
        <p:nvGrpSpPr>
          <p:cNvPr id="3" name="Group 39"/>
          <p:cNvGrpSpPr/>
          <p:nvPr/>
        </p:nvGrpSpPr>
        <p:grpSpPr>
          <a:xfrm>
            <a:off x="1752600" y="2251532"/>
            <a:ext cx="1295400" cy="381000"/>
            <a:chOff x="1828800" y="2286000"/>
            <a:chExt cx="1295400" cy="381000"/>
          </a:xfrm>
        </p:grpSpPr>
        <p:cxnSp>
          <p:nvCxnSpPr>
            <p:cNvPr id="27" name="Straight Arrow Connector 26"/>
            <p:cNvCxnSpPr/>
            <p:nvPr/>
          </p:nvCxnSpPr>
          <p:spPr bwMode="auto">
            <a:xfrm flipH="1">
              <a:off x="1828800" y="2667000"/>
              <a:ext cx="12954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1905000" y="22860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grpSp>
        <p:nvGrpSpPr>
          <p:cNvPr id="4" name="Group 40"/>
          <p:cNvGrpSpPr/>
          <p:nvPr/>
        </p:nvGrpSpPr>
        <p:grpSpPr>
          <a:xfrm>
            <a:off x="5481523" y="1641932"/>
            <a:ext cx="1828800" cy="1600200"/>
            <a:chOff x="4191000" y="1676400"/>
            <a:chExt cx="1828800" cy="1600200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 flipH="1">
              <a:off x="4191000" y="20574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>
              <a:off x="4533900" y="16764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cruise</a:t>
              </a:r>
              <a:endParaRPr lang="en-US" sz="1800" dirty="0"/>
            </a:p>
          </p:txBody>
        </p:sp>
        <p:cxnSp>
          <p:nvCxnSpPr>
            <p:cNvPr id="44" name="Straight Arrow Connector 43"/>
            <p:cNvCxnSpPr/>
            <p:nvPr/>
          </p:nvCxnSpPr>
          <p:spPr bwMode="auto">
            <a:xfrm flipH="1">
              <a:off x="4191000" y="26670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4343400" y="2286000"/>
              <a:ext cx="1524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</a:t>
              </a:r>
              <a:endParaRPr lang="en-US" sz="1800" dirty="0"/>
            </a:p>
          </p:txBody>
        </p:sp>
        <p:cxnSp>
          <p:nvCxnSpPr>
            <p:cNvPr id="46" name="Straight Arrow Connector 45"/>
            <p:cNvCxnSpPr/>
            <p:nvPr/>
          </p:nvCxnSpPr>
          <p:spPr bwMode="auto">
            <a:xfrm flipH="1">
              <a:off x="4191000" y="3276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4533900" y="2895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</p:grpSp>
      <p:grpSp>
        <p:nvGrpSpPr>
          <p:cNvPr id="5" name="Group 47"/>
          <p:cNvGrpSpPr/>
          <p:nvPr/>
        </p:nvGrpSpPr>
        <p:grpSpPr>
          <a:xfrm>
            <a:off x="7310323" y="1794332"/>
            <a:ext cx="1757477" cy="1600200"/>
            <a:chOff x="6019800" y="1828800"/>
            <a:chExt cx="1757477" cy="1600200"/>
          </a:xfrm>
        </p:grpSpPr>
        <p:sp>
          <p:nvSpPr>
            <p:cNvPr id="49" name="Rectangle 48"/>
            <p:cNvSpPr/>
            <p:nvPr/>
          </p:nvSpPr>
          <p:spPr>
            <a:xfrm>
              <a:off x="6019800" y="1828800"/>
              <a:ext cx="1752600" cy="16002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62700" y="2428845"/>
              <a:ext cx="106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Driver</a:t>
              </a:r>
              <a:endParaRPr lang="en-US" sz="2000" dirty="0"/>
            </a:p>
          </p:txBody>
        </p:sp>
        <p:pic>
          <p:nvPicPr>
            <p:cNvPr id="51" name="Picture 8" descr="https://encrypted-tbn3.gstatic.com/images?q=tbn:ANd9GcQ6f4T6M1p3EuxZuQV9JTqiO70M5RpnD_K4qcqMCONuRuT9C3x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0" y="1828800"/>
              <a:ext cx="919277" cy="6096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Interfaces for Components: Inputs and Outputs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838200" y="4648200"/>
            <a:ext cx="7239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What should be the outputs of the cruise controller?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And who needs these outputs?</a:t>
            </a:r>
          </a:p>
        </p:txBody>
      </p:sp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048000" y="1828800"/>
            <a:ext cx="2438400" cy="16002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326911" y="2428845"/>
            <a:ext cx="1880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 smtClean="0"/>
              <a:t>CruiseController</a:t>
            </a:r>
            <a:endParaRPr lang="en-US" sz="2000" dirty="0"/>
          </a:p>
        </p:txBody>
      </p:sp>
      <p:grpSp>
        <p:nvGrpSpPr>
          <p:cNvPr id="2" name="Group 39"/>
          <p:cNvGrpSpPr/>
          <p:nvPr/>
        </p:nvGrpSpPr>
        <p:grpSpPr>
          <a:xfrm>
            <a:off x="152400" y="1828799"/>
            <a:ext cx="1600200" cy="1641932"/>
            <a:chOff x="228600" y="1863267"/>
            <a:chExt cx="1600200" cy="1641932"/>
          </a:xfrm>
        </p:grpSpPr>
        <p:sp>
          <p:nvSpPr>
            <p:cNvPr id="41" name="Rectangle 40"/>
            <p:cNvSpPr/>
            <p:nvPr/>
          </p:nvSpPr>
          <p:spPr>
            <a:xfrm>
              <a:off x="228600" y="1863267"/>
              <a:ext cx="1600200" cy="16419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600" y="2484178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Speedometer</a:t>
              </a:r>
              <a:endParaRPr lang="en-US" sz="2000" dirty="0"/>
            </a:p>
          </p:txBody>
        </p:sp>
      </p:grpSp>
      <p:grpSp>
        <p:nvGrpSpPr>
          <p:cNvPr id="3" name="Group 42"/>
          <p:cNvGrpSpPr/>
          <p:nvPr/>
        </p:nvGrpSpPr>
        <p:grpSpPr>
          <a:xfrm>
            <a:off x="1752600" y="2251532"/>
            <a:ext cx="1295400" cy="381000"/>
            <a:chOff x="1828800" y="2286000"/>
            <a:chExt cx="1295400" cy="381000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H="1">
              <a:off x="1828800" y="2667000"/>
              <a:ext cx="12954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905000" y="22860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grpSp>
        <p:nvGrpSpPr>
          <p:cNvPr id="4" name="Group 45"/>
          <p:cNvGrpSpPr/>
          <p:nvPr/>
        </p:nvGrpSpPr>
        <p:grpSpPr>
          <a:xfrm>
            <a:off x="5481523" y="1641932"/>
            <a:ext cx="1828800" cy="1600200"/>
            <a:chOff x="4191000" y="1676400"/>
            <a:chExt cx="1828800" cy="1600200"/>
          </a:xfrm>
        </p:grpSpPr>
        <p:cxnSp>
          <p:nvCxnSpPr>
            <p:cNvPr id="47" name="Straight Arrow Connector 46"/>
            <p:cNvCxnSpPr/>
            <p:nvPr/>
          </p:nvCxnSpPr>
          <p:spPr bwMode="auto">
            <a:xfrm flipH="1">
              <a:off x="4191000" y="20574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4533900" y="16764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cruise</a:t>
              </a:r>
              <a:endParaRPr lang="en-US" sz="1800" dirty="0"/>
            </a:p>
          </p:txBody>
        </p:sp>
        <p:cxnSp>
          <p:nvCxnSpPr>
            <p:cNvPr id="49" name="Straight Arrow Connector 48"/>
            <p:cNvCxnSpPr/>
            <p:nvPr/>
          </p:nvCxnSpPr>
          <p:spPr bwMode="auto">
            <a:xfrm flipH="1">
              <a:off x="4191000" y="26670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0" name="TextBox 49"/>
            <p:cNvSpPr txBox="1"/>
            <p:nvPr/>
          </p:nvSpPr>
          <p:spPr>
            <a:xfrm>
              <a:off x="4343400" y="2286000"/>
              <a:ext cx="1524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</a:t>
              </a:r>
              <a:endParaRPr lang="en-US" sz="1800" dirty="0"/>
            </a:p>
          </p:txBody>
        </p:sp>
        <p:cxnSp>
          <p:nvCxnSpPr>
            <p:cNvPr id="51" name="Straight Arrow Connector 50"/>
            <p:cNvCxnSpPr/>
            <p:nvPr/>
          </p:nvCxnSpPr>
          <p:spPr bwMode="auto">
            <a:xfrm flipH="1">
              <a:off x="4191000" y="3276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4533900" y="2895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</p:grpSp>
      <p:grpSp>
        <p:nvGrpSpPr>
          <p:cNvPr id="5" name="Group 53"/>
          <p:cNvGrpSpPr/>
          <p:nvPr/>
        </p:nvGrpSpPr>
        <p:grpSpPr>
          <a:xfrm>
            <a:off x="7310323" y="1794332"/>
            <a:ext cx="1757477" cy="1600200"/>
            <a:chOff x="6019800" y="1828800"/>
            <a:chExt cx="1757477" cy="1600200"/>
          </a:xfrm>
        </p:grpSpPr>
        <p:sp>
          <p:nvSpPr>
            <p:cNvPr id="55" name="Rectangle 54"/>
            <p:cNvSpPr/>
            <p:nvPr/>
          </p:nvSpPr>
          <p:spPr>
            <a:xfrm>
              <a:off x="6019800" y="1828800"/>
              <a:ext cx="1752600" cy="16002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362700" y="2428845"/>
              <a:ext cx="1066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Driver</a:t>
              </a:r>
              <a:endParaRPr lang="en-US" sz="2000" dirty="0"/>
            </a:p>
          </p:txBody>
        </p:sp>
        <p:pic>
          <p:nvPicPr>
            <p:cNvPr id="57" name="Picture 8" descr="https://encrypted-tbn3.gstatic.com/images?q=tbn:ANd9GcQ6f4T6M1p3EuxZuQV9JTqiO70M5RpnD_K4qcqMCONuRuT9C3x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0" y="1828800"/>
              <a:ext cx="919277" cy="6096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508000" y="1548244"/>
            <a:ext cx="7898250" cy="4821383"/>
            <a:chOff x="-162091" y="0"/>
            <a:chExt cx="9006168" cy="6096001"/>
          </a:xfrm>
        </p:grpSpPr>
        <p:grpSp>
          <p:nvGrpSpPr>
            <p:cNvPr id="2" name="Group 18"/>
            <p:cNvGrpSpPr/>
            <p:nvPr/>
          </p:nvGrpSpPr>
          <p:grpSpPr>
            <a:xfrm>
              <a:off x="3048000" y="2286000"/>
              <a:ext cx="2438400" cy="1600200"/>
              <a:chOff x="3505199" y="2971800"/>
              <a:chExt cx="1828800" cy="12192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505199" y="2971800"/>
                <a:ext cx="1828800" cy="121920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716907" y="3436257"/>
                <a:ext cx="1410434" cy="304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err="1" smtClean="0"/>
                  <a:t>CruiseController</a:t>
                </a:r>
                <a:endParaRPr lang="en-US" sz="2000" dirty="0"/>
              </a:p>
            </p:txBody>
          </p:sp>
        </p:grpSp>
        <p:grpSp>
          <p:nvGrpSpPr>
            <p:cNvPr id="3" name="Group 18"/>
            <p:cNvGrpSpPr/>
            <p:nvPr/>
          </p:nvGrpSpPr>
          <p:grpSpPr>
            <a:xfrm>
              <a:off x="7315200" y="2251532"/>
              <a:ext cx="1524000" cy="1600200"/>
              <a:chOff x="3505199" y="2971800"/>
              <a:chExt cx="1590261" cy="12192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505199" y="2971800"/>
                <a:ext cx="1590261" cy="121920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823251" y="3436257"/>
                <a:ext cx="1113183" cy="304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Driver</a:t>
                </a:r>
                <a:endParaRPr lang="en-US" sz="2000" dirty="0"/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 bwMode="auto">
            <a:xfrm flipH="1">
              <a:off x="5486400" y="2480132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Box 22"/>
            <p:cNvSpPr txBox="1"/>
            <p:nvPr/>
          </p:nvSpPr>
          <p:spPr>
            <a:xfrm>
              <a:off x="5829300" y="2099132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cruise</a:t>
              </a:r>
              <a:endParaRPr lang="en-US" sz="1800" dirty="0"/>
            </a:p>
          </p:txBody>
        </p:sp>
        <p:cxnSp>
          <p:nvCxnSpPr>
            <p:cNvPr id="34" name="Straight Arrow Connector 33"/>
            <p:cNvCxnSpPr/>
            <p:nvPr/>
          </p:nvCxnSpPr>
          <p:spPr bwMode="auto">
            <a:xfrm flipH="1">
              <a:off x="5486400" y="3089732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5676900" y="2708732"/>
              <a:ext cx="14478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</a:t>
              </a:r>
              <a:endParaRPr lang="en-US" sz="1800" dirty="0"/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 flipH="1">
              <a:off x="5486400" y="3699332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5829300" y="3318332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-162091" y="2286000"/>
              <a:ext cx="1914692" cy="1641932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-79340" y="2906912"/>
              <a:ext cx="1908140" cy="505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Speedometer</a:t>
              </a:r>
              <a:endParaRPr lang="en-US" sz="2000" dirty="0"/>
            </a:p>
          </p:txBody>
        </p:sp>
        <p:grpSp>
          <p:nvGrpSpPr>
            <p:cNvPr id="4" name="Group 31"/>
            <p:cNvGrpSpPr/>
            <p:nvPr/>
          </p:nvGrpSpPr>
          <p:grpSpPr>
            <a:xfrm>
              <a:off x="1752600" y="2667000"/>
              <a:ext cx="1295400" cy="422732"/>
              <a:chOff x="4191000" y="1710868"/>
              <a:chExt cx="1295400" cy="422732"/>
            </a:xfrm>
          </p:grpSpPr>
          <p:cxnSp>
            <p:nvCxnSpPr>
              <p:cNvPr id="27" name="Straight Arrow Connector 26"/>
              <p:cNvCxnSpPr/>
              <p:nvPr/>
            </p:nvCxnSpPr>
            <p:spPr bwMode="auto">
              <a:xfrm flipH="1">
                <a:off x="4191000" y="2133600"/>
                <a:ext cx="1295400" cy="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arrow" w="med" len="med"/>
                <a:tailEnd type="none"/>
              </a:ln>
              <a:effectLst/>
            </p:spPr>
          </p:cxnSp>
          <p:sp>
            <p:nvSpPr>
              <p:cNvPr id="28" name="TextBox 27"/>
              <p:cNvSpPr txBox="1"/>
              <p:nvPr/>
            </p:nvSpPr>
            <p:spPr>
              <a:xfrm>
                <a:off x="4267200" y="1710868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smtClean="0"/>
                  <a:t>speed</a:t>
                </a:r>
                <a:endParaRPr lang="en-US" sz="1800" dirty="0"/>
              </a:p>
            </p:txBody>
          </p:sp>
        </p:grpSp>
        <p:pic>
          <p:nvPicPr>
            <p:cNvPr id="31" name="Picture 8" descr="https://encrypted-tbn3.gstatic.com/images?q=tbn:ANd9GcQ6f4T6M1p3EuxZuQV9JTqiO70M5RpnD_K4qcqMCONuRuT9C3xB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924800" y="2251532"/>
              <a:ext cx="919277" cy="609600"/>
            </a:xfrm>
            <a:prstGeom prst="rect">
              <a:avLst/>
            </a:prstGeom>
            <a:noFill/>
          </p:spPr>
        </p:pic>
        <p:grpSp>
          <p:nvGrpSpPr>
            <p:cNvPr id="5" name="Group 32"/>
            <p:cNvGrpSpPr/>
            <p:nvPr/>
          </p:nvGrpSpPr>
          <p:grpSpPr>
            <a:xfrm>
              <a:off x="3581400" y="4724400"/>
              <a:ext cx="1527444" cy="1371601"/>
              <a:chOff x="3962400" y="5181600"/>
              <a:chExt cx="1527444" cy="1371601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3962400" y="5257800"/>
                <a:ext cx="1524000" cy="1295401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255088" y="5181600"/>
                <a:ext cx="9878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/>
                  <a:t>Display </a:t>
                </a:r>
                <a:endParaRPr lang="en-US" sz="2000" dirty="0"/>
              </a:p>
            </p:txBody>
          </p:sp>
          <p:pic>
            <p:nvPicPr>
              <p:cNvPr id="36866" name="Picture 2" descr="https://encrypted-tbn2.gstatic.com/images?q=tbn:ANd9GcR4gtsqbitjgibv8LlTLo1QXTs4KHl0WrFR_LZb7O_hQKtmm_HV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62400" y="5601236"/>
                <a:ext cx="1527444" cy="951963"/>
              </a:xfrm>
              <a:prstGeom prst="rect">
                <a:avLst/>
              </a:prstGeom>
              <a:noFill/>
            </p:spPr>
          </p:pic>
        </p:grpSp>
        <p:cxnSp>
          <p:nvCxnSpPr>
            <p:cNvPr id="39" name="Straight Arrow Connector 38"/>
            <p:cNvCxnSpPr/>
            <p:nvPr/>
          </p:nvCxnSpPr>
          <p:spPr bwMode="auto">
            <a:xfrm flipV="1">
              <a:off x="4876800" y="3886200"/>
              <a:ext cx="0" cy="9144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4953000" y="41529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speed</a:t>
              </a:r>
              <a:endParaRPr lang="en-US" sz="1800" dirty="0"/>
            </a:p>
          </p:txBody>
        </p:sp>
        <p:cxnSp>
          <p:nvCxnSpPr>
            <p:cNvPr id="44" name="Straight Arrow Connector 43"/>
            <p:cNvCxnSpPr/>
            <p:nvPr/>
          </p:nvCxnSpPr>
          <p:spPr bwMode="auto">
            <a:xfrm flipV="1">
              <a:off x="3810000" y="3886200"/>
              <a:ext cx="0" cy="9144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057400" y="4158734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 smtClean="0"/>
                <a:t>DesiredSpeed</a:t>
              </a:r>
              <a:endParaRPr lang="en-US" sz="1800" dirty="0"/>
            </a:p>
          </p:txBody>
        </p:sp>
        <p:grpSp>
          <p:nvGrpSpPr>
            <p:cNvPr id="6" name="Group 50"/>
            <p:cNvGrpSpPr/>
            <p:nvPr/>
          </p:nvGrpSpPr>
          <p:grpSpPr>
            <a:xfrm>
              <a:off x="3505200" y="0"/>
              <a:ext cx="1447800" cy="1390710"/>
              <a:chOff x="6629400" y="5181600"/>
              <a:chExt cx="1447800" cy="1390710"/>
            </a:xfrm>
          </p:grpSpPr>
          <p:pic>
            <p:nvPicPr>
              <p:cNvPr id="36868" name="Picture 4" descr="Image Gallery: Car Safety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629400" y="5181600"/>
                <a:ext cx="1447800" cy="965201"/>
              </a:xfrm>
              <a:prstGeom prst="rect">
                <a:avLst/>
              </a:prstGeom>
              <a:noFill/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6629400" y="5181600"/>
                <a:ext cx="1447800" cy="1371601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6812873" y="6172200"/>
                <a:ext cx="10793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/>
                  <a:t>Throttle </a:t>
                </a:r>
                <a:endParaRPr lang="en-US" sz="2000" dirty="0"/>
              </a:p>
            </p:txBody>
          </p:sp>
        </p:grpSp>
        <p:grpSp>
          <p:nvGrpSpPr>
            <p:cNvPr id="7" name="Group 56"/>
            <p:cNvGrpSpPr/>
            <p:nvPr/>
          </p:nvGrpSpPr>
          <p:grpSpPr>
            <a:xfrm>
              <a:off x="4191000" y="1371600"/>
              <a:ext cx="1295400" cy="914400"/>
              <a:chOff x="4267200" y="1905000"/>
              <a:chExt cx="1295400" cy="914400"/>
            </a:xfrm>
          </p:grpSpPr>
          <p:cxnSp>
            <p:nvCxnSpPr>
              <p:cNvPr id="54" name="Straight Arrow Connector 53"/>
              <p:cNvCxnSpPr/>
              <p:nvPr/>
            </p:nvCxnSpPr>
            <p:spPr bwMode="auto">
              <a:xfrm flipV="1">
                <a:off x="4267200" y="1905000"/>
                <a:ext cx="0" cy="91440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6" name="TextBox 55"/>
              <p:cNvSpPr txBox="1"/>
              <p:nvPr/>
            </p:nvSpPr>
            <p:spPr>
              <a:xfrm>
                <a:off x="4419600" y="21336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Force</a:t>
                </a:r>
                <a:endParaRPr lang="en-US" sz="1800" dirty="0"/>
              </a:p>
            </p:txBody>
          </p:sp>
        </p:grp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Interfaces for Components: Inputs and Outputs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"/>
          <p:cNvGrpSpPr/>
          <p:nvPr/>
        </p:nvGrpSpPr>
        <p:grpSpPr>
          <a:xfrm>
            <a:off x="3276600" y="2296395"/>
            <a:ext cx="2438400" cy="1600200"/>
            <a:chOff x="3505199" y="2971800"/>
            <a:chExt cx="1828800" cy="1219200"/>
          </a:xfrm>
        </p:grpSpPr>
        <p:sp>
          <p:nvSpPr>
            <p:cNvPr id="9" name="Rectangle 8"/>
            <p:cNvSpPr/>
            <p:nvPr/>
          </p:nvSpPr>
          <p:spPr>
            <a:xfrm>
              <a:off x="3505199" y="2971800"/>
              <a:ext cx="1828800" cy="12192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16907" y="3436257"/>
              <a:ext cx="1410434" cy="3048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err="1" smtClean="0"/>
                <a:t>CruiseController</a:t>
              </a:r>
              <a:endParaRPr lang="en-US" sz="2000" dirty="0"/>
            </a:p>
          </p:txBody>
        </p:sp>
      </p:grpSp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31"/>
          <p:cNvGrpSpPr/>
          <p:nvPr/>
        </p:nvGrpSpPr>
        <p:grpSpPr>
          <a:xfrm>
            <a:off x="5715000" y="2109527"/>
            <a:ext cx="1828800" cy="381000"/>
            <a:chOff x="4191000" y="1752600"/>
            <a:chExt cx="1828800" cy="3810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H="1">
              <a:off x="4191000" y="2133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Box 22"/>
            <p:cNvSpPr txBox="1"/>
            <p:nvPr/>
          </p:nvSpPr>
          <p:spPr>
            <a:xfrm>
              <a:off x="44958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cruise</a:t>
              </a:r>
              <a:endParaRPr lang="en-US" sz="1800" dirty="0"/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5715000" y="2719127"/>
            <a:ext cx="1828800" cy="381000"/>
            <a:chOff x="4191000" y="1752600"/>
            <a:chExt cx="1828800" cy="381000"/>
          </a:xfrm>
        </p:grpSpPr>
        <p:cxnSp>
          <p:nvCxnSpPr>
            <p:cNvPr id="34" name="Straight Arrow Connector 33"/>
            <p:cNvCxnSpPr/>
            <p:nvPr/>
          </p:nvCxnSpPr>
          <p:spPr bwMode="auto">
            <a:xfrm flipH="1">
              <a:off x="4191000" y="2133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4191000" y="1752600"/>
              <a:ext cx="14478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</a:t>
              </a:r>
              <a:endParaRPr lang="en-US" sz="1800" dirty="0"/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5715000" y="3328727"/>
            <a:ext cx="1828800" cy="381000"/>
            <a:chOff x="4191000" y="1752600"/>
            <a:chExt cx="1828800" cy="381000"/>
          </a:xfrm>
        </p:grpSpPr>
        <p:cxnSp>
          <p:nvCxnSpPr>
            <p:cNvPr id="37" name="Straight Arrow Connector 36"/>
            <p:cNvCxnSpPr/>
            <p:nvPr/>
          </p:nvCxnSpPr>
          <p:spPr bwMode="auto">
            <a:xfrm flipH="1">
              <a:off x="4191000" y="2133600"/>
              <a:ext cx="1828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44958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1981200" y="2719127"/>
            <a:ext cx="1447800" cy="381000"/>
            <a:chOff x="4191000" y="1752600"/>
            <a:chExt cx="1447800" cy="381000"/>
          </a:xfrm>
        </p:grpSpPr>
        <p:cxnSp>
          <p:nvCxnSpPr>
            <p:cNvPr id="27" name="Straight Arrow Connector 26"/>
            <p:cNvCxnSpPr/>
            <p:nvPr/>
          </p:nvCxnSpPr>
          <p:spPr bwMode="auto">
            <a:xfrm flipH="1">
              <a:off x="4191000" y="2133600"/>
              <a:ext cx="12954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44958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cxnSp>
        <p:nvCxnSpPr>
          <p:cNvPr id="39" name="Straight Arrow Connector 38"/>
          <p:cNvCxnSpPr/>
          <p:nvPr/>
        </p:nvCxnSpPr>
        <p:spPr bwMode="auto">
          <a:xfrm flipV="1">
            <a:off x="5105400" y="3896595"/>
            <a:ext cx="0" cy="76200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181600" y="4163295"/>
            <a:ext cx="1143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speed</a:t>
            </a:r>
            <a:endParaRPr lang="en-US" sz="1800" dirty="0"/>
          </a:p>
        </p:txBody>
      </p:sp>
      <p:cxnSp>
        <p:nvCxnSpPr>
          <p:cNvPr id="44" name="Straight Arrow Connector 43"/>
          <p:cNvCxnSpPr/>
          <p:nvPr/>
        </p:nvCxnSpPr>
        <p:spPr bwMode="auto">
          <a:xfrm flipV="1">
            <a:off x="4038600" y="3896595"/>
            <a:ext cx="0" cy="76200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2286000" y="416912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 smtClean="0"/>
              <a:t>DesiredSpeed</a:t>
            </a:r>
            <a:endParaRPr lang="en-US" sz="1800" dirty="0"/>
          </a:p>
        </p:txBody>
      </p:sp>
      <p:grpSp>
        <p:nvGrpSpPr>
          <p:cNvPr id="7" name="Group 56"/>
          <p:cNvGrpSpPr/>
          <p:nvPr/>
        </p:nvGrpSpPr>
        <p:grpSpPr>
          <a:xfrm>
            <a:off x="4419600" y="1610595"/>
            <a:ext cx="1219200" cy="685800"/>
            <a:chOff x="4267200" y="2133600"/>
            <a:chExt cx="1219200" cy="685800"/>
          </a:xfrm>
        </p:grpSpPr>
        <p:cxnSp>
          <p:nvCxnSpPr>
            <p:cNvPr id="54" name="Straight Arrow Connector 53"/>
            <p:cNvCxnSpPr/>
            <p:nvPr/>
          </p:nvCxnSpPr>
          <p:spPr bwMode="auto">
            <a:xfrm flipV="1">
              <a:off x="4267200" y="21336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6" name="TextBox 55"/>
            <p:cNvSpPr txBox="1"/>
            <p:nvPr/>
          </p:nvSpPr>
          <p:spPr>
            <a:xfrm>
              <a:off x="4343400" y="22860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Force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Compositional Design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609600" y="5268195"/>
            <a:ext cx="7924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How to break up the </a:t>
            </a:r>
            <a:r>
              <a:rPr lang="en-US" sz="2000" dirty="0" smtClean="0"/>
              <a:t>computation</a:t>
            </a:r>
            <a:r>
              <a:rPr lang="en-US" sz="2000" dirty="0" smtClean="0">
                <a:solidFill>
                  <a:schemeClr val="tx1"/>
                </a:solidFill>
              </a:rPr>
              <a:t> of the cruise controller into subtasks?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Decomposing the Cruise Controller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1447800" y="1496290"/>
            <a:ext cx="5929745" cy="4294909"/>
            <a:chOff x="1447800" y="1143000"/>
            <a:chExt cx="6705600" cy="4648200"/>
          </a:xfrm>
        </p:grpSpPr>
        <p:sp>
          <p:nvSpPr>
            <p:cNvPr id="9" name="Rectangle 8"/>
            <p:cNvSpPr/>
            <p:nvPr/>
          </p:nvSpPr>
          <p:spPr>
            <a:xfrm>
              <a:off x="2590800" y="2209801"/>
              <a:ext cx="2743200" cy="2819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31"/>
            <p:cNvGrpSpPr/>
            <p:nvPr/>
          </p:nvGrpSpPr>
          <p:grpSpPr>
            <a:xfrm>
              <a:off x="4800600" y="3657600"/>
              <a:ext cx="2743200" cy="381000"/>
              <a:chOff x="3505200" y="1752600"/>
              <a:chExt cx="2743200" cy="381000"/>
            </a:xfrm>
          </p:grpSpPr>
          <p:cxnSp>
            <p:nvCxnSpPr>
              <p:cNvPr id="21" name="Straight Arrow Connector 20"/>
              <p:cNvCxnSpPr/>
              <p:nvPr/>
            </p:nvCxnSpPr>
            <p:spPr bwMode="auto">
              <a:xfrm flipH="1">
                <a:off x="3505200" y="2133600"/>
                <a:ext cx="1600200" cy="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23" name="TextBox 22"/>
              <p:cNvSpPr txBox="1"/>
              <p:nvPr/>
            </p:nvSpPr>
            <p:spPr>
              <a:xfrm>
                <a:off x="5105400" y="17526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cruise</a:t>
                </a:r>
                <a:endParaRPr lang="en-US" sz="1800" dirty="0"/>
              </a:p>
            </p:txBody>
          </p:sp>
        </p:grpSp>
        <p:cxnSp>
          <p:nvCxnSpPr>
            <p:cNvPr id="34" name="Straight Arrow Connector 33"/>
            <p:cNvCxnSpPr/>
            <p:nvPr/>
          </p:nvCxnSpPr>
          <p:spPr bwMode="auto">
            <a:xfrm flipH="1">
              <a:off x="4800600" y="4343400"/>
              <a:ext cx="16764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6477000" y="4114800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pause</a:t>
              </a:r>
              <a:endParaRPr lang="en-US" sz="1800" dirty="0"/>
            </a:p>
          </p:txBody>
        </p:sp>
        <p:grpSp>
          <p:nvGrpSpPr>
            <p:cNvPr id="3" name="Group 35"/>
            <p:cNvGrpSpPr/>
            <p:nvPr/>
          </p:nvGrpSpPr>
          <p:grpSpPr>
            <a:xfrm>
              <a:off x="4800600" y="4572000"/>
              <a:ext cx="2743200" cy="381000"/>
              <a:chOff x="3429000" y="1981200"/>
              <a:chExt cx="2743200" cy="381000"/>
            </a:xfrm>
          </p:grpSpPr>
          <p:cxnSp>
            <p:nvCxnSpPr>
              <p:cNvPr id="37" name="Straight Arrow Connector 36"/>
              <p:cNvCxnSpPr/>
              <p:nvPr/>
            </p:nvCxnSpPr>
            <p:spPr bwMode="auto">
              <a:xfrm flipH="1">
                <a:off x="3429000" y="1981200"/>
                <a:ext cx="1676400" cy="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38" name="TextBox 37"/>
              <p:cNvSpPr txBox="1"/>
              <p:nvPr/>
            </p:nvSpPr>
            <p:spPr>
              <a:xfrm>
                <a:off x="5029200" y="19812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inc/</a:t>
                </a:r>
                <a:r>
                  <a:rPr lang="en-US" sz="1800" dirty="0" err="1" smtClean="0"/>
                  <a:t>dec</a:t>
                </a:r>
                <a:endParaRPr lang="en-US" sz="1800" dirty="0"/>
              </a:p>
            </p:txBody>
          </p:sp>
        </p:grpSp>
        <p:grpSp>
          <p:nvGrpSpPr>
            <p:cNvPr id="4" name="Group 31"/>
            <p:cNvGrpSpPr/>
            <p:nvPr/>
          </p:nvGrpSpPr>
          <p:grpSpPr>
            <a:xfrm>
              <a:off x="1447800" y="3962400"/>
              <a:ext cx="1676400" cy="381000"/>
              <a:chOff x="4648200" y="1752600"/>
              <a:chExt cx="1676400" cy="381000"/>
            </a:xfrm>
          </p:grpSpPr>
          <p:cxnSp>
            <p:nvCxnSpPr>
              <p:cNvPr id="27" name="Straight Arrow Connector 26"/>
              <p:cNvCxnSpPr/>
              <p:nvPr/>
            </p:nvCxnSpPr>
            <p:spPr bwMode="auto">
              <a:xfrm flipH="1">
                <a:off x="4648200" y="2133600"/>
                <a:ext cx="1676400" cy="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arrow" w="med" len="med"/>
                <a:tailEnd type="none"/>
              </a:ln>
              <a:effectLst/>
            </p:spPr>
          </p:cxnSp>
          <p:sp>
            <p:nvSpPr>
              <p:cNvPr id="28" name="TextBox 27"/>
              <p:cNvSpPr txBox="1"/>
              <p:nvPr/>
            </p:nvSpPr>
            <p:spPr>
              <a:xfrm>
                <a:off x="4724400" y="17526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speed</a:t>
                </a:r>
                <a:endParaRPr lang="en-US" sz="1800" dirty="0"/>
              </a:p>
            </p:txBody>
          </p:sp>
        </p:grpSp>
        <p:grpSp>
          <p:nvGrpSpPr>
            <p:cNvPr id="5" name="Group 29"/>
            <p:cNvGrpSpPr/>
            <p:nvPr/>
          </p:nvGrpSpPr>
          <p:grpSpPr>
            <a:xfrm>
              <a:off x="1676400" y="4724400"/>
              <a:ext cx="4038600" cy="1066800"/>
              <a:chOff x="2286000" y="3124200"/>
              <a:chExt cx="4038600" cy="1066800"/>
            </a:xfrm>
          </p:grpSpPr>
          <p:cxnSp>
            <p:nvCxnSpPr>
              <p:cNvPr id="39" name="Straight Arrow Connector 38"/>
              <p:cNvCxnSpPr/>
              <p:nvPr/>
            </p:nvCxnSpPr>
            <p:spPr bwMode="auto">
              <a:xfrm flipV="1">
                <a:off x="5105400" y="3124200"/>
                <a:ext cx="0" cy="106680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arrow" w="med" len="med"/>
                <a:tailEnd type="none"/>
              </a:ln>
              <a:effectLst/>
            </p:spPr>
          </p:cxnSp>
          <p:sp>
            <p:nvSpPr>
              <p:cNvPr id="40" name="TextBox 39"/>
              <p:cNvSpPr txBox="1"/>
              <p:nvPr/>
            </p:nvSpPr>
            <p:spPr>
              <a:xfrm>
                <a:off x="5181600" y="36957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speed</a:t>
                </a:r>
                <a:endParaRPr lang="en-US" sz="1800" dirty="0"/>
              </a:p>
            </p:txBody>
          </p:sp>
          <p:cxnSp>
            <p:nvCxnSpPr>
              <p:cNvPr id="44" name="Straight Arrow Connector 43"/>
              <p:cNvCxnSpPr/>
              <p:nvPr/>
            </p:nvCxnSpPr>
            <p:spPr bwMode="auto">
              <a:xfrm flipV="1">
                <a:off x="4038600" y="3124200"/>
                <a:ext cx="0" cy="106680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arrow" w="med" len="med"/>
                <a:tailEnd type="none"/>
              </a:ln>
              <a:effectLst/>
            </p:spPr>
          </p:cxnSp>
          <p:sp>
            <p:nvSpPr>
              <p:cNvPr id="45" name="TextBox 44"/>
              <p:cNvSpPr txBox="1"/>
              <p:nvPr/>
            </p:nvSpPr>
            <p:spPr>
              <a:xfrm>
                <a:off x="2286000" y="3701534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err="1" smtClean="0"/>
                  <a:t>DesiredSpeed</a:t>
                </a:r>
                <a:endParaRPr lang="en-US" sz="1800" dirty="0"/>
              </a:p>
            </p:txBody>
          </p:sp>
        </p:grpSp>
        <p:grpSp>
          <p:nvGrpSpPr>
            <p:cNvPr id="6" name="Group 56"/>
            <p:cNvGrpSpPr/>
            <p:nvPr/>
          </p:nvGrpSpPr>
          <p:grpSpPr>
            <a:xfrm>
              <a:off x="4038600" y="1143000"/>
              <a:ext cx="1143000" cy="1295400"/>
              <a:chOff x="4343400" y="1981200"/>
              <a:chExt cx="1143000" cy="1295400"/>
            </a:xfrm>
          </p:grpSpPr>
          <p:cxnSp>
            <p:nvCxnSpPr>
              <p:cNvPr id="54" name="Straight Arrow Connector 53"/>
              <p:cNvCxnSpPr/>
              <p:nvPr/>
            </p:nvCxnSpPr>
            <p:spPr bwMode="auto">
              <a:xfrm flipV="1">
                <a:off x="4343400" y="1981200"/>
                <a:ext cx="0" cy="1295400"/>
              </a:xfrm>
              <a:prstGeom prst="straightConnector1">
                <a:avLst/>
              </a:prstGeom>
              <a:solidFill>
                <a:srgbClr val="333399"/>
              </a:solidFill>
              <a:ln w="25400" cap="flat" cmpd="sng" algn="ctr">
                <a:solidFill>
                  <a:srgbClr val="00206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6" name="TextBox 55"/>
              <p:cNvSpPr txBox="1"/>
              <p:nvPr/>
            </p:nvSpPr>
            <p:spPr>
              <a:xfrm>
                <a:off x="4343400" y="22860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 smtClean="0"/>
                  <a:t>Force</a:t>
                </a:r>
                <a:endParaRPr lang="en-US" sz="1800" dirty="0"/>
              </a:p>
            </p:txBody>
          </p:sp>
        </p:grpSp>
        <p:grpSp>
          <p:nvGrpSpPr>
            <p:cNvPr id="7" name="Group 32"/>
            <p:cNvGrpSpPr/>
            <p:nvPr/>
          </p:nvGrpSpPr>
          <p:grpSpPr>
            <a:xfrm>
              <a:off x="3124200" y="3810000"/>
              <a:ext cx="1676400" cy="914400"/>
              <a:chOff x="2438400" y="2971800"/>
              <a:chExt cx="1676400" cy="91440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2438400" y="2971800"/>
                <a:ext cx="1676400" cy="91440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590800" y="3244334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 smtClean="0"/>
                  <a:t>SetSpeed</a:t>
                </a:r>
                <a:endParaRPr lang="en-US" sz="1800" dirty="0"/>
              </a:p>
            </p:txBody>
          </p:sp>
        </p:grpSp>
        <p:grpSp>
          <p:nvGrpSpPr>
            <p:cNvPr id="8" name="Group 35"/>
            <p:cNvGrpSpPr/>
            <p:nvPr/>
          </p:nvGrpSpPr>
          <p:grpSpPr>
            <a:xfrm>
              <a:off x="3074961" y="2438400"/>
              <a:ext cx="1840161" cy="914400"/>
              <a:chOff x="2389161" y="2971800"/>
              <a:chExt cx="1840161" cy="914400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2438400" y="2971800"/>
                <a:ext cx="1676400" cy="914400"/>
              </a:xfrm>
              <a:prstGeom prst="rect">
                <a:avLst/>
              </a:prstGeom>
              <a:no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2389161" y="3244334"/>
                <a:ext cx="1840161" cy="399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 smtClean="0"/>
                  <a:t>ControlSpeed</a:t>
                </a:r>
                <a:endParaRPr lang="en-US" sz="1800" dirty="0"/>
              </a:p>
            </p:txBody>
          </p:sp>
        </p:grpSp>
        <p:cxnSp>
          <p:nvCxnSpPr>
            <p:cNvPr id="66" name="Straight Arrow Connector 65"/>
            <p:cNvCxnSpPr/>
            <p:nvPr/>
          </p:nvCxnSpPr>
          <p:spPr bwMode="auto">
            <a:xfrm flipV="1">
              <a:off x="3429000" y="3352800"/>
              <a:ext cx="0" cy="4572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68" name="Straight Arrow Connector 67"/>
            <p:cNvCxnSpPr/>
            <p:nvPr/>
          </p:nvCxnSpPr>
          <p:spPr bwMode="auto">
            <a:xfrm flipV="1">
              <a:off x="4419600" y="3352800"/>
              <a:ext cx="0" cy="4572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1"/>
          <p:cNvGrpSpPr/>
          <p:nvPr/>
        </p:nvGrpSpPr>
        <p:grpSpPr>
          <a:xfrm>
            <a:off x="4876800" y="1600200"/>
            <a:ext cx="1828800" cy="381000"/>
            <a:chOff x="3505200" y="1752600"/>
            <a:chExt cx="1828800" cy="3810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H="1">
              <a:off x="3505200" y="2133600"/>
              <a:ext cx="6858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Box 22"/>
            <p:cNvSpPr txBox="1"/>
            <p:nvPr/>
          </p:nvSpPr>
          <p:spPr>
            <a:xfrm>
              <a:off x="41910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cruise</a:t>
              </a:r>
              <a:endParaRPr lang="en-US" sz="1800" dirty="0"/>
            </a:p>
          </p:txBody>
        </p:sp>
      </p:grpSp>
      <p:cxnSp>
        <p:nvCxnSpPr>
          <p:cNvPr id="34" name="Straight Arrow Connector 33"/>
          <p:cNvCxnSpPr/>
          <p:nvPr/>
        </p:nvCxnSpPr>
        <p:spPr bwMode="auto">
          <a:xfrm flipH="1">
            <a:off x="4876800" y="22860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638800" y="21336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pause</a:t>
            </a:r>
            <a:endParaRPr lang="en-US" sz="1800" dirty="0"/>
          </a:p>
        </p:txBody>
      </p:sp>
      <p:grpSp>
        <p:nvGrpSpPr>
          <p:cNvPr id="3" name="Group 35"/>
          <p:cNvGrpSpPr/>
          <p:nvPr/>
        </p:nvGrpSpPr>
        <p:grpSpPr>
          <a:xfrm>
            <a:off x="4876800" y="2590800"/>
            <a:ext cx="1828800" cy="381000"/>
            <a:chOff x="3429000" y="1981200"/>
            <a:chExt cx="1828800" cy="381000"/>
          </a:xfrm>
        </p:grpSpPr>
        <p:cxnSp>
          <p:nvCxnSpPr>
            <p:cNvPr id="37" name="Straight Arrow Connector 36"/>
            <p:cNvCxnSpPr/>
            <p:nvPr/>
          </p:nvCxnSpPr>
          <p:spPr bwMode="auto">
            <a:xfrm flipH="1">
              <a:off x="3429000" y="1981200"/>
              <a:ext cx="7620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4114800" y="19812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inc/</a:t>
              </a:r>
              <a:r>
                <a:rPr lang="en-US" sz="1800" dirty="0" err="1" smtClean="0"/>
                <a:t>dec</a:t>
              </a:r>
              <a:endParaRPr lang="en-US" sz="1800" dirty="0"/>
            </a:p>
          </p:txBody>
        </p:sp>
      </p:grpSp>
      <p:grpSp>
        <p:nvGrpSpPr>
          <p:cNvPr id="4" name="Group 31"/>
          <p:cNvGrpSpPr/>
          <p:nvPr/>
        </p:nvGrpSpPr>
        <p:grpSpPr>
          <a:xfrm>
            <a:off x="1600200" y="1981200"/>
            <a:ext cx="1600200" cy="381000"/>
            <a:chOff x="4724400" y="1752600"/>
            <a:chExt cx="1600200" cy="381000"/>
          </a:xfrm>
        </p:grpSpPr>
        <p:cxnSp>
          <p:nvCxnSpPr>
            <p:cNvPr id="27" name="Straight Arrow Connector 26"/>
            <p:cNvCxnSpPr>
              <a:endCxn id="28" idx="2"/>
            </p:cNvCxnSpPr>
            <p:nvPr/>
          </p:nvCxnSpPr>
          <p:spPr bwMode="auto">
            <a:xfrm flipH="1">
              <a:off x="5295900" y="2133600"/>
              <a:ext cx="10287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47244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grpSp>
        <p:nvGrpSpPr>
          <p:cNvPr id="5" name="Group 29"/>
          <p:cNvGrpSpPr/>
          <p:nvPr/>
        </p:nvGrpSpPr>
        <p:grpSpPr>
          <a:xfrm>
            <a:off x="1981200" y="2743200"/>
            <a:ext cx="1981200" cy="826532"/>
            <a:chOff x="2057400" y="3124200"/>
            <a:chExt cx="1981200" cy="826532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V="1">
              <a:off x="4038600" y="31242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057400" y="3581400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 smtClean="0"/>
                <a:t>DesiredSpeed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Designing </a:t>
            </a:r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SetSpeed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 Component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3200400" y="1828800"/>
            <a:ext cx="1676400" cy="914400"/>
            <a:chOff x="2438400" y="2971800"/>
            <a:chExt cx="1676400" cy="914400"/>
          </a:xfrm>
        </p:grpSpPr>
        <p:sp>
          <p:nvSpPr>
            <p:cNvPr id="31" name="Rectangle 30"/>
            <p:cNvSpPr/>
            <p:nvPr/>
          </p:nvSpPr>
          <p:spPr>
            <a:xfrm>
              <a:off x="2438400" y="2971800"/>
              <a:ext cx="16764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90800" y="3244334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 smtClean="0"/>
                <a:t>SetSpeed</a:t>
              </a:r>
              <a:endParaRPr lang="en-US" sz="1800" dirty="0"/>
            </a:p>
          </p:txBody>
        </p:sp>
      </p:grp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914400" y="4038600"/>
            <a:ext cx="7239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Goal: Compute the desired cruising speed in response to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    the commands from the driver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Designing </a:t>
            </a:r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SetSpeed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: State Machines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" name="Group 35"/>
          <p:cNvGrpSpPr/>
          <p:nvPr/>
        </p:nvGrpSpPr>
        <p:grpSpPr>
          <a:xfrm>
            <a:off x="2667000" y="2438400"/>
            <a:ext cx="1066800" cy="880646"/>
            <a:chOff x="3048000" y="3733800"/>
            <a:chExt cx="1066800" cy="880646"/>
          </a:xfrm>
        </p:grpSpPr>
        <p:sp>
          <p:nvSpPr>
            <p:cNvPr id="26" name="Oval 25"/>
            <p:cNvSpPr/>
            <p:nvPr/>
          </p:nvSpPr>
          <p:spPr>
            <a:xfrm>
              <a:off x="3048000" y="3733800"/>
              <a:ext cx="1066800" cy="880646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00400" y="3962400"/>
              <a:ext cx="838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OFF</a:t>
              </a:r>
              <a:endParaRPr lang="en-US" sz="2000" dirty="0"/>
            </a:p>
          </p:txBody>
        </p:sp>
      </p:grpSp>
      <p:sp>
        <p:nvSpPr>
          <p:cNvPr id="33" name="Arc 32"/>
          <p:cNvSpPr/>
          <p:nvPr/>
        </p:nvSpPr>
        <p:spPr>
          <a:xfrm>
            <a:off x="2895600" y="2057400"/>
            <a:ext cx="457200" cy="838200"/>
          </a:xfrm>
          <a:prstGeom prst="arc">
            <a:avLst>
              <a:gd name="adj1" fmla="val 10591770"/>
              <a:gd name="adj2" fmla="val 0"/>
            </a:avLst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133600" y="2895600"/>
            <a:ext cx="533400" cy="0"/>
          </a:xfrm>
          <a:prstGeom prst="straightConnector1">
            <a:avLst/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9"/>
          <p:cNvGrpSpPr/>
          <p:nvPr/>
        </p:nvGrpSpPr>
        <p:grpSpPr>
          <a:xfrm>
            <a:off x="5334000" y="2514600"/>
            <a:ext cx="1066800" cy="880646"/>
            <a:chOff x="3048000" y="3733800"/>
            <a:chExt cx="1066800" cy="880646"/>
          </a:xfrm>
        </p:grpSpPr>
        <p:sp>
          <p:nvSpPr>
            <p:cNvPr id="41" name="Oval 40"/>
            <p:cNvSpPr/>
            <p:nvPr/>
          </p:nvSpPr>
          <p:spPr>
            <a:xfrm>
              <a:off x="3048000" y="3733800"/>
              <a:ext cx="1066800" cy="880646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00400" y="3962400"/>
              <a:ext cx="8382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ON</a:t>
              </a:r>
              <a:endParaRPr lang="en-US" sz="2000" dirty="0"/>
            </a:p>
          </p:txBody>
        </p:sp>
      </p:grpSp>
      <p:grpSp>
        <p:nvGrpSpPr>
          <p:cNvPr id="4" name="Group 45"/>
          <p:cNvGrpSpPr/>
          <p:nvPr/>
        </p:nvGrpSpPr>
        <p:grpSpPr>
          <a:xfrm>
            <a:off x="3810000" y="4343400"/>
            <a:ext cx="1143000" cy="880646"/>
            <a:chOff x="3048000" y="3733800"/>
            <a:chExt cx="1143000" cy="880646"/>
          </a:xfrm>
        </p:grpSpPr>
        <p:sp>
          <p:nvSpPr>
            <p:cNvPr id="47" name="Oval 46"/>
            <p:cNvSpPr/>
            <p:nvPr/>
          </p:nvSpPr>
          <p:spPr>
            <a:xfrm>
              <a:off x="3048000" y="3733800"/>
              <a:ext cx="1066800" cy="880646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048000" y="3962400"/>
              <a:ext cx="1143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PAUSED</a:t>
              </a:r>
              <a:endParaRPr lang="en-US" sz="1800" dirty="0"/>
            </a:p>
          </p:txBody>
        </p:sp>
      </p:grpSp>
      <p:grpSp>
        <p:nvGrpSpPr>
          <p:cNvPr id="5" name="Group 52"/>
          <p:cNvGrpSpPr/>
          <p:nvPr/>
        </p:nvGrpSpPr>
        <p:grpSpPr>
          <a:xfrm>
            <a:off x="3581400" y="2286000"/>
            <a:ext cx="2133600" cy="533400"/>
            <a:chOff x="3581400" y="2286000"/>
            <a:chExt cx="2133600" cy="533400"/>
          </a:xfrm>
        </p:grpSpPr>
        <p:cxnSp>
          <p:nvCxnSpPr>
            <p:cNvPr id="30" name="Straight Arrow Connector 29"/>
            <p:cNvCxnSpPr/>
            <p:nvPr/>
          </p:nvCxnSpPr>
          <p:spPr>
            <a:xfrm>
              <a:off x="3733800" y="2819400"/>
              <a:ext cx="1676400" cy="0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581400" y="2286000"/>
              <a:ext cx="213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cruise: r := speed</a:t>
              </a:r>
              <a:endParaRPr lang="en-US" sz="1800" dirty="0"/>
            </a:p>
          </p:txBody>
        </p:sp>
      </p:grpSp>
      <p:grpSp>
        <p:nvGrpSpPr>
          <p:cNvPr id="6" name="Group 53"/>
          <p:cNvGrpSpPr/>
          <p:nvPr/>
        </p:nvGrpSpPr>
        <p:grpSpPr>
          <a:xfrm>
            <a:off x="3657600" y="3124200"/>
            <a:ext cx="1752600" cy="381000"/>
            <a:chOff x="3733800" y="2743200"/>
            <a:chExt cx="1752600" cy="381000"/>
          </a:xfrm>
        </p:grpSpPr>
        <p:cxnSp>
          <p:nvCxnSpPr>
            <p:cNvPr id="55" name="Straight Arrow Connector 54"/>
            <p:cNvCxnSpPr/>
            <p:nvPr/>
          </p:nvCxnSpPr>
          <p:spPr>
            <a:xfrm>
              <a:off x="3733800" y="2743200"/>
              <a:ext cx="1752600" cy="0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4038600" y="27432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cruise</a:t>
              </a:r>
              <a:endParaRPr lang="en-US" sz="1800" dirty="0"/>
            </a:p>
          </p:txBody>
        </p:sp>
      </p:grpSp>
      <p:grpSp>
        <p:nvGrpSpPr>
          <p:cNvPr id="7" name="Group 57"/>
          <p:cNvGrpSpPr/>
          <p:nvPr/>
        </p:nvGrpSpPr>
        <p:grpSpPr>
          <a:xfrm>
            <a:off x="4267200" y="3266278"/>
            <a:ext cx="1223029" cy="1153322"/>
            <a:chOff x="3657600" y="1742278"/>
            <a:chExt cx="1223029" cy="1153322"/>
          </a:xfrm>
        </p:grpSpPr>
        <p:cxnSp>
          <p:nvCxnSpPr>
            <p:cNvPr id="59" name="Straight Arrow Connector 58"/>
            <p:cNvCxnSpPr>
              <a:endCxn id="41" idx="3"/>
            </p:cNvCxnSpPr>
            <p:nvPr/>
          </p:nvCxnSpPr>
          <p:spPr>
            <a:xfrm flipV="1">
              <a:off x="4038600" y="1742278"/>
              <a:ext cx="842029" cy="1153322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3657600" y="20574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pause</a:t>
              </a:r>
              <a:endParaRPr lang="en-US" sz="1800" dirty="0"/>
            </a:p>
          </p:txBody>
        </p:sp>
      </p:grpSp>
      <p:grpSp>
        <p:nvGrpSpPr>
          <p:cNvPr id="8" name="Group 63"/>
          <p:cNvGrpSpPr/>
          <p:nvPr/>
        </p:nvGrpSpPr>
        <p:grpSpPr>
          <a:xfrm>
            <a:off x="4800600" y="3352800"/>
            <a:ext cx="1600200" cy="1219200"/>
            <a:chOff x="4038600" y="1676400"/>
            <a:chExt cx="1600200" cy="1219200"/>
          </a:xfrm>
        </p:grpSpPr>
        <p:cxnSp>
          <p:nvCxnSpPr>
            <p:cNvPr id="65" name="Straight Arrow Connector 64"/>
            <p:cNvCxnSpPr/>
            <p:nvPr/>
          </p:nvCxnSpPr>
          <p:spPr>
            <a:xfrm flipV="1">
              <a:off x="4038600" y="1676400"/>
              <a:ext cx="914400" cy="1219200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4495800" y="22098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pause</a:t>
              </a:r>
              <a:endParaRPr lang="en-US" sz="1800" dirty="0"/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828800" y="18288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pause, inc, </a:t>
            </a:r>
            <a:r>
              <a:rPr lang="en-US" sz="1800" dirty="0" err="1" smtClean="0"/>
              <a:t>dec</a:t>
            </a:r>
            <a:endParaRPr lang="en-US" sz="1800" dirty="0"/>
          </a:p>
        </p:txBody>
      </p:sp>
      <p:grpSp>
        <p:nvGrpSpPr>
          <p:cNvPr id="9" name="Group 68"/>
          <p:cNvGrpSpPr/>
          <p:nvPr/>
        </p:nvGrpSpPr>
        <p:grpSpPr>
          <a:xfrm>
            <a:off x="2819400" y="3319046"/>
            <a:ext cx="1146829" cy="1153322"/>
            <a:chOff x="3505200" y="1642646"/>
            <a:chExt cx="1146829" cy="1153322"/>
          </a:xfrm>
        </p:grpSpPr>
        <p:cxnSp>
          <p:nvCxnSpPr>
            <p:cNvPr id="70" name="Straight Arrow Connector 69"/>
            <p:cNvCxnSpPr>
              <a:stCxn id="47" idx="1"/>
              <a:endCxn id="26" idx="4"/>
            </p:cNvCxnSpPr>
            <p:nvPr/>
          </p:nvCxnSpPr>
          <p:spPr>
            <a:xfrm flipH="1" flipV="1">
              <a:off x="3886200" y="1642646"/>
              <a:ext cx="765829" cy="1153322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3505200" y="22098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cruise</a:t>
              </a:r>
              <a:endParaRPr lang="en-US" sz="1800" dirty="0"/>
            </a:p>
          </p:txBody>
        </p:sp>
      </p:grpSp>
      <p:sp>
        <p:nvSpPr>
          <p:cNvPr id="74" name="Arc 73"/>
          <p:cNvSpPr/>
          <p:nvPr/>
        </p:nvSpPr>
        <p:spPr>
          <a:xfrm>
            <a:off x="5715000" y="2133600"/>
            <a:ext cx="457200" cy="838200"/>
          </a:xfrm>
          <a:prstGeom prst="arc">
            <a:avLst>
              <a:gd name="adj1" fmla="val 10591770"/>
              <a:gd name="adj2" fmla="val 0"/>
            </a:avLst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6096000" y="18288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inc:  r := r+1</a:t>
            </a:r>
            <a:endParaRPr lang="en-US" sz="1800" dirty="0"/>
          </a:p>
        </p:txBody>
      </p:sp>
      <p:sp>
        <p:nvSpPr>
          <p:cNvPr id="76" name="Arc 75"/>
          <p:cNvSpPr/>
          <p:nvPr/>
        </p:nvSpPr>
        <p:spPr>
          <a:xfrm rot="5400000">
            <a:off x="6134100" y="2476500"/>
            <a:ext cx="457200" cy="838200"/>
          </a:xfrm>
          <a:prstGeom prst="arc">
            <a:avLst>
              <a:gd name="adj1" fmla="val 10591770"/>
              <a:gd name="adj2" fmla="val 0"/>
            </a:avLst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6781800" y="26670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 err="1" smtClean="0"/>
              <a:t>dec</a:t>
            </a:r>
            <a:r>
              <a:rPr lang="en-US" sz="1800" dirty="0" smtClean="0"/>
              <a:t>: r := r-1</a:t>
            </a:r>
            <a:endParaRPr lang="en-US" sz="1800" dirty="0"/>
          </a:p>
        </p:txBody>
      </p:sp>
      <p:sp>
        <p:nvSpPr>
          <p:cNvPr id="78" name="TextBox 77"/>
          <p:cNvSpPr txBox="1"/>
          <p:nvPr/>
        </p:nvSpPr>
        <p:spPr>
          <a:xfrm>
            <a:off x="5867400" y="45720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 err="1" smtClean="0"/>
              <a:t>DesiredSpeed</a:t>
            </a:r>
            <a:r>
              <a:rPr lang="en-US" sz="1800" dirty="0" smtClean="0"/>
              <a:t> corresponds to the variable r</a:t>
            </a:r>
            <a:endParaRPr lang="en-US" sz="1800" dirty="0"/>
          </a:p>
        </p:txBody>
      </p:sp>
      <p:sp>
        <p:nvSpPr>
          <p:cNvPr id="79" name="Arc 78"/>
          <p:cNvSpPr/>
          <p:nvPr/>
        </p:nvSpPr>
        <p:spPr>
          <a:xfrm flipV="1">
            <a:off x="4114800" y="4800600"/>
            <a:ext cx="457200" cy="838200"/>
          </a:xfrm>
          <a:prstGeom prst="arc">
            <a:avLst>
              <a:gd name="adj1" fmla="val 10591770"/>
              <a:gd name="adj2" fmla="val 0"/>
            </a:avLst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3048000" y="5257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inc, </a:t>
            </a:r>
            <a:r>
              <a:rPr lang="en-US" sz="1800" dirty="0" err="1" smtClean="0"/>
              <a:t>dec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68" grpId="0"/>
      <p:bldP spid="74" grpId="0" animBg="1"/>
      <p:bldP spid="75" grpId="0"/>
      <p:bldP spid="76" grpId="0" animBg="1"/>
      <p:bldP spid="77" grpId="0"/>
      <p:bldP spid="78" grpId="0"/>
      <p:bldP spid="79" grpId="0" animBg="1"/>
      <p:bldP spid="8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 bwMode="auto">
          <a:xfrm flipH="1">
            <a:off x="4876800" y="23622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562600" y="2133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 err="1" smtClean="0"/>
              <a:t>DesiredSpeed</a:t>
            </a:r>
            <a:endParaRPr lang="en-US" sz="1800" dirty="0"/>
          </a:p>
        </p:txBody>
      </p:sp>
      <p:grpSp>
        <p:nvGrpSpPr>
          <p:cNvPr id="2" name="Group 31"/>
          <p:cNvGrpSpPr/>
          <p:nvPr/>
        </p:nvGrpSpPr>
        <p:grpSpPr>
          <a:xfrm>
            <a:off x="1600200" y="1981200"/>
            <a:ext cx="1600200" cy="381000"/>
            <a:chOff x="4724400" y="1752600"/>
            <a:chExt cx="1600200" cy="381000"/>
          </a:xfrm>
        </p:grpSpPr>
        <p:cxnSp>
          <p:nvCxnSpPr>
            <p:cNvPr id="27" name="Straight Arrow Connector 26"/>
            <p:cNvCxnSpPr>
              <a:endCxn id="28" idx="2"/>
            </p:cNvCxnSpPr>
            <p:nvPr/>
          </p:nvCxnSpPr>
          <p:spPr bwMode="auto">
            <a:xfrm flipH="1">
              <a:off x="5295900" y="2133600"/>
              <a:ext cx="10287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47244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grpSp>
        <p:nvGrpSpPr>
          <p:cNvPr id="3" name="Group 29"/>
          <p:cNvGrpSpPr/>
          <p:nvPr/>
        </p:nvGrpSpPr>
        <p:grpSpPr>
          <a:xfrm>
            <a:off x="2667000" y="2743200"/>
            <a:ext cx="1447800" cy="685800"/>
            <a:chOff x="2743200" y="3124200"/>
            <a:chExt cx="1447800" cy="685800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V="1">
              <a:off x="4038600" y="31242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743200" y="32766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Force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Designing </a:t>
            </a:r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ControlSpeed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 Component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3200400" y="1828800"/>
            <a:ext cx="1676400" cy="914400"/>
            <a:chOff x="2438400" y="2971800"/>
            <a:chExt cx="1676400" cy="914400"/>
          </a:xfrm>
        </p:grpSpPr>
        <p:sp>
          <p:nvSpPr>
            <p:cNvPr id="31" name="Rectangle 30"/>
            <p:cNvSpPr/>
            <p:nvPr/>
          </p:nvSpPr>
          <p:spPr>
            <a:xfrm>
              <a:off x="2438400" y="2971800"/>
              <a:ext cx="16764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38400" y="3244334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 smtClean="0"/>
                <a:t>ControlSpeed</a:t>
              </a:r>
              <a:endParaRPr lang="en-US" sz="1800" dirty="0"/>
            </a:p>
          </p:txBody>
        </p:sp>
      </p:grp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990600" y="4953000"/>
            <a:ext cx="7239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Goal: Determine the force to be applied to throttle so that speed becomes equal to </a:t>
            </a:r>
            <a:r>
              <a:rPr lang="en-US" sz="2000" dirty="0" err="1" smtClean="0">
                <a:solidFill>
                  <a:schemeClr val="tx1"/>
                </a:solidFill>
              </a:rPr>
              <a:t>DesiredSpeed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  <p:pic>
        <p:nvPicPr>
          <p:cNvPr id="24" name="Picture 4" descr="Image Gallery: Car Safet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429000"/>
            <a:ext cx="1447800" cy="965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 bwMode="auto">
          <a:xfrm flipH="1">
            <a:off x="4876800" y="23622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562600" y="2133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 err="1" smtClean="0"/>
              <a:t>DesiredSpeed</a:t>
            </a:r>
            <a:endParaRPr lang="en-US" sz="1800" dirty="0"/>
          </a:p>
        </p:txBody>
      </p:sp>
      <p:grpSp>
        <p:nvGrpSpPr>
          <p:cNvPr id="2" name="Group 31"/>
          <p:cNvGrpSpPr/>
          <p:nvPr/>
        </p:nvGrpSpPr>
        <p:grpSpPr>
          <a:xfrm>
            <a:off x="1600200" y="1981200"/>
            <a:ext cx="1600200" cy="381000"/>
            <a:chOff x="4724400" y="1752600"/>
            <a:chExt cx="1600200" cy="381000"/>
          </a:xfrm>
        </p:grpSpPr>
        <p:cxnSp>
          <p:nvCxnSpPr>
            <p:cNvPr id="27" name="Straight Arrow Connector 26"/>
            <p:cNvCxnSpPr>
              <a:endCxn id="28" idx="2"/>
            </p:cNvCxnSpPr>
            <p:nvPr/>
          </p:nvCxnSpPr>
          <p:spPr bwMode="auto">
            <a:xfrm flipH="1">
              <a:off x="5295900" y="2133600"/>
              <a:ext cx="1028700" cy="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4724400" y="17526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speed</a:t>
              </a:r>
              <a:endParaRPr lang="en-US" sz="1800" dirty="0"/>
            </a:p>
          </p:txBody>
        </p:sp>
      </p:grpSp>
      <p:grpSp>
        <p:nvGrpSpPr>
          <p:cNvPr id="3" name="Group 29"/>
          <p:cNvGrpSpPr/>
          <p:nvPr/>
        </p:nvGrpSpPr>
        <p:grpSpPr>
          <a:xfrm>
            <a:off x="2667000" y="2743200"/>
            <a:ext cx="1447800" cy="685800"/>
            <a:chOff x="2743200" y="3124200"/>
            <a:chExt cx="1447800" cy="685800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V="1">
              <a:off x="4038600" y="31242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743200" y="32766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Force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Capturing Requirements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4" name="Group 32"/>
          <p:cNvGrpSpPr/>
          <p:nvPr/>
        </p:nvGrpSpPr>
        <p:grpSpPr>
          <a:xfrm>
            <a:off x="3200400" y="1828800"/>
            <a:ext cx="1676400" cy="914400"/>
            <a:chOff x="2438400" y="2971800"/>
            <a:chExt cx="1676400" cy="914400"/>
          </a:xfrm>
        </p:grpSpPr>
        <p:sp>
          <p:nvSpPr>
            <p:cNvPr id="31" name="Rectangle 30"/>
            <p:cNvSpPr/>
            <p:nvPr/>
          </p:nvSpPr>
          <p:spPr>
            <a:xfrm>
              <a:off x="2438400" y="2971800"/>
              <a:ext cx="16764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38400" y="3244334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 smtClean="0"/>
                <a:t>ControlSpeed</a:t>
              </a:r>
              <a:endParaRPr lang="en-US" sz="1800" dirty="0"/>
            </a:p>
          </p:txBody>
        </p:sp>
      </p:grp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609600" y="3733800"/>
            <a:ext cx="830580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Requirements: Mathematically precise description of what a system is supposed to do. 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Writing requirements is key to ensuring reliability of systems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Requirement 1: Actual speed eventually converges to desired speed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Requirement 2: Speed of the car stays “stable”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848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A bit of Physics: Modeling a car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20700000" flipH="1">
            <a:off x="3165246" y="2353894"/>
            <a:ext cx="2590800" cy="1447800"/>
            <a:chOff x="3165246" y="2353894"/>
            <a:chExt cx="2590800" cy="1447800"/>
          </a:xfrm>
        </p:grpSpPr>
        <p:sp>
          <p:nvSpPr>
            <p:cNvPr id="28" name="Rectangle 27"/>
            <p:cNvSpPr/>
            <p:nvPr/>
          </p:nvSpPr>
          <p:spPr>
            <a:xfrm>
              <a:off x="3165246" y="2353894"/>
              <a:ext cx="2590800" cy="10668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624206" y="3420694"/>
              <a:ext cx="381000" cy="381000"/>
            </a:xfrm>
            <a:prstGeom prst="ellipse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994669" y="3420694"/>
              <a:ext cx="381000" cy="381000"/>
            </a:xfrm>
            <a:prstGeom prst="ellipse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2296470" y="3118053"/>
            <a:ext cx="4839928" cy="132497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23"/>
          <p:cNvGrpSpPr/>
          <p:nvPr/>
        </p:nvGrpSpPr>
        <p:grpSpPr>
          <a:xfrm>
            <a:off x="4572000" y="1371600"/>
            <a:ext cx="2273098" cy="615828"/>
            <a:chOff x="5859191" y="1577624"/>
            <a:chExt cx="2273098" cy="615828"/>
          </a:xfrm>
        </p:grpSpPr>
        <p:cxnSp>
          <p:nvCxnSpPr>
            <p:cNvPr id="25" name="Straight Arrow Connector 24"/>
            <p:cNvCxnSpPr/>
            <p:nvPr/>
          </p:nvCxnSpPr>
          <p:spPr>
            <a:xfrm flipV="1">
              <a:off x="5859191" y="1977734"/>
              <a:ext cx="828268" cy="215718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698883" y="1577624"/>
              <a:ext cx="1433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Velocity  v</a:t>
              </a:r>
              <a:endParaRPr lang="en-US" sz="2000" baseline="-25000" dirty="0"/>
            </a:p>
          </p:txBody>
        </p:sp>
      </p:grpSp>
      <p:grpSp>
        <p:nvGrpSpPr>
          <p:cNvPr id="5" name="Group 49"/>
          <p:cNvGrpSpPr/>
          <p:nvPr/>
        </p:nvGrpSpPr>
        <p:grpSpPr>
          <a:xfrm>
            <a:off x="5679846" y="2151590"/>
            <a:ext cx="1859747" cy="400110"/>
            <a:chOff x="5679846" y="2151590"/>
            <a:chExt cx="1859747" cy="400110"/>
          </a:xfrm>
        </p:grpSpPr>
        <p:cxnSp>
          <p:nvCxnSpPr>
            <p:cNvPr id="30" name="Straight Arrow Connector 29"/>
            <p:cNvCxnSpPr/>
            <p:nvPr/>
          </p:nvCxnSpPr>
          <p:spPr>
            <a:xfrm flipV="1">
              <a:off x="5679846" y="2335536"/>
              <a:ext cx="914400" cy="215718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605619" y="2151590"/>
              <a:ext cx="9339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Force F</a:t>
              </a:r>
              <a:endParaRPr lang="en-US" sz="2000" baseline="-25000" dirty="0"/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1726829" y="3634037"/>
            <a:ext cx="1777258" cy="594402"/>
            <a:chOff x="6186001" y="685483"/>
            <a:chExt cx="1777258" cy="594402"/>
          </a:xfrm>
        </p:grpSpPr>
        <p:cxnSp>
          <p:nvCxnSpPr>
            <p:cNvPr id="33" name="Straight Arrow Connector 32"/>
            <p:cNvCxnSpPr/>
            <p:nvPr/>
          </p:nvCxnSpPr>
          <p:spPr>
            <a:xfrm flipV="1">
              <a:off x="7048859" y="1052836"/>
              <a:ext cx="914400" cy="227049"/>
            </a:xfrm>
            <a:prstGeom prst="straightConnector1">
              <a:avLst/>
            </a:prstGeom>
            <a:ln w="25400">
              <a:solidFill>
                <a:srgbClr val="00206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186001" y="685483"/>
              <a:ext cx="13244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Friction k v</a:t>
              </a:r>
              <a:endParaRPr lang="en-US" sz="2000" baseline="-25000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664800" y="5029200"/>
            <a:ext cx="4928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Newton’s law of motion gives </a:t>
            </a:r>
          </a:p>
          <a:p>
            <a:r>
              <a:rPr lang="en-US" sz="2000" dirty="0" smtClean="0"/>
              <a:t>	F – </a:t>
            </a:r>
            <a:r>
              <a:rPr lang="en-US" sz="2000" dirty="0" err="1" smtClean="0"/>
              <a:t>kv</a:t>
            </a:r>
            <a:r>
              <a:rPr lang="en-US" sz="2000" dirty="0" smtClean="0"/>
              <a:t> – mg sin </a:t>
            </a:r>
            <a:r>
              <a:rPr lang="en-US" sz="2000" b="1" dirty="0" smtClean="0">
                <a:latin typeface="Symbol" panose="05050102010706020507" pitchFamily="18" charset="2"/>
              </a:rPr>
              <a:t>q</a:t>
            </a:r>
            <a:r>
              <a:rPr lang="en-US" sz="2000" dirty="0" smtClean="0">
                <a:latin typeface="Symbol" panose="05050102010706020507" pitchFamily="18" charset="2"/>
              </a:rPr>
              <a:t> </a:t>
            </a:r>
            <a:r>
              <a:rPr lang="en-US" sz="2000" dirty="0" smtClean="0"/>
              <a:t>= m a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2305197" y="4443025"/>
            <a:ext cx="4839928" cy="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c 47"/>
          <p:cNvSpPr/>
          <p:nvPr/>
        </p:nvSpPr>
        <p:spPr>
          <a:xfrm>
            <a:off x="3665551" y="4013853"/>
            <a:ext cx="466628" cy="429173"/>
          </a:xfrm>
          <a:prstGeom prst="arc">
            <a:avLst>
              <a:gd name="adj1" fmla="val 16200000"/>
              <a:gd name="adj2" fmla="val 4519370"/>
            </a:avLst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4358129" y="4013853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Angle </a:t>
            </a:r>
            <a:r>
              <a:rPr lang="en-US" sz="2000" b="1" dirty="0">
                <a:latin typeface="Symbol" panose="05050102010706020507" pitchFamily="18" charset="2"/>
              </a:rPr>
              <a:t>q</a:t>
            </a:r>
            <a:endParaRPr lang="en-US" sz="2000" b="1" baseline="-25000" dirty="0">
              <a:latin typeface="Symbol" panose="05050102010706020507" pitchFamily="18" charset="2"/>
            </a:endParaRPr>
          </a:p>
        </p:txBody>
      </p:sp>
      <p:grpSp>
        <p:nvGrpSpPr>
          <p:cNvPr id="7" name="Group 50"/>
          <p:cNvGrpSpPr/>
          <p:nvPr/>
        </p:nvGrpSpPr>
        <p:grpSpPr>
          <a:xfrm>
            <a:off x="4267200" y="2590800"/>
            <a:ext cx="1312667" cy="1068351"/>
            <a:chOff x="6006137" y="2105192"/>
            <a:chExt cx="1312667" cy="1068351"/>
          </a:xfrm>
        </p:grpSpPr>
        <p:cxnSp>
          <p:nvCxnSpPr>
            <p:cNvPr id="52" name="Straight Arrow Connector 51"/>
            <p:cNvCxnSpPr/>
            <p:nvPr/>
          </p:nvCxnSpPr>
          <p:spPr>
            <a:xfrm flipH="1">
              <a:off x="6180553" y="2437957"/>
              <a:ext cx="21022" cy="735586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6006137" y="2105192"/>
              <a:ext cx="13126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Weight mg</a:t>
              </a:r>
              <a:endParaRPr lang="en-US" sz="2000" baseline="-25000" dirty="0"/>
            </a:p>
          </p:txBody>
        </p:sp>
      </p:grpSp>
      <p:pic>
        <p:nvPicPr>
          <p:cNvPr id="29" name="Picture 28" descr="tm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53314" y="4630057"/>
            <a:ext cx="2024743" cy="202474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3116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 bwMode="auto">
          <a:xfrm flipH="1">
            <a:off x="4876800" y="23622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5562600" y="2133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dirty="0" err="1" smtClean="0"/>
              <a:t>DesiredSpeed</a:t>
            </a:r>
            <a:r>
              <a:rPr lang="en-US" sz="1800" dirty="0" smtClean="0"/>
              <a:t> r</a:t>
            </a:r>
            <a:endParaRPr lang="en-US" sz="1800" dirty="0"/>
          </a:p>
        </p:txBody>
      </p:sp>
      <p:grpSp>
        <p:nvGrpSpPr>
          <p:cNvPr id="2" name="Group 29"/>
          <p:cNvGrpSpPr/>
          <p:nvPr/>
        </p:nvGrpSpPr>
        <p:grpSpPr>
          <a:xfrm>
            <a:off x="990600" y="2743200"/>
            <a:ext cx="1447800" cy="685800"/>
            <a:chOff x="2743200" y="3124200"/>
            <a:chExt cx="1447800" cy="685800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V="1">
              <a:off x="4038600" y="31242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743200" y="32766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Force F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ControlSpeed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 Component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32"/>
          <p:cNvGrpSpPr/>
          <p:nvPr/>
        </p:nvGrpSpPr>
        <p:grpSpPr>
          <a:xfrm>
            <a:off x="1905000" y="1447800"/>
            <a:ext cx="2971800" cy="1295400"/>
            <a:chOff x="1143000" y="2590800"/>
            <a:chExt cx="2971800" cy="1295400"/>
          </a:xfrm>
        </p:grpSpPr>
        <p:sp>
          <p:nvSpPr>
            <p:cNvPr id="31" name="Rectangle 30"/>
            <p:cNvSpPr/>
            <p:nvPr/>
          </p:nvSpPr>
          <p:spPr>
            <a:xfrm>
              <a:off x="1143000" y="2971800"/>
              <a:ext cx="29718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76400" y="2590800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 smtClean="0"/>
                <a:t>ControlSpeed</a:t>
              </a:r>
              <a:endParaRPr lang="en-US" sz="1800" dirty="0"/>
            </a:p>
          </p:txBody>
        </p:sp>
      </p:grp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990600" y="5181600"/>
            <a:ext cx="7620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Control Theory: Mathematical techniques to compute force (F) as a function of velocity (v) and desired speed (r)</a:t>
            </a:r>
          </a:p>
        </p:txBody>
      </p:sp>
      <p:grpSp>
        <p:nvGrpSpPr>
          <p:cNvPr id="4" name="Group 32"/>
          <p:cNvGrpSpPr/>
          <p:nvPr/>
        </p:nvGrpSpPr>
        <p:grpSpPr>
          <a:xfrm>
            <a:off x="1905000" y="3429000"/>
            <a:ext cx="2971800" cy="1283732"/>
            <a:chOff x="1143000" y="2971800"/>
            <a:chExt cx="2971800" cy="1283732"/>
          </a:xfrm>
        </p:grpSpPr>
        <p:sp>
          <p:nvSpPr>
            <p:cNvPr id="20" name="Rectangle 19"/>
            <p:cNvSpPr/>
            <p:nvPr/>
          </p:nvSpPr>
          <p:spPr>
            <a:xfrm>
              <a:off x="1143000" y="2971800"/>
              <a:ext cx="29718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62200" y="38862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Car</a:t>
              </a:r>
              <a:endParaRPr lang="en-US" sz="1800" dirty="0"/>
            </a:p>
          </p:txBody>
        </p:sp>
      </p:grpSp>
      <p:cxnSp>
        <p:nvCxnSpPr>
          <p:cNvPr id="22" name="Straight Arrow Connector 21"/>
          <p:cNvCxnSpPr/>
          <p:nvPr/>
        </p:nvCxnSpPr>
        <p:spPr bwMode="auto">
          <a:xfrm flipH="1">
            <a:off x="4876800" y="38862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562600" y="37338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Angle </a:t>
            </a:r>
            <a:r>
              <a:rPr lang="en-US" sz="1800" b="1" dirty="0" smtClean="0">
                <a:latin typeface="Symbol" pitchFamily="18" charset="2"/>
              </a:rPr>
              <a:t>q</a:t>
            </a:r>
            <a:r>
              <a:rPr lang="en-US" sz="1800" dirty="0" smtClean="0"/>
              <a:t> of the road with horizontal (disturbance)</a:t>
            </a:r>
            <a:endParaRPr lang="en-US" sz="1800" dirty="0"/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4419600" y="2743200"/>
            <a:ext cx="0" cy="68580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4572000" y="2895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Velocity v</a:t>
            </a:r>
            <a:endParaRPr lang="en-US" sz="1800" dirty="0"/>
          </a:p>
        </p:txBody>
      </p:sp>
      <p:sp>
        <p:nvSpPr>
          <p:cNvPr id="29" name="TextBox 28"/>
          <p:cNvSpPr txBox="1"/>
          <p:nvPr/>
        </p:nvSpPr>
        <p:spPr>
          <a:xfrm>
            <a:off x="3200400" y="37338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endParaRPr lang="en-US" sz="1800" dirty="0"/>
          </a:p>
        </p:txBody>
      </p:sp>
      <p:sp>
        <p:nvSpPr>
          <p:cNvPr id="30" name="TextBox 29"/>
          <p:cNvSpPr txBox="1"/>
          <p:nvPr/>
        </p:nvSpPr>
        <p:spPr>
          <a:xfrm>
            <a:off x="2133600" y="3733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F – </a:t>
            </a:r>
            <a:r>
              <a:rPr lang="en-US" sz="1800" dirty="0" err="1" smtClean="0"/>
              <a:t>kv</a:t>
            </a:r>
            <a:r>
              <a:rPr lang="en-US" sz="1800" dirty="0" smtClean="0"/>
              <a:t> – mg sin </a:t>
            </a:r>
            <a:r>
              <a:rPr lang="en-US" sz="1800" b="1" dirty="0" smtClean="0">
                <a:latin typeface="Symbol" panose="05050102010706020507" pitchFamily="18" charset="2"/>
              </a:rPr>
              <a:t>q</a:t>
            </a:r>
            <a:r>
              <a:rPr lang="en-US" sz="1800" dirty="0" smtClean="0">
                <a:latin typeface="Symbol" panose="05050102010706020507" pitchFamily="18" charset="2"/>
              </a:rPr>
              <a:t> </a:t>
            </a:r>
            <a:r>
              <a:rPr lang="en-US" sz="1800" dirty="0" smtClean="0"/>
              <a:t>= m a</a:t>
            </a:r>
            <a:endParaRPr 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2286000" y="21336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F  = K</a:t>
            </a:r>
            <a:r>
              <a:rPr lang="en-US" sz="1800" baseline="-25000" dirty="0" smtClean="0"/>
              <a:t>P</a:t>
            </a:r>
            <a:r>
              <a:rPr lang="en-US" sz="1800" dirty="0" smtClean="0"/>
              <a:t> ( v – r)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038600" y="-553238"/>
          <a:ext cx="5943600" cy="7411238"/>
        </p:xfrm>
        <a:graphic>
          <a:graphicData uri="http://schemas.openxmlformats.org/presentationml/2006/ole">
            <p:oleObj spid="_x0000_s18434" name="Acrobat Document" r:id="rId3" imgW="7768440" imgH="10050480" progId="AcroExch.Document.11">
              <p:embed/>
            </p:oleObj>
          </a:graphicData>
        </a:graphic>
      </p:graphicFrame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 bwMode="auto">
          <a:xfrm flipH="1">
            <a:off x="3886200" y="22860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4572000" y="2057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r</a:t>
            </a:r>
            <a:endParaRPr lang="en-US" sz="1800" dirty="0"/>
          </a:p>
        </p:txBody>
      </p:sp>
      <p:grpSp>
        <p:nvGrpSpPr>
          <p:cNvPr id="2" name="Group 29"/>
          <p:cNvGrpSpPr/>
          <p:nvPr/>
        </p:nvGrpSpPr>
        <p:grpSpPr>
          <a:xfrm>
            <a:off x="0" y="2667000"/>
            <a:ext cx="1447800" cy="685800"/>
            <a:chOff x="2743200" y="3124200"/>
            <a:chExt cx="1447800" cy="685800"/>
          </a:xfrm>
        </p:grpSpPr>
        <p:cxnSp>
          <p:nvCxnSpPr>
            <p:cNvPr id="44" name="Straight Arrow Connector 43"/>
            <p:cNvCxnSpPr/>
            <p:nvPr/>
          </p:nvCxnSpPr>
          <p:spPr bwMode="auto">
            <a:xfrm flipV="1">
              <a:off x="4038600" y="3124200"/>
              <a:ext cx="0" cy="685800"/>
            </a:xfrm>
            <a:prstGeom prst="straightConnector1">
              <a:avLst/>
            </a:prstGeom>
            <a:solidFill>
              <a:srgbClr val="333399"/>
            </a:solidFill>
            <a:ln w="25400" cap="flat" cmpd="sng" algn="ctr">
              <a:solidFill>
                <a:srgbClr val="002060"/>
              </a:solidFill>
              <a:prstDash val="solid"/>
              <a:round/>
              <a:headEnd type="arrow" w="med" len="med"/>
              <a:tailEnd type="none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2743200" y="32766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/>
                <a:t>Force F</a:t>
              </a:r>
              <a:endParaRPr lang="en-US" sz="1800" dirty="0"/>
            </a:p>
          </p:txBody>
        </p:sp>
      </p:grp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Does our controller work ?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" name="Group 32"/>
          <p:cNvGrpSpPr/>
          <p:nvPr/>
        </p:nvGrpSpPr>
        <p:grpSpPr>
          <a:xfrm>
            <a:off x="914400" y="1371600"/>
            <a:ext cx="2971800" cy="1295400"/>
            <a:chOff x="1143000" y="2590800"/>
            <a:chExt cx="2971800" cy="1295400"/>
          </a:xfrm>
        </p:grpSpPr>
        <p:sp>
          <p:nvSpPr>
            <p:cNvPr id="31" name="Rectangle 30"/>
            <p:cNvSpPr/>
            <p:nvPr/>
          </p:nvSpPr>
          <p:spPr>
            <a:xfrm>
              <a:off x="1143000" y="2971800"/>
              <a:ext cx="29718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76400" y="2590800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err="1" smtClean="0"/>
                <a:t>ControlSpeed</a:t>
              </a:r>
              <a:endParaRPr lang="en-US" sz="1800" dirty="0"/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914400" y="3352800"/>
            <a:ext cx="2971800" cy="1283732"/>
            <a:chOff x="1143000" y="2971800"/>
            <a:chExt cx="2971800" cy="1283732"/>
          </a:xfrm>
        </p:grpSpPr>
        <p:sp>
          <p:nvSpPr>
            <p:cNvPr id="20" name="Rectangle 19"/>
            <p:cNvSpPr/>
            <p:nvPr/>
          </p:nvSpPr>
          <p:spPr>
            <a:xfrm>
              <a:off x="1143000" y="2971800"/>
              <a:ext cx="2971800" cy="914400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62200" y="388620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Car</a:t>
              </a:r>
              <a:endParaRPr lang="en-US" sz="1800" dirty="0"/>
            </a:p>
          </p:txBody>
        </p:sp>
      </p:grpSp>
      <p:cxnSp>
        <p:nvCxnSpPr>
          <p:cNvPr id="22" name="Straight Arrow Connector 21"/>
          <p:cNvCxnSpPr/>
          <p:nvPr/>
        </p:nvCxnSpPr>
        <p:spPr bwMode="auto">
          <a:xfrm flipH="1">
            <a:off x="3886200" y="38100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4648200" y="3657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r>
              <a:rPr lang="en-US" sz="1800" b="1" dirty="0" smtClean="0">
                <a:latin typeface="Symbol" pitchFamily="18" charset="2"/>
              </a:rPr>
              <a:t>q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3429000" y="2667000"/>
            <a:ext cx="0" cy="68580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3581400" y="2819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Velocity v</a:t>
            </a:r>
            <a:endParaRPr lang="en-US" sz="1800" dirty="0"/>
          </a:p>
        </p:txBody>
      </p:sp>
      <p:sp>
        <p:nvSpPr>
          <p:cNvPr id="29" name="TextBox 28"/>
          <p:cNvSpPr txBox="1"/>
          <p:nvPr/>
        </p:nvSpPr>
        <p:spPr>
          <a:xfrm>
            <a:off x="2209800" y="36576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</a:t>
            </a:r>
            <a:endParaRPr lang="en-US" sz="1800" dirty="0"/>
          </a:p>
        </p:txBody>
      </p:sp>
      <p:sp>
        <p:nvSpPr>
          <p:cNvPr id="30" name="TextBox 29"/>
          <p:cNvSpPr txBox="1"/>
          <p:nvPr/>
        </p:nvSpPr>
        <p:spPr>
          <a:xfrm>
            <a:off x="1143000" y="36576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F – </a:t>
            </a:r>
            <a:r>
              <a:rPr lang="en-US" sz="1800" dirty="0" err="1" smtClean="0"/>
              <a:t>kv</a:t>
            </a:r>
            <a:r>
              <a:rPr lang="en-US" sz="1800" dirty="0" smtClean="0"/>
              <a:t> – mg sin </a:t>
            </a:r>
            <a:r>
              <a:rPr lang="en-US" sz="1800" b="1" dirty="0" smtClean="0">
                <a:latin typeface="Symbol" panose="05050102010706020507" pitchFamily="18" charset="2"/>
              </a:rPr>
              <a:t>q</a:t>
            </a:r>
            <a:r>
              <a:rPr lang="en-US" sz="1800" dirty="0" smtClean="0">
                <a:latin typeface="Symbol" panose="05050102010706020507" pitchFamily="18" charset="2"/>
              </a:rPr>
              <a:t> </a:t>
            </a:r>
            <a:r>
              <a:rPr lang="en-US" sz="1800" dirty="0" smtClean="0"/>
              <a:t>= m a</a:t>
            </a:r>
            <a:endParaRPr 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1295400" y="2057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 F  = K</a:t>
            </a:r>
            <a:r>
              <a:rPr lang="en-US" sz="1800" baseline="-25000" dirty="0" smtClean="0"/>
              <a:t>P</a:t>
            </a:r>
            <a:r>
              <a:rPr lang="en-US" sz="1800" dirty="0" smtClean="0"/>
              <a:t> ( v – r)</a:t>
            </a:r>
            <a:endParaRPr lang="en-US" sz="1800" dirty="0"/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7200" y="4876800"/>
            <a:ext cx="76200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Verification Tools: Allow you to check if system model indeed works as expected, that is, satisfies requirements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err="1" smtClean="0">
                <a:sym typeface="Wingdings" pitchFamily="2" charset="2"/>
              </a:rPr>
              <a:t>Matlab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 bwMode="auto">
          <a:xfrm flipH="1">
            <a:off x="4953000" y="2286000"/>
            <a:ext cx="762000" cy="0"/>
          </a:xfrm>
          <a:prstGeom prst="straightConnector1">
            <a:avLst/>
          </a:prstGeom>
          <a:solidFill>
            <a:srgbClr val="333399"/>
          </a:solidFill>
          <a:ln w="25400" cap="flat" cmpd="sng" algn="ctr">
            <a:solidFill>
              <a:srgbClr val="002060"/>
            </a:solidFill>
            <a:prstDash val="solid"/>
            <a:round/>
            <a:headEnd type="arrow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Model-based design != Coding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7200" y="4724400"/>
            <a:ext cx="7620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chemeClr val="tx1"/>
                </a:solidFill>
              </a:rPr>
              <a:t>Design using high-level block diagrams and state machines gets </a:t>
            </a:r>
            <a:r>
              <a:rPr lang="en-US" sz="2000" dirty="0" smtClean="0">
                <a:solidFill>
                  <a:srgbClr val="FF0000"/>
                </a:solidFill>
              </a:rPr>
              <a:t>automatically</a:t>
            </a:r>
            <a:r>
              <a:rPr lang="en-US" sz="2000" dirty="0" smtClean="0">
                <a:solidFill>
                  <a:schemeClr val="tx1"/>
                </a:solidFill>
              </a:rPr>
              <a:t> compiled into low-level code ! </a:t>
            </a:r>
          </a:p>
        </p:txBody>
      </p:sp>
      <p:pic>
        <p:nvPicPr>
          <p:cNvPr id="49156" name="Picture 4" descr="http://www.intechopen.com/source/html/41709/media/image1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447800"/>
            <a:ext cx="5254625" cy="3013142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</p:pic>
      <p:pic>
        <p:nvPicPr>
          <p:cNvPr id="49158" name="Picture 6" descr="http://www.askamathematician.com/wp-content/uploads/2010/07/ProbOfStrea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1447800"/>
            <a:ext cx="3273425" cy="2917964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5486400"/>
            <a:ext cx="762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/>
              <a:t>Models not only of system being designed, but also of its environment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Verification != Simulation/Testing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352800" y="1752600"/>
            <a:ext cx="2895600" cy="1066800"/>
          </a:xfrm>
          <a:prstGeom prst="rect">
            <a:avLst/>
          </a:prstGeom>
          <a:solidFill>
            <a:srgbClr val="FFCC99">
              <a:alpha val="58038"/>
            </a:srgbClr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2514600" y="2057400"/>
            <a:ext cx="8382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2514600" y="2590800"/>
            <a:ext cx="8382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6248400" y="2057400"/>
            <a:ext cx="8382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6248400" y="2514600"/>
            <a:ext cx="838200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82213" y="1750368"/>
            <a:ext cx="217559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 dirty="0" smtClean="0"/>
              <a:t>Model/Program</a:t>
            </a:r>
            <a:endParaRPr lang="en-US" sz="2400" dirty="0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87350" y="2362200"/>
            <a:ext cx="1965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 dirty="0"/>
              <a:t>Requirement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245350" y="1752600"/>
            <a:ext cx="15986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folHlink"/>
                </a:solidFill>
              </a:rPr>
              <a:t>yes/proof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7239000" y="2286000"/>
            <a:ext cx="1162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>
                <a:solidFill>
                  <a:srgbClr val="CC0000"/>
                </a:solidFill>
              </a:rPr>
              <a:t>no/bug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3200400" y="1752600"/>
            <a:ext cx="3276600" cy="1066800"/>
          </a:xfrm>
          <a:prstGeom prst="rect">
            <a:avLst/>
          </a:prstGeom>
        </p:spPr>
        <p:txBody>
          <a:bodyPr vert="horz" lIns="91432" tIns="45716" rIns="91432" bIns="45716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smtClean="0">
                <a:solidFill>
                  <a:schemeClr val="hlink"/>
                </a:solidFill>
              </a:rPr>
              <a:t>Verifier</a:t>
            </a:r>
          </a:p>
        </p:txBody>
      </p:sp>
      <p:pic>
        <p:nvPicPr>
          <p:cNvPr id="60420" name="Picture 4" descr="http://upload.wikimedia.org/wikipedia/commons/thumb/d/d9/Edsger_Wybe_Dijkstra.jpg/200px-Edsger_Wybe_Dijkstr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733800"/>
            <a:ext cx="1219200" cy="1627632"/>
          </a:xfrm>
          <a:prstGeom prst="rect">
            <a:avLst/>
          </a:prstGeom>
          <a:noFill/>
        </p:spPr>
      </p:pic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2057400" y="3733800"/>
            <a:ext cx="6478055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2400" dirty="0" smtClean="0"/>
              <a:t>Program testing can be used to show the presence</a:t>
            </a:r>
          </a:p>
          <a:p>
            <a:pPr eaLnBrk="0" hangingPunct="0"/>
            <a:r>
              <a:rPr lang="en-US" sz="2400" dirty="0" smtClean="0"/>
              <a:t>	of bugs, but never their absence!</a:t>
            </a:r>
          </a:p>
          <a:p>
            <a:pPr eaLnBrk="0" hangingPunct="0"/>
            <a:endParaRPr lang="en-US" sz="2400" dirty="0" smtClean="0"/>
          </a:p>
          <a:p>
            <a:pPr eaLnBrk="0" hangingPunct="0"/>
            <a:r>
              <a:rPr lang="en-US" sz="2400" dirty="0" err="1" smtClean="0"/>
              <a:t>Edsger</a:t>
            </a:r>
            <a:r>
              <a:rPr lang="en-US" sz="2400" dirty="0" smtClean="0"/>
              <a:t> W. </a:t>
            </a:r>
            <a:r>
              <a:rPr lang="en-US" sz="2400" dirty="0" err="1" smtClean="0"/>
              <a:t>Dijkstra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844" name="AutoShape 4" descr="data:image/jpeg;base64,/9j/4AAQSkZJRgABAQAAAQABAAD/2wCEAAkGBxQSEhQUEhQUFBUUFBQUFRcVFBQUFRQUFRUWFxUVFxQYHCggGBwlHBQUITEhJSkrLi4uFx8zODMsNygtLisBCgoKDg0OFxAQFywcHSQsLCwsLCwsLCwsLCwsLCwrLCwsLCwsLSwsLCwsLCwsLCwsLCwsLCwsLCwsLCwsLCwsLP/AABEIALcBEwMBIgACEQEDEQH/xAAcAAABBQEBAQAAAAAAAAAAAAADAAIEBQYBBwj/xABCEAABAwIDBQQIAwUIAgMAAAABAAIDBBEFITEGEkFRYRMicYEyQlKRobHB0Qcj8BQzYpLhU3KCorLC0vFDgxZzk//EABkBAAMBAQEAAAAAAAAAAAAAAAABAgMEBf/EACgRAQEAAgICAgEDBAMAAAAAAAABAhEDIRIxBEFRImGRBRNxgbHR4f/aAAwDAQACEQMRAD8A8okvokWWy5fNHYbm/JEY25A5qFDUNObbxXKo8FZboa1V8ljwUkjWRqV9iT5JhA4kI8UV8m3ceTcz8E4KFOQTddp6kt8FNgwGqk9CnmP/AK3Ae8iytKPYKvf/AOAtH8b2N+t07juHhlcLuXSDHUAi9wjB40Jz5LQ0v4XVJtvPiZzzLreAAzW52c2OgpLOP5svtuGQP8LdB46rKfHjtv8AUc9eozGz2xckwD5bxMOYuO+R0adPE+5bemwuGnG7EwA2zcc3Hxdr5KxklACgvkuVthxzH05uT5OfL79HkprpAEF8ltVbYRhxykkHVjTw6nqtGAmFYecpJBn6rfZHM9VbJLhKkyc6yosdxsQgAXc92TGNzc48AAuY/jQisxg35X5MYNSfso2E4X2ZMsp353anhGD6jPvxVEZhuGODu2qCHzH0W6tiB4N5u6qyc9cc5DJQHS5U20e0sFEzeldn6rB6TvJVe222cdE3dbZ8x0b7PUrw7FsVknkMkri9556DoAlaI0mP7T1WIuOZZEDkwGw8+ZRMIweNlnOG87W5zt4BYps7gbhxHmreh2ikbk+zxpycPMaqLtWlpi9UXutwGQCqnhSe1DxcIbmoJFcE3eIRnBMLUBp9kJi47t9fnzW8w7FnF3ZO9MD3jmvL8DxH9neHFpcAb5Gyv6rHoJ5o3h0lMWnN5YHi3Ihp08lGWOyer4dTu1KkVVIHtcwgFrwWuHMOFiubOVkU7B2VRHNYZ7lt4eLNR5hXH7IOaUxpbfPdTTmN743ase5h8Wkj6LK18O7I4dbj5r0/bjDuzr5QNHhko/xNsf8AM1yw201LuvY7mLK8fbW9xWM01STGWsktEPev/gtARb9nZ5XHyKlQbEUA0po/j91dsCO1FTtTO2RoiLGmj9xTotkqFoypYPOMH4lXF00uSCFDgtMz0KeFvhEwfRS44mtFmta3wAHyTXSJEp7Elvo8vTHPQy5R3SonYylntIdKgvmsgPcoUs1ymmDyzklDMlkPeVrguF75Ekg7oza0+sfaPRCxsGw3etJIMtWNP+oq/SSUmSotoca7KzIxvyvyY0ak/QIm0GMCEBrRvSPyY0akqHhGGGK8sp353+keDB7DenXimTmEYV2V5JTvzv8ASdwaPYZyHzU1712RyCSgESsZt3to2kaY4iHTEfydSh7fbZtpWmKIgzOH8g5ryTsXzOL3kkuzJOpupyykVjjarq6sdI9z3uLnONySollohs8XaFOGyMpzaQfgs/7mP5a/2cvwzrW3TxGQrWTC3Rmz2lrhz0PgUyZwAt+geare02aCpLtN/epjrlCgAOY45HoUZhQVhoYu7qIkgtBlqbZEcmFAFppXMcHMc5rho5pLXDwIzC9i/DXbGSc/s9S7efa8Uh1eAM2O5uAzB4gHz8Zi1V9g9S6KRkjDZzHBw8QU4ivVdt8Oa+pp3uGRjkYfFjg5o/zvWA/EPDA2PeaLBtj8bH5r0nH61s9PBM3QSRv8A8FhHvePcqLamh7WncOhHvH/AEovWTTDvF4e4LqI0c0lqh9NsKNvKHE9dknVaRtIdIgPmUd0t0wuRotjh10jIgMengqa2w1Js4uQXGyIXWUCee5RiWdl9HyyXQCu3U3CcNM7rnKNpz/iPIdFSdC4LhnanfePyxoPbP2WpAXGtAAAyA0TlJkqvHMWbAzm45NaMySdAAjYviTYGFzj4DiSqfCqFznftE/pn92w6RtP+5AdwjDnNJnnzmePERtPqjrzKnSPTpXqO4pkTishtxtYKVnZx96Z+TQPVvxKl7ZbTMo4ucjsmN68141LWOke6WQ7z3G5PLoErQiVsbnzgPdvOdZzz1NyQtDSU4VFE7eqG9Wn6rT0IHNc3Le3XwTpY0sGSvKGmACrKXgFLfi0UPpvA6cfcueTt3dSJ1bhkcos5oK832s2f7DvMN28jqF6LR7QU79HkeIICbiOGsqWEag6EK5bjWWeOOc6eM0cljY6FTt7P9cP6IOP4caacs1AOR6J299PsV1b3HDrV1UpcuuArqaHCmFOKaUAozmrmiVIDmrigOY8Pl/2E01dS45JFG2MuPZk5DhcODvnmvRns34T1bf6rynHYbwX9kg+/L6r1DZSftaWJ3NgB9yjP6Vx/bw7H4TFUSsAyDyR4O731SXpeK4A18r3EZk/IAfRJX5Q/FuWPyQ3PQy+wQS661cw5lTd5MaE2R6AkRkIvbWVd2ijz1BOQRo4k1dbfIaKMHoCl4XQOnfutyA9J3IfdC4l4Th7p3W0YPSP+0LaQxBrQ1osBkAmUlM2NoY0WA/V0ZTVEo9fWNiYXvNgAizShoLnGwCy0YNdLvuyp4z3R/auH+0fFIHYdTuqH/tEws0fuWH/AFkc+SuJXrsj1He5MjXuVLtLjsdHEZHnP1W8SeCk4xibKeN0khsGj39F4VtJjslZKXvvug9xvAD7pWgDFsTkqZXSym5Og4NHIKJvJl0KolsOpUgSnfeZoucwW5a6EqfEA07zWEWdbN53j1tyVdhLPzor8SfkVu3UI3brHky1XVxYeUF2VmMzrG4sFJx+h3CLDU5utcgcSibGwDfLra5LTYkG7huB5rn/AHduMtxkYrCKOovcSWAOe+BYi/C2a2NDGQ3MDyFroGGQhxHJXVQ0AWCV3ZteOPj08u/E2kG81/Gx+CxzTl7x8AVuPxMfutivqSVhx9T8l0cW/GOLn151LY7IHnn7126Gw5DwS3ltHNl7PJTSVwlNJQnZEq2w12njb3j+gVOSptBLw8/cbpwq01cy8En9wn3Z/Raz8MKnepQ32HEfG4WVc7ehcBq5paOpdkPiVpPw9i7J8sQ5Nd4nQn4JZ+hx+2jrKa73H9aJK1MYSUNlS4rl1asw0C+8b8rZKDVYedWHeHLj/Vb+ccvhdI5ehFS5aYNYDfPiFW1FRwCqUtU2abgEJNDUSCFz3BrRcnT7oVILQ0jpXhjNTqeAHMrfYdQthYGt8zxJ5lBwbDGwMtq4+keZVgptVCXCV1Z7Hq90jxTQHvu9J3BjeJKRo9dM6slMMZIhYfzXDj/ADzVyGtY0NaAGtFgBwATKOkZBGI2aDU8XHiSeabI9MGSOUSqqGsaXONgBckozivJ/xK2o7RxpoT3R+8I4n2UtkpNttpTWS7rSeyYbNHtHms0/VIBNfqpMlEA7SQAc7ItVJZvUqZs7S3dvHggCYszsXwPA0HyOfwK1Yr2mK97gjLz0Wf2oaCxnMG/lbP6IOzGJD9zJofRJ99vesubHc26Pj8nj03Gz+JGMWaL5ZWsVo4XGaM9oW59N0jxzWNwSKFj7SA2JuLPLd3S48NVsaOWmyEce8ebnF2hB9EGxyvxCw8f3ehhbr1VI7EBSv3XOBucrG5+C0dLMX2PBMq8LY4E7o3iLXyyHIWyCZLIIWXPALK+9L28//FecGaFg9UEnzOXyWQacvP6Kw2wnc+o3nanhyHAKra7IeK7MJ+mPN5LvOpkLvqramw+OScgX3LA5G2oH1JVJGdP1w/opTat8Tg5nEcdPcrxvbLOdC49SNhLQwklx0Juo76YgXv8ABCrKx0rg54F28sgny1e8LbpHxVsh6PDnS6FoyLu9cZDwCHEwtN1a4XUAB2XqFmulxa/xQKmkLDbXjkgtrrY+hlrKmKGM7rWuErycwGRuB08bADqtpR0DaXFXxtke8SQh4D3A2s4g7rQBYXKqfwenDJ5r5FzGgeRN/mFIxOTs8aY4tsXnc3zxYYQ5rQeAu1+XE35KMvtpg9EsknBcUNECrriTYZWQW1HUqPWv9YZ31VXPVELoxk05crdptfWDQaqp3s1zeunEK/QkHjF7AC5OQA4lbfZ/CBC3ednI7XoOQUTZfBNwCWQd8+iPZH3WjUWrhJJKJiVc2GMvcbWCRoe0GK9i0NYN6R/dY0aklMwbDuwYS470snekd15DoFGwOjc5xqpx33fu2n1GfcqylkQDJHoBKc4qm2nxxtJCXnNxyaOZTCh/EPan9mj7KI/mvH8o5rxx5zzzJzJ5lTcTq3SyOkkN3ONz9goJKmgmrhbmpVJSE2Jyb14+AU+W1rgDJImZlaXyBo4LQ047GPhl80MZqNu3blmXOsB8B8SUxRoKztHFzwbNG7lpn48VXV1K2+9GXXJ9Ej5EKyqIxGwMBuePVx1Qeyy6/IJ5TSOPK5bv00GzFSJ2bryN9mTtMxwd+uS3eD0zG6FeZYDFa7hlc68bBaJlXIDquDk15dPW4M9Y6rfVtcyMW48uKppLyG7tOAVRTzEm5uT1V7TjurHKt48s23htODwVCdB5r0fajBu1ueIWEqKN7TYNJIOg1XXw5yzTi5sLLsFj8jzBBU5rd4ZcFAicA6xuL5ZqXRGxseGR+i0vTKdzTrY0RrEaRmeSmYdhkkxswZD0nHJrfE/QZrVhoCFulteFvgtzs/sve0lV3G6iO/fP972fDXwQKGGCjF7h0ntusCP7g9UfHrwUes2h3tCXfAe8oPxn2LtPXmOqZLTgNbE0MDW5At1PxXJNqBUSxOAs5pY155jfFr+G873lVXbl5zR62zYgQAN1zTkORv8ARLR+Xens0WYHgkh0L7xsPNoSWS2RqKqwsOKgbyEXXXQuzTmiQ1y1ey2Cb1ppRl6jT/qKgbK4H2xEjx+WDkPaP2W9aLCw0UWrkdSSSUmbI8NBJ0CzMLDWzb7v3ERyHB7x8wPmjYvO6okFPEbDWRw9Vv3KtGxtjYI2CzWiwQCnkUVxSkcuMCYBralsTHPebBouvG9rMVdO8yP00Y3k3n4r0Hb1wdGG3yBBIHHPivNcUoXynItaP4iR8Ek2szI5W1DhlhvPGfBp4dT16Kbh2Dhh3nEOdw5N656qXJ+j+vmjQQJm38VHOjh0upkzcv1cqG7M35gtd4oNHLbNueSLQR/nRN5Bzj47rifiUoxvWHQX8MlJwpl6ppOliPePsCqwn6oz57rjy/xVZWi8pA4E3PidFI/ZSbADM5KXU0dqiQc3X94BV3gVOCS4j+EeA1WPNl4S/l0cGPnZ+ESmod1oA4BTW05WigogeCMaEcl51telMYztJCd7wV/R3PXwThSsYO8f6psUpJ7os0cNPiunD4ts8s7r/ly8nzNXx455X8/X/v8ApJfhEkos0tYDq5xzA6AcUWHZuGMWc9vC+7e563vr1RqSkqJmjs7Rt9uQE5dGjNx63t8laU+z0bbOnkdKRzsxn8rcz5krpxwwwn6Z/Lnyy5M+88v4Zg7K4bO8x/s8kruJbcEeLmWA8ygYp+DjHWdTzuh5tlAlAHRwIOXW62tTj8UDbNDWtGXstvyAHFUuI4gK5m45z2sINxG5zb6ZEjUZ6Zjoqvc9Jk1dysNieGYfSkxmeSrmbqI92OJp6kXJ8AUaia97RcCNg9GNmVr8zr9+Kj7SbNuprSM77Y7ODuJb60bvoVbUcge1rmnukAjzUZdevSsbv37YzFINx7hnrx6psTVb7UUtntPtAfAqAGJwrDoBmpGKH8kocISxN35Z8QFSft7Bgsl6eI842/JJZHZUOdSQntZR3BkJDYZlJZaabQQrrZzBTUvuco2nvHn0CjYJhTqh4aMmj0nchy8V6bQ0jYmBjBYBdVrGQWGIMaGtFgBYJ6SSzUSqscxDs27rc3uyaOZKnVlSI2lx4BUmERGRxqJOOUYPBvPzQEvC6PsWZ5vf3nu5k/RPlenyvUZ7kw4h1tTuN6lddIGi5VBXVW8ST5ICtxqa4F/aHzUrEtnmyNDmANNhw7p8R9lQ4xUd09M1scMrw6JvVoWHNuWWN+GTKWV53iGHPiNnN3TwPqu8FALr+IXqs1I17S14DgeBWI2i2YfFeSG726lvrD/kEcfPL1l0OT49x7x7ZmR3v+Sq6iXceOT9fEcf1yVm54cOF7nJZvGpHdo0dbDzyW7nW2EDeYXG9iSAegUyisHF/APaPv8AMoBtFEGjgAPNSMCgJidvauc4/AW+SJ1U5TyllXeKUl5WuHrsHvBz+YVrS0waAAhw/mQxu4gi/nkfiFaRxZBcnzrf7v7e/wCXV/Te/jz8+r/pJpG5IdfWNZqQFyeQ7pYw2cRa+u7fj/RQocAj1eXSHUl51PgEfHwk/XZ/hXyc7Z4S6/P/AEjCpMrt2IF5PEeiPE6BaTCsODLGSzna29QHw9Y+PuCdh8AYMgAOAAsjyygAnW3z5LoytrDGTGaiwnxDdCqKmV8gN37vhZztLiw0CitdLJfs2hxBzc7JoIdkAeOilx4fORcytB5NFwP6fZI0aHBoS/fcHyOANjISQMxazRYDRW0TAN3ugZHK2mmXy9yFE2RuRO8Brz1UgPuM9Tr0H6KYDkp2vaWOFw5u6R0OX1+C8+2ehML5qZ2sMhA/+t2bD7j8F6Q19zfn8h/VYTF3BuMOb/aU0ZPiHOt8FOXo8TcXpQ90d/4vks7VQ7ri3ktJjNRuuJ9lth/eJ/oFSYbh8k77NBJJzKMRkjsZkouJOtGf1zWpkwPcymkbFb1bb8n/AOYOX+ItQHYlBB+5jG8P/JJaSS/MXG6zyF/4lpGf20OyeFTfscH5bh3AcxY5kkZHNJZOTEJ3kuIeb53dqfHezXUvFW3tOEYaynjDGjxPElTkkk0kuOdZdVNj2IbjbNzc47rRzJ0QEOscaqbsh6Dc5D8m+at5CBkNBkFHwyj7CMA5vd3nnmTqlI5MGyOQSV17lXYnVbosNSgA4hV3NhoFnsQqVJqZbBZ+pm3imQFdJdp8EbZnGLdxxzHyUWpORVGXWILfSHxHJZcuHlGvFn4169SVd1OjcCvPcCxsOAuc+K1VLXaLgvT0Jqw3Gdng4F0JEb8yRutdHIeUjOPiM1icW2LEkgmhNiAHGInIG1+449eBXpjZ3OFgEKOhaOGq7OHHKTtxc9xt6ePz0jt/de1zd3gRa5+qscLdZpv7RHyXp1Vhsco3XtDh11HgeCopdjGAHsnuGZNnZ69Vu59KnAn3bIzkbjz7w+N1ZvqbgAZdfsgRbOSxkn0r2042vbx1RH0krfSY4eRU8uOOdxt+pouG58UykvVuxIFPgF9dAi0OCONi87vEjU+Z4K4jw+NtrDTQk/G3NCoqyHONgCB/md/xHXXwU2HDxkZBkPRaNPE/ZWLQBp/UpF9sj7glpWw2kaA6c7WXHEeXPn4JSC/lwH1QHOPO587NH6/QQDnHn5D6obrZ8r94j3WHy/RQZZ7Z311PE/b9aaoEhcRfJjBfvuIYweBOvkgxn1ABvfj/ANf9rzd1Q+qxpzomueIx2ZLQSGhsee8Rk0XJ1WpxDFoI9S6Y+ccf/N/+XxWYr9pHOHZsAYwm/ZxtDGXPEsb6R6uuUXHYmWlviNJDvl08u93r9nCQdMgHSnut00bvFQKvafs27kAELNLR3BP96Q953wHRUvYSyZuO6OuvuR4qVjDe28eZz+HBOYyJtRzJLLmO63mcvcNSptLTtZYjM8zqPDl5J0DXSP3Y2Oe48Gi/v5LVYPsM93eqX7jf7NmbvN2g8k9kzBk8El6lFs/SNAaIIzbi5u8T4k5lJPsNIkkhyPskA6mYNB6KkwiLtpXTv9Bl2x9ebvp713F5TI5sLNXnvH2W8T+uas9wRsaxuQaAEwbNJcqK9ye9yC4oAFTMGgk8FnZZ7kuPkp2LSbxtwGqpKyXKyYQcSqbquYEWbMoQyQRlRoshjQc2zgcjcHxWtkN1HoMCNWSy1mXzPgeCVCh2UpJ5pAIwbDV3AdF7Jg+EbjRvG5T8EweOnYGMaBZWoKnwm9q87rW3WMAT026V1aSIC4WJ1krJAyxXQUQBd3UjNDk03By87onZroakYe/4k+745BNebDkPifh8s0Z0V1Hmb2Y3rOeQLBoOZ8XO0CDA7Qg2ANuQF3H9a8+oTK6qjjH5zww+x6T/AOUfXJZDHNsJAXMaOx4ENuHHxecz5WWWfUyynug2PHTz6o0NtjiO17GX7JgB9uSz3eTfRHxWVrsdmnde7nnmSTbw4DwCCKBrc5DvnkNEZsthYANHT7ppRxQud+8dboMypUbGM9FoHU5n3o+GYVNUO/KYXfxHJv8AMtrhGwjG2dUO3z7Iyb58SjYYmkpJZ3bsTHPPGwyHi7QLW4XsDo6pf/62ZDzdr7rLbU9OyNobG0NA4AWTiUaCNRUMcLd2JjWDoLX8TxRXOXXFBc5PRH3SQN5JMLt8llArKkNaXFdfLdVNUe2kbENNXeA4eaRpWCw5Omf6T9OjeA+qkSPT5ncBoFHcUA1xUStn3W9SpLiqPEJ7u6BAQqybJUVVNdSsQnVQ8lxsASmCc5DcbqdFhEhFyLeKr54HBwaNSUAWjpTM8MbpxK3uGULYmhrQoOB4cImD2jqrpgQR7U9cSBQDk4BcT2pG6AnBqQTwEg4GpwanNCI1qAaGJwjRGhFY1I0fsk0t5qduIUrQgMrtDs5FP3i0bw0K8/xKB0RLHDdHC2hXrNUbKtZHEZGmRodbQkXseaIHnuGYBUVHoMIb7Tsh5cStng+wsTLOmPau5HJo/wAP3WxsAMsh0TC5PRGRQtYLNAAHIWTiU1zkNz0yPJQ3SJjnobnIDrnIT3JrnoEkiAIZElAdVt5hJMLSefdaTyTMFbZhkPpPz8BwC4khSUXJpK4kgAVb91pWYrZrLiSCQ6TDnTG+gV1FRMiFmi55lJJANkYXaoDKZodchdSQFpC4KQ1ySSA6XLgKSSAKHJ7XpJJAVrk8PSSSMQPRBIuJJGeJUUTJJJAjOgS1CSSYV1TNdU9U+ySSZLbAMS3wWO1bp4K0cUkkyCc5Dc5cSQA3PQXPSSTCJU1QaqmqrSUkkBAMqSSS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Formal Verification</a:t>
            </a:r>
            <a:endParaRPr lang="en-US" sz="2800" dirty="0">
              <a:solidFill>
                <a:srgbClr val="C00000"/>
              </a:solidFill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352800" y="1752600"/>
            <a:ext cx="2895600" cy="1066800"/>
          </a:xfrm>
          <a:prstGeom prst="rect">
            <a:avLst/>
          </a:prstGeom>
          <a:solidFill>
            <a:srgbClr val="FFCC99">
              <a:alpha val="58038"/>
            </a:srgbClr>
          </a:solidFill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2514600" y="2057400"/>
            <a:ext cx="8382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2514600" y="2590800"/>
            <a:ext cx="8382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6248400" y="2057400"/>
            <a:ext cx="8382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6248400" y="2514600"/>
            <a:ext cx="838200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82213" y="1750368"/>
            <a:ext cx="217559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 dirty="0" smtClean="0"/>
              <a:t>Model/Program</a:t>
            </a:r>
            <a:endParaRPr lang="en-US" sz="2400" dirty="0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87350" y="2362200"/>
            <a:ext cx="1965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 dirty="0"/>
              <a:t>Requirement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245350" y="1752600"/>
            <a:ext cx="15986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folHlink"/>
                </a:solidFill>
              </a:rPr>
              <a:t>yes/proof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7239000" y="2286000"/>
            <a:ext cx="11620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400">
                <a:solidFill>
                  <a:srgbClr val="CC0000"/>
                </a:solidFill>
              </a:rPr>
              <a:t>no/bug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3200400" y="1752600"/>
            <a:ext cx="3276600" cy="1066800"/>
          </a:xfrm>
          <a:prstGeom prst="rect">
            <a:avLst/>
          </a:prstGeom>
        </p:spPr>
        <p:txBody>
          <a:bodyPr vert="horz" lIns="91432" tIns="45716" rIns="91432" bIns="45716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smtClean="0">
                <a:solidFill>
                  <a:schemeClr val="hlink"/>
                </a:solidFill>
              </a:rPr>
              <a:t>Verifier</a:t>
            </a:r>
          </a:p>
        </p:txBody>
      </p:sp>
      <p:sp>
        <p:nvSpPr>
          <p:cNvPr id="25" name="Content Placeholder 3"/>
          <p:cNvSpPr>
            <a:spLocks noGrp="1"/>
          </p:cNvSpPr>
          <p:nvPr>
            <p:ph idx="1"/>
          </p:nvPr>
        </p:nvSpPr>
        <p:spPr>
          <a:xfrm>
            <a:off x="457200" y="3352800"/>
            <a:ext cx="8458200" cy="2209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Goal: Establish that model satisfies requirements under all possible scenarios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First challenge: Need formal definitions of “model” and “requirement” to make the problem mathematically precise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Comic Sans MS" pitchFamily="66" charset="0"/>
              </a:rPr>
              <a:t>Second challenge: Need verification techniques and tools</a:t>
            </a:r>
          </a:p>
        </p:txBody>
      </p:sp>
    </p:spTree>
    <p:extLst>
      <p:ext uri="{BB962C8B-B14F-4D97-AF65-F5344CB8AC3E}">
        <p14:creationId xmlns:p14="http://schemas.microsoft.com/office/powerpoint/2010/main" xmlns="" val="410670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lain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plain">
      <a:majorFont>
        <a:latin typeface="Arial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lai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i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Settings\mueller\My Documents\tex\ncsu\classes\rt\readings\plain.pot</Template>
  <TotalTime>33781</TotalTime>
  <Words>1130</Words>
  <Application>Microsoft PowerPoint</Application>
  <PresentationFormat>On-screen Show (4:3)</PresentationFormat>
  <Paragraphs>314</Paragraphs>
  <Slides>32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plain</vt:lpstr>
      <vt:lpstr>Acrobat Document</vt:lpstr>
      <vt:lpstr>On the State of Embedded Systems</vt:lpstr>
      <vt:lpstr>Topics: Embedded…</vt:lpstr>
      <vt:lpstr>Topics: Embedded…</vt:lpstr>
      <vt:lpstr>Topics: Embedded…</vt:lpstr>
      <vt:lpstr>Design flow</vt:lpstr>
      <vt:lpstr>Waterfall model</vt:lpstr>
      <vt:lpstr>Waterfall model critique</vt:lpstr>
      <vt:lpstr>Spiral model</vt:lpstr>
      <vt:lpstr>Successive refinement model</vt:lpstr>
      <vt:lpstr>Hardware/software design flow</vt:lpstr>
      <vt:lpstr>Co-design methodology</vt:lpstr>
      <vt:lpstr>Hierarchical design flow</vt:lpstr>
      <vt:lpstr>Concurrent engineering</vt:lpstr>
      <vt:lpstr>Prius Brake Problems Blamed on Software Glitches</vt:lpstr>
      <vt:lpstr>Let’s Design a Cruise Controller</vt:lpstr>
      <vt:lpstr>Block Diagrams of High-Level Design</vt:lpstr>
      <vt:lpstr>Interfaces for Components: Inputs and Outputs</vt:lpstr>
      <vt:lpstr>Interfaces for Components: Inputs and Outputs</vt:lpstr>
      <vt:lpstr>Interfaces for Components: Inputs and Outputs</vt:lpstr>
      <vt:lpstr>Interfaces for Components: Inputs and Outputs</vt:lpstr>
      <vt:lpstr>Compositional Design</vt:lpstr>
      <vt:lpstr>Decomposing the Cruise Controller</vt:lpstr>
      <vt:lpstr>Designing SetSpeed Component</vt:lpstr>
      <vt:lpstr>Designing SetSpeed: State Machines</vt:lpstr>
      <vt:lpstr>Designing ControlSpeed Component</vt:lpstr>
      <vt:lpstr>Capturing Requirements</vt:lpstr>
      <vt:lpstr>A bit of Physics: Modeling a car</vt:lpstr>
      <vt:lpstr>ControlSpeed Component</vt:lpstr>
      <vt:lpstr>Does our controller work ?</vt:lpstr>
      <vt:lpstr>Model-based design != Coding</vt:lpstr>
      <vt:lpstr>Verification != Simulation/Testing</vt:lpstr>
      <vt:lpstr>Formal Verification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real-time systems</dc:title>
  <dc:subject>Comp 232</dc:subject>
  <dc:creator>James H. Anderson</dc:creator>
  <cp:lastModifiedBy>mueller</cp:lastModifiedBy>
  <cp:revision>871</cp:revision>
  <cp:lastPrinted>2000-01-12T18:43:42Z</cp:lastPrinted>
  <dcterms:created xsi:type="dcterms:W3CDTF">1995-06-17T23:31:02Z</dcterms:created>
  <dcterms:modified xsi:type="dcterms:W3CDTF">2025-01-22T03:27:32Z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3</vt:i4>
  </property>
  <property fmtid="{D5CDD505-2E9C-101B-9397-08002B2CF9AE}" pid="7" name="MailAddress">
    <vt:lpwstr>moir@cs.pitt.edu</vt:lpwstr>
  </property>
  <property fmtid="{D5CDD505-2E9C-101B-9397-08002B2CF9AE}" pid="8" name="HomePage">
    <vt:lpwstr>http://www.cs.pitt.edu/~moir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8454143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D:\My Documents</vt:lpwstr>
  </property>
</Properties>
</file>